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309" r:id="rId3"/>
    <p:sldId id="300" r:id="rId4"/>
    <p:sldId id="298" r:id="rId5"/>
    <p:sldId id="257" r:id="rId6"/>
    <p:sldId id="258" r:id="rId7"/>
    <p:sldId id="259" r:id="rId8"/>
    <p:sldId id="260" r:id="rId9"/>
    <p:sldId id="261" r:id="rId10"/>
    <p:sldId id="288" r:id="rId11"/>
    <p:sldId id="285" r:id="rId12"/>
    <p:sldId id="284" r:id="rId13"/>
    <p:sldId id="286" r:id="rId14"/>
    <p:sldId id="287" r:id="rId15"/>
    <p:sldId id="262" r:id="rId16"/>
    <p:sldId id="263" r:id="rId17"/>
    <p:sldId id="290" r:id="rId18"/>
    <p:sldId id="289" r:id="rId19"/>
    <p:sldId id="292" r:id="rId20"/>
    <p:sldId id="303" r:id="rId21"/>
    <p:sldId id="302" r:id="rId22"/>
    <p:sldId id="265" r:id="rId23"/>
    <p:sldId id="291" r:id="rId24"/>
    <p:sldId id="266" r:id="rId25"/>
    <p:sldId id="267" r:id="rId26"/>
    <p:sldId id="268" r:id="rId27"/>
    <p:sldId id="270" r:id="rId28"/>
    <p:sldId id="271" r:id="rId29"/>
    <p:sldId id="272" r:id="rId30"/>
    <p:sldId id="273" r:id="rId31"/>
    <p:sldId id="274" r:id="rId32"/>
    <p:sldId id="277" r:id="rId33"/>
    <p:sldId id="278" r:id="rId34"/>
    <p:sldId id="279" r:id="rId35"/>
    <p:sldId id="280" r:id="rId36"/>
    <p:sldId id="281" r:id="rId37"/>
    <p:sldId id="282" r:id="rId38"/>
    <p:sldId id="305" r:id="rId39"/>
    <p:sldId id="304" r:id="rId40"/>
    <p:sldId id="306" r:id="rId41"/>
    <p:sldId id="307" r:id="rId42"/>
    <p:sldId id="308" r:id="rId43"/>
    <p:sldId id="294" r:id="rId44"/>
    <p:sldId id="293" r:id="rId45"/>
    <p:sldId id="299" r:id="rId46"/>
    <p:sldId id="295" r:id="rId47"/>
    <p:sldId id="296" r:id="rId48"/>
    <p:sldId id="28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891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13096-8180-4358-6EDB-DFE32C86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7FD3A-DE4B-DE61-0FEB-208AA038B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0A107-A54E-25F8-7ABE-10B67F3E6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23A48-F125-2999-BCDA-39C3C6547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63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35BB-067F-1A07-FE12-09927823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871AB-EEA8-0212-D7C7-028D8E0D2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10A71-BA7B-881B-5284-DB38EEBD3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0A3DD-9C1B-7D06-08CD-723152F66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7832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8E65-9EA2-443A-BB0D-8202FF83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AC0EC-ADC7-7D1E-FA41-E1C91450B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5E6FF-5968-C341-5CD3-06FEF4AC3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C3A6E-C10E-1F83-6011-625D98AB9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362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914400"/>
            <a:ext cx="4572000" cy="4572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640080" y="4572000"/>
            <a:ext cx="1371600" cy="1371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Code בצוות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Git, PRs </a:t>
            </a:r>
            <a:r>
              <a:rPr lang="en-US" sz="2600" i="1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ואוטומציה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607040" y="5029200"/>
            <a:ext cx="109728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3891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0A98B-7122-3C98-A78A-466D929D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780C667-A3D9-C020-174A-C364C723E97E}"/>
              </a:ext>
            </a:extLst>
          </p:cNvPr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המסע: 3 מפגשים, רעיון אחד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832282-8E8F-A322-2C80-8C39E5249DF1}"/>
              </a:ext>
            </a:extLst>
          </p:cNvPr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FFA674-D20A-1581-4174-EF6EB77D64A4}"/>
              </a:ext>
            </a:extLst>
          </p:cNvPr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Claude לאורך הדרך.  ה-harness השתנה. אתם השתניתם.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E8CDC4-3CD1-D031-F1E1-569745F34E9F}"/>
              </a:ext>
            </a:extLst>
          </p:cNvPr>
          <p:cNvSpPr/>
          <p:nvPr/>
        </p:nvSpPr>
        <p:spPr>
          <a:xfrm>
            <a:off x="8046720" y="2423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EF596A-3DC4-B198-64C7-9887DE983DF3}"/>
              </a:ext>
            </a:extLst>
          </p:cNvPr>
          <p:cNvSpPr/>
          <p:nvPr/>
        </p:nvSpPr>
        <p:spPr>
          <a:xfrm>
            <a:off x="11594592" y="2423160"/>
            <a:ext cx="109728" cy="3108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FE67DC-C5A0-05F2-DBF8-D7C6CC003A31}"/>
              </a:ext>
            </a:extLst>
          </p:cNvPr>
          <p:cNvSpPr/>
          <p:nvPr/>
        </p:nvSpPr>
        <p:spPr>
          <a:xfrm>
            <a:off x="832104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CE5770-CB27-B1E4-709F-6C2EEDAB1F8F}"/>
              </a:ext>
            </a:extLst>
          </p:cNvPr>
          <p:cNvSpPr/>
          <p:nvPr/>
        </p:nvSpPr>
        <p:spPr>
          <a:xfrm>
            <a:off x="832104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3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819107E-179D-1CC6-F0C1-A5583F6B4808}"/>
              </a:ext>
            </a:extLst>
          </p:cNvPr>
          <p:cNvSpPr/>
          <p:nvPr/>
        </p:nvSpPr>
        <p:spPr>
          <a:xfrm>
            <a:off x="8321040" y="3685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יסודות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492E0CF-3324-CC35-9EE9-F969305F18ED}"/>
              </a:ext>
            </a:extLst>
          </p:cNvPr>
          <p:cNvSpPr/>
          <p:nvPr/>
        </p:nvSpPr>
        <p:spPr>
          <a:xfrm>
            <a:off x="8321040" y="42062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ראשון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180F949-B738-1DD8-2FEB-860C51FCDE51}"/>
              </a:ext>
            </a:extLst>
          </p:cNvPr>
          <p:cNvSpPr/>
          <p:nvPr/>
        </p:nvSpPr>
        <p:spPr>
          <a:xfrm>
            <a:off x="8321040" y="452628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4AB6847-6C11-CF42-C477-B9FDC9801B17}"/>
              </a:ext>
            </a:extLst>
          </p:cNvPr>
          <p:cNvSpPr/>
          <p:nvPr/>
        </p:nvSpPr>
        <p:spPr>
          <a:xfrm>
            <a:off x="8321040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form-factor — לא משנה איפה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57E9EC-5644-A3E2-9868-649F15FE3883}"/>
              </a:ext>
            </a:extLst>
          </p:cNvPr>
          <p:cNvSpPr/>
          <p:nvPr/>
        </p:nvSpPr>
        <p:spPr>
          <a:xfrm>
            <a:off x="8321040" y="4937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harness ≠ model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98190C-7D67-61F0-E732-72931E830A90}"/>
              </a:ext>
            </a:extLst>
          </p:cNvPr>
          <p:cNvSpPr/>
          <p:nvPr/>
        </p:nvSpPr>
        <p:spPr>
          <a:xfrm>
            <a:off x="8321040" y="5212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 = פרומפט מורחב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304C5DF-6C17-FCC9-FD38-9C895BF8A160}"/>
              </a:ext>
            </a:extLst>
          </p:cNvPr>
          <p:cNvSpPr/>
          <p:nvPr/>
        </p:nvSpPr>
        <p:spPr>
          <a:xfrm>
            <a:off x="4251960" y="2423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C06FCC0-0D5B-01DB-00BD-26CFBFDF86E9}"/>
              </a:ext>
            </a:extLst>
          </p:cNvPr>
          <p:cNvSpPr/>
          <p:nvPr/>
        </p:nvSpPr>
        <p:spPr>
          <a:xfrm>
            <a:off x="7799832" y="2423160"/>
            <a:ext cx="109728" cy="3108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D509AF-D846-10E0-0FE1-17F86763441F}"/>
              </a:ext>
            </a:extLst>
          </p:cNvPr>
          <p:cNvSpPr/>
          <p:nvPr/>
        </p:nvSpPr>
        <p:spPr>
          <a:xfrm>
            <a:off x="452628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62D78A6-359D-1B0E-B6E9-60F7C2A74B60}"/>
              </a:ext>
            </a:extLst>
          </p:cNvPr>
          <p:cNvSpPr/>
          <p:nvPr/>
        </p:nvSpPr>
        <p:spPr>
          <a:xfrm>
            <a:off x="452628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3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AFCA061-9CFA-5E56-F0FB-DA844E82D5AA}"/>
              </a:ext>
            </a:extLst>
          </p:cNvPr>
          <p:cNvSpPr/>
          <p:nvPr/>
        </p:nvSpPr>
        <p:spPr>
          <a:xfrm>
            <a:off x="4526280" y="3685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</a:t>
            </a:r>
            <a:endParaRPr lang="en-US" sz="3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CB645C-750D-369B-70FB-2627FE61D6EE}"/>
              </a:ext>
            </a:extLst>
          </p:cNvPr>
          <p:cNvSpPr/>
          <p:nvPr/>
        </p:nvSpPr>
        <p:spPr>
          <a:xfrm>
            <a:off x="4526280" y="42062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שני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C42CC07-54A7-1A85-4F57-EEB3A489BEA8}"/>
              </a:ext>
            </a:extLst>
          </p:cNvPr>
          <p:cNvSpPr/>
          <p:nvPr/>
        </p:nvSpPr>
        <p:spPr>
          <a:xfrm>
            <a:off x="4526280" y="452628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47E72D8-30A3-D169-807E-35EBB3989B53}"/>
              </a:ext>
            </a:extLst>
          </p:cNvPr>
          <p:cNvSpPr/>
          <p:nvPr/>
        </p:nvSpPr>
        <p:spPr>
          <a:xfrm>
            <a:off x="4526280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 הוא ה-source of truth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61CA12-E29B-94A1-9B93-20FBA44F763B}"/>
              </a:ext>
            </a:extLst>
          </p:cNvPr>
          <p:cNvSpPr/>
          <p:nvPr/>
        </p:nvSpPr>
        <p:spPr>
          <a:xfrm>
            <a:off x="4526280" y="4937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 לפני code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D7B9D66-36FC-C718-8A61-C8FEA1078427}"/>
              </a:ext>
            </a:extLst>
          </p:cNvPr>
          <p:cNvSpPr/>
          <p:nvPr/>
        </p:nvSpPr>
        <p:spPr>
          <a:xfrm>
            <a:off x="4526280" y="5212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Sonnet ל-95% · Opus לקשים</a:t>
            </a:r>
            <a:endParaRPr lang="en-US" sz="12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D98F2A6-03C5-E256-6D21-BB0B27E1B451}"/>
              </a:ext>
            </a:extLst>
          </p:cNvPr>
          <p:cNvSpPr/>
          <p:nvPr/>
        </p:nvSpPr>
        <p:spPr>
          <a:xfrm>
            <a:off x="457200" y="2423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94ACF97-219E-DEA6-EBD2-FCD9FBDB60A8}"/>
              </a:ext>
            </a:extLst>
          </p:cNvPr>
          <p:cNvSpPr/>
          <p:nvPr/>
        </p:nvSpPr>
        <p:spPr>
          <a:xfrm>
            <a:off x="4005072" y="2423160"/>
            <a:ext cx="109728" cy="3108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752329E-D222-8387-05F7-9595AA789D5D}"/>
              </a:ext>
            </a:extLst>
          </p:cNvPr>
          <p:cNvSpPr/>
          <p:nvPr/>
        </p:nvSpPr>
        <p:spPr>
          <a:xfrm>
            <a:off x="73152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F0C3BF-60CA-B0ED-EDB8-DF39270C4DE0}"/>
              </a:ext>
            </a:extLst>
          </p:cNvPr>
          <p:cNvSpPr/>
          <p:nvPr/>
        </p:nvSpPr>
        <p:spPr>
          <a:xfrm>
            <a:off x="73152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3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DB85AD7-E081-5D30-F160-9093E6A8B492}"/>
              </a:ext>
            </a:extLst>
          </p:cNvPr>
          <p:cNvSpPr/>
          <p:nvPr/>
        </p:nvSpPr>
        <p:spPr>
          <a:xfrm>
            <a:off x="731520" y="3685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endParaRPr lang="en-US" sz="3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1D9653A-AFD2-9111-8F08-B75CF10DFA88}"/>
              </a:ext>
            </a:extLst>
          </p:cNvPr>
          <p:cNvSpPr/>
          <p:nvPr/>
        </p:nvSpPr>
        <p:spPr>
          <a:xfrm>
            <a:off x="731520" y="42062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שלישי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04C3F34-19AF-0D8E-D38D-ACCF5568A7D5}"/>
              </a:ext>
            </a:extLst>
          </p:cNvPr>
          <p:cNvSpPr/>
          <p:nvPr/>
        </p:nvSpPr>
        <p:spPr>
          <a:xfrm>
            <a:off x="731520" y="452628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994727E-022F-D123-E8B5-1DF556859FD1}"/>
              </a:ext>
            </a:extLst>
          </p:cNvPr>
          <p:cNvSpPr/>
          <p:nvPr/>
        </p:nvSpPr>
        <p:spPr>
          <a:xfrm>
            <a:off x="731520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× Claude מגביר את עצמו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CB72E5D-F3C3-7CA1-2A57-579AE3247565}"/>
              </a:ext>
            </a:extLst>
          </p:cNvPr>
          <p:cNvSpPr/>
          <p:nvPr/>
        </p:nvSpPr>
        <p:spPr>
          <a:xfrm>
            <a:off x="731520" y="4937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 הוא איפה שאדם חוזר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9827B68-320A-EDAF-9D7A-71F51BC1F1D6}"/>
              </a:ext>
            </a:extLst>
          </p:cNvPr>
          <p:cNvSpPr/>
          <p:nvPr/>
        </p:nvSpPr>
        <p:spPr>
          <a:xfrm>
            <a:off x="731520" y="5212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שני סוכנים, ריפו אחד</a:t>
            </a:r>
            <a:endParaRPr lang="en-US" sz="1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7FF4A48-D9C8-C004-0C50-A60CF5971D0F}"/>
              </a:ext>
            </a:extLst>
          </p:cNvPr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EC7F00F-364F-4707-9F18-919EA3ACBEB0}"/>
              </a:ext>
            </a:extLst>
          </p:cNvPr>
          <p:cNvSpPr/>
          <p:nvPr/>
        </p:nvSpPr>
        <p:spPr>
          <a:xfrm>
            <a:off x="11612880" y="5806440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FAEFC4F-4803-8D4A-D07B-A979D488143B}"/>
              </a:ext>
            </a:extLst>
          </p:cNvPr>
          <p:cNvSpPr/>
          <p:nvPr/>
        </p:nvSpPr>
        <p:spPr>
          <a:xfrm>
            <a:off x="45720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r>
              <a:rPr lang="en-US" sz="22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</a:t>
            </a:r>
            <a:r>
              <a:rPr lang="en-US" sz="22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</a:t>
            </a:r>
            <a:endParaRPr lang="en-US" sz="2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1E4E7BF-1DE8-B003-CFAD-13166EB76518}"/>
              </a:ext>
            </a:extLst>
          </p:cNvPr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3254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THIS WEEK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 err="1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השבוע</a:t>
            </a: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4200" b="1" i="0" u="none" strike="noStrike" kern="1200" cap="none" spc="0" normalizeH="0" baseline="0" noProof="0" dirty="0" err="1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בAnthropic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15600" y="190195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Opus 4.8.  Dynamic Workflows.  Mythos preview.  ו-draft S-1 ל-SEC.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52144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OPUS 4.8  ·  28.5.2026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מודל חדש, אותו מחיר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claude-opus-4-8 ברירת מחדל ב-Claude Code. $5/$25 למיליון טוקנים — כמו 4.7. fast mode עכשיו $10/$50 לטוקן בפי-3 הוזלה.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9788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/ULTRACODE  ·  DYNAMIC WORKFLOWS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תזמור של מאות סוכנים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בקשו 'ultracode' או workflow → Claude מתזמר עשרות-מאות סוכנים ברקע על משימות מורכבות. /workflows לראות את הריצות שלכם.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2648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52144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GLASSWING  ·  MYTHOS PREVIEW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דרגה מעל Opus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Claude Mythos — מודל מעל Opus, כרגע ב-150 ארגונים לעבודות סייבר. שחרור רחב 'בשבועות הקרובים', בכפוף לבדיקות בטיחות.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9788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THE COMPANY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965Bn $ IPO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draft S-1 הוגש ל-SEC. Series H של $65 מיליארד (Altimeter, Sequoia, Greenoaks, Dragoneer) ב-post-money של $965 מיליארד.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שבוע אחד.  ארבע הכרזות.  ככה זה ב-AI עכשיו — החזיקו ידיים על הדופק.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B95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news  ·  27.5–3.6.2026  ·  קורס תל-חי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BILLING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Subscription vs API </a:t>
            </a:r>
            <a:r>
              <a:rPr lang="en-US" sz="3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</a:t>
            </a: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סוגי סיכון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0" y="1572768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Claude. שני מנגנוני חיוב. שני סוגי הגנה.  רובכם תשתמשו בשניהם.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219456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03152" y="2194560"/>
            <a:ext cx="109728" cy="2103120"/>
          </a:xfrm>
          <a:prstGeom prst="rect">
            <a:avLst/>
          </a:prstGeom>
          <a:solidFill>
            <a:srgbClr val="6E9A5E"/>
          </a:solidFill>
          <a:ln w="127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  ·  Pro/Max/Team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מנוי חודשי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$20–$200 / חודש קבוע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4747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חיוב חודשי קבוע, צפוי מראש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67588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אם חוצים שימוש — rate limit, לא חיוב נוסף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87705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מתאים ל: עבודה יומיומית, חקירה, למידה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078224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הגבלה: לא מתאים לאוטומציה כבדה / שירותי back-end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5879592" y="2194560"/>
            <a:ext cx="109728" cy="2103120"/>
          </a:xfrm>
          <a:prstGeom prst="rect">
            <a:avLst/>
          </a:prstGeom>
          <a:solidFill>
            <a:srgbClr val="C97A3F"/>
          </a:solidFill>
          <a:ln w="12700">
            <a:solidFill>
              <a:srgbClr val="C97A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" y="2377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C9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 ·  console.anthropic.com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51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שימוש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31089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טוקנים — אין תקרה ברירת-מחדל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חיוב לפי טוקנים בפועל; ללא קצה עליון אוטומטי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67588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bug אחד בלולאה = חשבון של $10K בלילה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87705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מתאים ל: production, אוטומציה, אינטגרציות, בוטים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078224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דורש הגנות שכבתיות (ראו למטה)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69680" y="4526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475720" y="452628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9052560" y="4663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 CAP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52560" y="4910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תקרת הוצאה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2560" y="52852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Console → Spend Limit. הציבו תקרה נדיבה — לא מחניקה. רשת ביטחון אחרונה.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4526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8686800" y="452628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263640" y="4663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KEYS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4910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מפתחות נפרדים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3640" y="52852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לפיתוח, key ל-prod, key ל-CI.  rate limit לכל אחד. אחד דולף = אחד מבטלים.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4526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5897880" y="452628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3474720" y="4663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SERVER-SIDE ONLY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0" y="4910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ב-client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4720" y="52852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ה-key לעולם לא בקוד שמגיע לדפדפן. תמיד דרך השרת שלכם. client-side = ארנק פתוח לאינטרנט.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526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Shape 38"/>
          <p:cNvSpPr/>
          <p:nvPr/>
        </p:nvSpPr>
        <p:spPr>
          <a:xfrm>
            <a:off x="3108960" y="452628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685800" y="4663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APP-LEVEL THROTTLE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" y="4910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 משתמשים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52852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מגן על המפתח שלכם. אתם מגנים על המפתח מהמשתמשים. rate limit per-user/IP.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מגנה עליכם מ-key אחד.  אתם מגנים על ה-key מהמשתמשים שלכם.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היום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שמונה חלקים. דגש על מה משתנה כשכל מפתח מריץ סוכן.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0704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שונה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192024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קצב, ושלוש בעיות תיאום חדשות שלא היו קודם.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כתשתית למקביל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per task, worktrees, commit hygiene.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0704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971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בעולם של AI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301752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דק׳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description מ-spec, שלוש רמות review, בדיקת קוד AI.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3520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טקסי הצוות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356616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Daily, pairing, וידע משותף שעובר ב-CLAUDE.md.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4069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של כלים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37760" y="411480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93776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דק׳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Action, MCP servers, hooks.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1792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לאוטמט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937760" y="466344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93776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מטריצת leverage/risk. דוגמאות חיות. ומה לא לאוטמט.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07040" y="5120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21792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937760" y="521208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4937760" y="5212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 אחריות, התנגשות סוכנים, review fatigue.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07040" y="5669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217920" y="5715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סגירה ושאלות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937760" y="5760720"/>
            <a:ext cx="109728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4937760" y="5760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דק׳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בחיי צוות בריא. Q&amp;A.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שונה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כשכל מפתח מריץ סוכן - הצוות לא נשאר אותו צוות.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הקצב החדש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אחד, שלושה PRs בבוקר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השגרה החדשה. ולצוות יש שלוש בעיות שלא היו קודם.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9224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לפני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· יום עבודה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PR לרוב, לפעמים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200-400 שורות, יחידה אחת של עבודה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של חצי שעה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קצר ויעיל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394960" cy="338328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אחרי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+ סוכן · יום עבודה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3-5 PRs ביום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כל אחד קטן וממוקד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הופך להיות צוואר הבקבוק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כבר לא מספיק לסנכרן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בעיות חדשות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בעיות תיאום חדשות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אחת מהן לא הייתה קיימת לפני שנתיים.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468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468880"/>
            <a:ext cx="109728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התנגשות סוכנים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מפתחים מריצים שני סוכנים על אותו מודול. כל אחד עובד נכון לעצמו. ה-merge הופך לסיוט.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468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662672" y="2468880"/>
            <a:ext cx="109728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אי-בהירות בעלות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חתם על השורה הזאת? אני? הסוכן? אם יש באג בייצור — של מי האחריות, ואיך לומדים מזה.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3913632" y="2468880"/>
            <a:ext cx="109728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עומס ביקורת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מפתחים × ארבעה PRs = 12 PRs ביום. אף אחד לא יכול לסקור הכל ברצינות. הביקורת הופכת ל-rubber stamp.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כתשתית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</a:t>
            </a:r>
            <a:r>
              <a:rPr lang="he-IL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ב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מקביל</a:t>
            </a:r>
            <a:endParaRPr lang="en-US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WHAT IS GIT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git?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916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תשובה אחת — ושלוש תוצאות שנובעות ממנה. הכל אחר כך מתחיל מפה.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1371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31720"/>
            <a:ext cx="9144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 </a:t>
            </a:r>
            <a:r>
              <a:rPr lang="he-IL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מכונת</a:t>
            </a: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זמן לקוד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   </a:t>
            </a:r>
            <a:r>
              <a:rPr lang="en-US" sz="2000" i="1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</a:t>
            </a: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תיאום שמאפשרת לכמה ידיים לעבוד באותו פרויקט.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88620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2753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 ·  היסטוריה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נשמר לעד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7532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commit הוא snapshot של הקוד. אפשר תמיד לחזור לכל גרסה — לפני שבוע, לפני חצי שנה. שום דבר לא נאבד.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7818120" y="388620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48056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BRANCHES  ·  ענפים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גרסאות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מקבילות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8056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= קו עבודה מקביל ועצמאי. יצירה ומיזוג זולים. זה מה שמאפשר לכל מפתח לעבוד על המשימה שלו בלי להפריע.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023360" y="388620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858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  ·  מקומי ומשותף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מפתח — עותק מלא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8580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מבוזר: על כל מחשב יש את ההיסטוריה המלאה. GitHub הוא עותק מוסכם שכולם מסנכרנים מולו. אין שרת קסום אחד.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it command&#10;&#10;AI-generated content may be incorrect.">
            <a:extLst>
              <a:ext uri="{FF2B5EF4-FFF2-40B4-BE49-F238E27FC236}">
                <a16:creationId xmlns:a16="http://schemas.microsoft.com/office/drawing/2014/main" id="{173509A3-9B0A-9C12-0681-C7F1D9C60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59" y="248536"/>
            <a:ext cx="9695329" cy="64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1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GIT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שמונה פקודות, מה כל אחת עושה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המינימום שצריך לדעת כדי לעבוד על המשימה.  סדר השורות = סדר השימוש.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3172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77724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מורידים את הריפו מ-GitHub למחשב המקומי. פעם אחת לכל ריפו.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83464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77240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מושכים שינויים חדשים מהשרת. עושים לפני שמתחילים לעבוד.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612880" y="333756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77240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&lt;name&gt;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יוצרים branch חדש לעבודה שלכם. כל משימה — branch משלה.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612880" y="384048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מציג אילו קבצים השתנו מאז ה-commit האחרון. בדיקה מהירה איפה אתם.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1612880" y="434340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77240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מסמנים את כל השינויים כמועמדים ל-commit (staging area).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11612880" y="484632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846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שומרים snapshot מקומי עם הודעה שמסבירה מה השתנה. עדיין רק על המחשב שלכם.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534924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77240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5349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דוחפים את ה-branch ל-GitHub. עכשיו השינויים גלויים גם ל-remote.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11612880" y="585216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772400" y="5852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5852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Pull Request. בקשה רשמית למזג את ה-branch שלכם ל-main.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GIT 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git: </a:t>
            </a:r>
            <a:r>
              <a:rPr lang="en-US" sz="3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שישה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מושגים שצריך להבין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כל אחד מהם אומר, ולמה הוא קיים. הפקודות יבואו אחר כך.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23317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47572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18388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8388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שכפול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8388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מורידים את הריפו מ-GitHub למחשב המקומי. עכשיו יש לכם עותק עצמאי לעבוד עליו. רק עליו.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77266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43484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 ·  ענף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3484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 עבודה מקבילי. שינויים שלכם לא נוגעים ב-main עד שמוזגים. כל משימה — branch משלה.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39776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 ·  קומיט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מקומי של שינויים, עם הודעה שמסבירה מה נעשה. עדיין רק על המחשב שלכם.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425196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1147572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818388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דחיפה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18388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שליחת ה-commits מהמחשב שלכם ל-GitHub. עכשיו ה-branch גלוי גם ל-remote ולשאר הצוות.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425196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77266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43484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  ·  PR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בקשת מיזוג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43484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רשמית למזג את ה-branch שלכם ל-main. כוללת תיאור השינוי, דיון, ו-code review.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39776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68580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מיזוג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8580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ה-PR. ה-branch מצטרף ל-main, והקוד שלכם הופך לחלק מההיסטוריה הרשמית.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הסדר הוא לא במקרה: clone פעם אחת, branch לכל משימה, ושאר ה-4 חוזרים בלולאה.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THE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ה-branch שלכם יוצא מ-main, צובר commits, ומתמזג חזרה. כל מעבר — פקודה.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508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017520" y="3246120"/>
            <a:ext cx="6126480" cy="0"/>
          </a:xfrm>
          <a:prstGeom prst="line">
            <a:avLst/>
          </a:prstGeom>
          <a:noFill/>
          <a:ln w="381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 flipV="1">
            <a:off x="2194560" y="3246120"/>
            <a:ext cx="822960" cy="1188720"/>
          </a:xfrm>
          <a:prstGeom prst="line">
            <a:avLst/>
          </a:prstGeom>
          <a:noFill/>
          <a:ln w="381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9144000" y="3246120"/>
            <a:ext cx="822960" cy="1188720"/>
          </a:xfrm>
          <a:prstGeom prst="line">
            <a:avLst/>
          </a:prstGeom>
          <a:noFill/>
          <a:ln w="381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2084832" y="4325112"/>
            <a:ext cx="219456" cy="21945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9829800" y="4297680"/>
            <a:ext cx="274320" cy="2743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4206240" y="3154680"/>
            <a:ext cx="182880" cy="182880"/>
          </a:xfrm>
          <a:prstGeom prst="ellipse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035040" y="3154680"/>
            <a:ext cx="182880" cy="182880"/>
          </a:xfrm>
          <a:prstGeom prst="ellipse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7863840" y="3154680"/>
            <a:ext cx="182880" cy="182880"/>
          </a:xfrm>
          <a:prstGeom prst="ellipse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070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feature/&lt;your-name&gt;-&lt;short&gt;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 +  git commit   ( × N 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  →   git checkout -b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 →   gh pr create   →   merge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מוגן.  ה-merge הוא הצעד היחיד שדורש אישור — וזה קורה ב-PR.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Branch per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Branch 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יחידת עבודה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feature branch. branch אטומי שנפתח, מתמזג, ונסגר תוך שעה-שעתיים.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3383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כל משימה - branch משלה. גם אם זו רק תיקון אחד.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fix-stale-cache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91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# סוכן עובד על המשימה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838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&amp;&amp; gh pr create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764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בינתיים, במקביל - משימה אחרת: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 &amp;&amp; git pull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654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add-search-filters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9469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# סוכן שני, תוצר אחר, אין התנגשות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branch קצר חיים. אם הוא בן יום - הוא כבר ארוך מדי.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Worktrees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להריץ שני Claudes - בלי שיתעצבנו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 #1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~/proj/main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fix-stale-cache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#1 - מתקן באג cache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 #2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~/proj/feature-search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add-search-filters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#2 - מוסיף פילטרים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 ../feature-search add-search-filters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AUTHORING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Claude כותב במקומכם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יודע את ה-spec, לא רק את ה-diff. זה משנה כל מה שהוא מנסח.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214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MESSAGES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commit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קורא את ה-diff ומנסח הודעה שמסבירה מה ולמה. עוקב Conventional Commits, מציע body עם הקשר מה-spec.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DESCRIPTIONS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תיאורי PR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/ What / Risk / Tested — מנוסחים מתוך ה-spec ולא מתוך ה-diff. בדיוק מה שביקשנו בשקופית #11.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5214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  ·  RELEASE NOTES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ושינויים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מ-range של commits או PRs — Claude מסכם ל-`CHANGELOG.md`, ל-release notes, או להודעת Slack מסודרת.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8978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ISSUES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issues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מתיאור של פיצ׳ר או באג — issue מובנה עם acceptance criteria. בקושי בעריכה — מוכן להיפתח.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ה-spec הוא ה-source of truth.  ה-CLAUDE.md הוא איך הסוכן יודע אותו. שמרו על שניהם.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ASSISTANCE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כעוזר: השוואה, תיאום, מורה ל-git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ל-/review </a:t>
            </a:r>
            <a:r>
              <a:rPr lang="en-US" sz="1500" i="1" dirty="0" err="1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הסטנדרטי</a:t>
            </a: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ארבע יכולות שיעזרו במיוחד בשבוע של המשימה.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214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PRs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השוואת PRs מתחרים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PRs מציעים את אותו פיצ׳ר. תשאלו: 'מי הכי נקי, ולמה?'  Claude עונה לפי הקוד ולפי ה-spec — מוכן בדיוק למפגש 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↔  DIFF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מול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diff 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ה-PR description אומר X. ה-diff עושה Y. Claude מזהה את הפער ומתריע. שווה לעשות לפני merge.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5214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TUTOR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מורה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לgit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'אני רוצה לבטל את ה-commit האחרון אבל לשמור את השינויים.'  Claude מסביר, מציע את הפקודה, ומריץ במקומכם. ה-manpage שמדברים איתו.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8978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PRE-MERGE SANITY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merge 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'אם אמזג את שלושת ה-PRs בסדר הזה — מה עשוי להישבר?'  Claude קורא את שלושתם וצבע על קונפליקטים לפני שתלחצו merge.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ה-/review הסטנדרטי, /security-review ו-/ultrareview — בשקופית 12. אלו ההרחבות.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דמו חי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בדמו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מ-issue ל-merge — חמישה צעדים.  אני מדבר.  Claude עושה.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77440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0332720" y="2377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מעתיקים את ה-issue מ-GitHub ל-Claude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136392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332720" y="313639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" y="3136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את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קוד,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612880" y="3895344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0332720" y="389534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עושה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ב-branch חדש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ודוחף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לGitHub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612880" y="4654296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0332720" y="465429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40080" y="465429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עם תיאור טוב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5413248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1612880" y="5413248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10332720" y="54132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40080" y="541324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סוקרים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ולוחצים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merge 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צעד = הוראה אחת ל-Claude.  בעברית.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OUR BOT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ה-Spec-Check Bot שבנינו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קורא, איך הוא חושב, מה הוא כותב, איפה הוא חי.  112 שורות YAML.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214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READS  ·  INPUTS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קורא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spec.md מה-root  +  ה-diff המלא של ה-PR (עד 100KB)  +  title ו-body של ה-PR.  הכל נבנה לפרומפט אחד מובנה.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THINKS  · 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הוא חושב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API אחת ל-Claude (Sonnet 4.6).  פרומפט: 'בדוק אם ה-diff מקיים את ה-spec'.  פלט בתבנית קבועה — Verdict + Matches + Gaps + Risks.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5214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WRITES  ·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כותב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תגובה אחת ב-PR:  ✅ matches / ⚠️ partial / ❌ off-spec  + bullets.  מסומן ב-marker נסתר, נערך במקום במקום להיכפל בכל push.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8978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LIVES  ·  RUNTIME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הוא חי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ב-`.github/workflows/spec-check.yml`.  ANTHROPIC_API_KEY ב-repo secrets.  רץ ~30 שניות לכל PR.  עלות: ~$0.02 לקריאה.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נפתח  </a:t>
            </a: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Action רץ  </a:t>
            </a: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Claude נשאל  </a:t>
            </a: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Comment נשלח  </a:t>
            </a: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(~30s, ~$0.02)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github.com/talgurevich/fixslot/.github/workflows/spec-check.yml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TWO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סוכנים.  ריפו אחד.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בסשן הזה: אחד כותב את הקוד.  אחד סוקר את ה-PR.  גם זה Claude, גם זה Claude.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24231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03152" y="242316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0332720" y="2651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#1  ·  THE WRITER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136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כותב הקוד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3840480"/>
            <a:ext cx="49377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רץ אצלכם — terminal או 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מקבל כוונה בשפה טבעית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791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עורך קבצים, מריץ tests, עושה commits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דוחף branches ופותח PRs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5559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מדבר איתכם בזמן אמת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4231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879592" y="242316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772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#2  ·  THE REVIEWER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136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Spec-Check Bot — סוקר ה-PR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49377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רץ ב-GitHub Actions (CI)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נדלק על כל PR אוטומטית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791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קורא: spec + diff + PR body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שואל את Claude מה הוא חושב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559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מגיב על ה-PR — לא מדבר איתכם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למפגש 1:  אותו Claude.  שני harnesses.  שני תפקידים.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PRs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בעולם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פה ה-Bottleneck החדש - וגם פה הניצחונות הגדולים.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WHAT IS A PR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Pull Request?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הוא הרבה יותר מבקשה. ארבע פנים לאותו דבר.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11887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240280"/>
            <a:ext cx="91440" cy="11887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PR </a:t>
            </a:r>
            <a:r>
              <a:rPr lang="en-US" sz="30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</a:t>
            </a:r>
            <a:r>
              <a:rPr lang="en-US" sz="3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רשמית למזג branch ל-main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המקום שבו הקוד נסקר, מתדיין, ומאושר לפני שהופך לרשמי.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26480" y="3566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521440" y="356616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0" y="3730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 ·  חבילה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 בתוך PR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ה-diff שלכם + title + description + linked issues + commits + status של checks. הכל במקום אחד וניתן לסקירה.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5897880" y="356616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" y="3730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  ·  דיון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המקום שבו הקוד נדון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comments, הצעות שינוי, החלטות. ה-thread הוא חלק בלתי-נפרד מהקוד שמתמזג בסוף.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50749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52144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400800" y="52395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 ·  שער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5532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שצריך לעבור לפני merge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5943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אוטומטיות (CI) + אישור אדם. אם משהו תקוע — ה-merge חסום עד שהבעיה תיפתר.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89788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777240" y="52395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 ·  תיעוד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נשאר אחרי merge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5943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ה-PR לעולם לא נמחק. בעוד שנה תוכלו לקרוא: מה השתנה, למה, מי סקר, ומי אישר.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PR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לכתוב 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PR</a:t>
            </a:r>
            <a:r>
              <a:rPr lang="he-IL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 עם הגיון, לא רק אוסף של שינויים בקוד 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ה-diff עונה על 'מה'. ה-PR description צריך לענות על 'למה'.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9224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נאיבי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 bug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Updated cache.ts and api.ts.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Added new function.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 pass.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539496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מ-spec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cache: invalidate on user logout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02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Why: stale data leaked to next session.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Approach: clear on auth.signOut.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773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Risk: minimal - only affects logout.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065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Tested: unit + manual logout flow.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שלוש רמות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פקודות, שלוש רמות עומק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PR מקבל לפחות אחת. PR קריטי - מקבל את שלושתן.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33172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331720"/>
            <a:ext cx="109728" cy="3566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רגילה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3703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מהיר. שגיאות לוגיות, edge cases, ניסוח. רץ בכל PR.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30 שנ׳  ·  שטחי-בינוני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7662672" y="2331720"/>
            <a:ext cx="109728" cy="3566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4805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אבטחה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703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10. שאילתות SQL, XSS, secrets, CORS. רץ בכל PR שנוגע ב-auth/data.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1-2 דק׳  ·  ממוקד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3913632" y="2331720"/>
            <a:ext cx="109728" cy="3566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/ultrareview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רב-שכבתית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סוכנים מקבילים, כל אחד עם זווית אחרת. רץ לפני merge ל-main של פיצ׳ר גדול.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3-5 דק׳  ·  עמוק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לבדוק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לחפש בקוד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שכתב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ה-AI כותב קוד שעובד. הבעיה היא בדברים שהאדם לא היה כותב.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231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42316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5379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פתרונות גנריים לבעיה ספציפית. אבסטרקציות שאף אחד לא ביקש.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760720" y="242316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error handling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שתופס הכל ומחזיר null. או logging במקום fix.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365760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53796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assumptions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מניח דבר שלא נאמר לו. בדוק שהוא לא 'המציא' API.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760720" y="365760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fallbacks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משהו נכשל - הקוד ממשיך כאילו לא קרה כלום. במקום לזעוק.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11612880" y="489204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53796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שעוברים תמיד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שלא בודקים כלום. mock מחזיר את התשובה ש-test מצפה לה.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760720" y="489204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מיותרים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Get user from database. כן, ראינו.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טקסי הצוות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 ב-Daily, ב-pairing, ובידע המשותף.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Daily החדש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- פחות 'מה עשיתי', יותר 'מה אני שוקל'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כשאתה מסיים 4 PRs ביום, אף אחד לא ירצה לשמוע מה הם. הצוות צריך לדעת איפה אתה תקוע.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58368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עובר ל-async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סיימתי אתמול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ה-PRs הפתוחים שלי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4480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אני מתכנן היום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(הכל ב-Slack channel ייעודי)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39496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נשאר ב-Daily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איפה אני תקוע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החלטות שצריך לקבל ביחד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Blockers שצריכים אדם אחר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דיון ארכיטקטוני קצר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Pairing וידע משותף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שני אנשים עובדים על אותה בעיה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הופך לעבודה מקבילית עם נקודות סנכרון. CLAUDE.md הוא ה-source of truth.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46888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על מסך אחד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כשהבעיה לא ברורה ושני אנשים צריכים לחשוב יחד. סוכן רץ, שניים סוקרים.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760720" y="246888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על branches מקבילים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כשהבעיה התחלקה. כל אחד עובד על branch משלו, סנכרון כל שעה.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416052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6052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משותף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4800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החלטה ארכיטקטונית, כל convention, כל path מסובך - נכנס שם. הסוכן של כולם קורא.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760720" y="416052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משותפים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4800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/security-review, אותו /ui-build, אותו /code-review. בריפו ב-.claude/skills.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כלים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רץ אצל הצוות מתחת למכסה.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  ·  Claude Code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שרץ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CI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כל PR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+ Anthropic API = סוכן שמסתכל על כל PR לפני שאדם רואה אותו.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3383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.github/workflows/claude-review.yml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Claude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 { types: [opened, synchronize]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anthropic/claude-code-action@v1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prompt: '/review --strict'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התוצאה: כל PR מקבל הערות אוטומטיות תוך דקה. האדם סוקר אחרי.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לאוטמט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מול Risk - והקווים שלא חוצים.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  ·  מטריצה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Leverage  </a:t>
            </a:r>
            <a:r>
              <a:rPr lang="en-US" sz="3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גבוה</a:t>
            </a: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סיכון נמוך - קודם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הכל שווה אוטומציה. יש משבצת אחת שבה כדאי להתחיל.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3840480" cy="1645920"/>
          </a:xfrm>
          <a:prstGeom prst="rect">
            <a:avLst/>
          </a:prstGeom>
          <a:solidFill>
            <a:srgbClr val="6E9A5E"/>
          </a:solidFill>
          <a:ln w="127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24688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התחל פה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 description אוטומטי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Changelog מ-commits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summary מ-git 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3840480" cy="1645920"/>
          </a:xfrm>
          <a:prstGeom prst="rect">
            <a:avLst/>
          </a:prstGeom>
          <a:solidFill>
            <a:srgbClr val="C97A3F"/>
          </a:solidFill>
          <a:ln w="12700">
            <a:solidFill>
              <a:srgbClr val="C97A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בזהירות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Auto-merge של PRs ירוקים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Auto-fix מ-Sentry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Auto-triage לבאגים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4206240"/>
            <a:ext cx="3840480" cy="1645920"/>
          </a:xfrm>
          <a:prstGeom prst="rect">
            <a:avLst/>
          </a:prstGeom>
          <a:solidFill>
            <a:srgbClr val="5C564D"/>
          </a:solidFill>
          <a:ln w="12700">
            <a:solidFill>
              <a:srgbClr val="5C56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24688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דחוף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4846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Lint בכל commit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ניקוי branches ישנים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עדכון 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3840480" cy="164592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</a:t>
            </a: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kern="0" spc="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תאטמט</a:t>
            </a:r>
            <a:r>
              <a:rPr lang="he-IL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ל-prod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מחיקת DB / migrations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החלטות אבטחה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Leverage גבוה  ·  Leverage נמוך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  ·  דוגמאות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אוטומציות שמשתלמות מיידית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אחת לוקחת חצי שעה לבנות ומחזירה שעות בשבוע.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2316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42316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51560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description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על gh pr create. הסוכן קורא את ה-diff, מנסח title + body מובנה. החיסכון: 10 דק׳ ל-PR.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5760720" y="242316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שבועי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יום שישי. לוקח את כל ה-merged PRs של השבוע, מסכם ל-CHANGELOG.md ול-Slack.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11480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11480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51560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בוקר 8:30. סוכן קורא git log של הצוות מאתמול, מפרסם ל-#standup. ה-Daily קצר יותר.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5760720" y="411480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66344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כשבאג נכנס ל-Sentry - סוכן מנסה לזהות commit אחראי, פותח issue, מתייג אדם.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  ·  מה לא לאוטמט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קווים שלא חוצים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מהם נראה זול לאוטמט. כל אחד עלה למישהו פה ביוקר.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8600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698480" y="23774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ארכיטקטוניות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יציע. אדם יחליט. אם לא — תוך חודש יש לכם מערכת שאף אחד לא מבין.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15468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698480" y="32461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של פיצ׳ר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ירחיב. תמיד. אם אין אדם שאומר 'מספיק' - הפיצ׳ר יגדל פי שלוש.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02336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698480" y="41148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ל-prod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אוטו-deploy עובד 99% מהזמן. ה-1% הזה מוריד אתכם. לפחות אדם אחד צריך ללחוץ אישור.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89204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698480" y="4983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אבטחה ופרטיות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לעשות עם נתון, את מי לחשוף ל-API, איך לאחסן secret. תמיד אדם.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07  ·  Anti-patterns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דפוסים שמופיעים בכל צוות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זיהיתם אצלכם - לא נורא. רוב הצוותים עוברים את זה.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3317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331720"/>
            <a:ext cx="109728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18388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"ה-AI עשה את זה"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B0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סימפטום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8388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כשיש באג, אף אחד לא לוקח אחריות. "זה הסוכן כתב."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תיקון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8388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שעשה merge - חתום. כל commit מאדם, גם אם הקוד מהסוכן.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3317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662672" y="2331720"/>
            <a:ext cx="109728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43484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התנגשות סוכנים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B0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סימפטום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PRs שנוגעים באותו module, שניהם נכונים, ה-merge הופך לסיוט.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תיקון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קצר על מה כל אחד נוגע. או: branch ownership ברור ב-CLAUDE.md.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3913632" y="2331720"/>
            <a:ext cx="109728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8580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fatigue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B0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סימפטום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שלושים PRs בשבוע. אנשים מאשרים בלי לקרוא. הביקורת הופכת ל-rubber stamp.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תיקון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review ב-CI לוקח את ה-trivial. אדם רואה רק PRs שהסוכן סימן.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סגירה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בחיי צוות בריא של ארבעה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ביחד. איך זה נראה בפועל.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05840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של 10 דק׳. לא 'מה עשיתי' - רק blockers.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00584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מפתח פותח שניים-שלושה worktrees, מתחיל סוכנים על משימות מ-Linear.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05840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ראשון נפתח. Claude Code Action סוקר תוך דקה. אדם סוקר תוך 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005840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Auto-changelog רץ ברקע. Slack #deploys מתעדכן.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005840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התנגשות branches. הצוות מסתנכרן ב-Slack של 5 דק׳, פותרים.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0058400" y="5074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PRs נסגרו ביום. Auto-summary מסכם ל-#standup לקראת מחר.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הסוד: לא יותר עבודה. אותה עבודה - מחולקת אחרת.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51992-EB8A-9E98-621C-09A09FEC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2954D9-C564-22A8-3070-7261F4562261}"/>
              </a:ext>
            </a:extLst>
          </p:cNvPr>
          <p:cNvSpPr/>
          <p:nvPr/>
        </p:nvSpPr>
        <p:spPr>
          <a:xfrm>
            <a:off x="-2286000" y="-914400"/>
            <a:ext cx="4572000" cy="4572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57A4DD-A249-5D5B-6650-E3ED1D99A66C}"/>
              </a:ext>
            </a:extLst>
          </p:cNvPr>
          <p:cNvSpPr/>
          <p:nvPr/>
        </p:nvSpPr>
        <p:spPr>
          <a:xfrm>
            <a:off x="640080" y="4572000"/>
            <a:ext cx="1371600" cy="1371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68BDBA-1E0D-4DDA-23DC-0C2524084361}"/>
              </a:ext>
            </a:extLst>
          </p:cNvPr>
          <p:cNvSpPr/>
          <p:nvPr/>
        </p:nvSpPr>
        <p:spPr>
          <a:xfrm>
            <a:off x="1371600" y="2011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Claude Code </a:t>
            </a:r>
            <a:endParaRPr kumimoji="0" lang="he-IL" sz="6400" b="1" i="0" u="none" strike="noStrike" kern="1200" cap="none" spc="0" normalizeH="0" baseline="0" noProof="0" dirty="0">
              <a:ln>
                <a:noFill/>
              </a:ln>
              <a:solidFill>
                <a:srgbClr val="F5F1EB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sz="6400" b="1" dirty="0">
              <a:solidFill>
                <a:srgbClr val="F5F1E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64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582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הקורס  ·  THE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המסע: 3 מפגשים, רעיון אחד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Claude לאורך הדרך.  ה-harness השתנה. אתם השתניתם.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0" y="2423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94592" y="2423160"/>
            <a:ext cx="109728" cy="3108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32104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32104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3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3685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יסודות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321040" y="42062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ראשון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452628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321040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form-factor — לא משנה איפה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4937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harness ≠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5212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 = פרומפט מורחב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2423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7799832" y="2423160"/>
            <a:ext cx="109728" cy="3108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52628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52628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3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685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526280" y="42062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שני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452628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526280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 הוא ה-source of truth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937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 לפני 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5212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Sonnet ל-95% · Opus לקשים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423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4005072" y="2423160"/>
            <a:ext cx="109728" cy="31089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152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73152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3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3685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31520" y="42062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שלישי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52628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731520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× Claude מגביר את עצמו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4937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 הוא איפה שאדם חוזר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212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שני סוכנים, ריפו אחד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11612880" y="5806440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45720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r>
              <a:rPr lang="en-US" sz="22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</a:t>
            </a:r>
            <a:r>
              <a:rPr lang="en-US" sz="22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1  ·  סיכום ממוקד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הHarness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ההבדל.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בכלי שנוח לכם — וזכרו ש-skill הוא רק פרומפט מורחב.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2514600"/>
            <a:ext cx="3703320" cy="23774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36676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6676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YOUR FORM-FACTOR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6676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איפה שנוח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36676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טרמינל, extension ב-VS Code, אפליקציית דסקטופ, web. כולם תקפים, כולם עובדים.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79608" y="4434840"/>
            <a:ext cx="1078992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625328" y="44348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528048" y="4434840"/>
            <a:ext cx="978408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573768" y="4434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74152" y="4434840"/>
            <a:ext cx="1380744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119872" y="44348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24928" y="4434840"/>
            <a:ext cx="576072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470648" y="443484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90956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2628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2628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≠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ה-Harness זה ההבדל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2628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משתנה: איך הסוכן ניגש לכלים, ל-Skills, לקבצים, ולפקודות. מה לא משתנה: ה-Claude שמאחורי הקלעים.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41464" y="4434840"/>
            <a:ext cx="67665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7187184" y="4434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0488" y="4434840"/>
            <a:ext cx="87782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236208" y="4434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0096" y="4434840"/>
            <a:ext cx="77724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5385816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4434840"/>
            <a:ext cx="87782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434840" y="4434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פקודות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406908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8580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580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WHEN NEEDED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= פרומפט מורחב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8580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הוא לא קסם — הוא הוראות שכתב מישהו פעם אחת. הפעילו אותו רק כשהמשימה מצדיקה זאת.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97480" y="4434840"/>
            <a:ext cx="128016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274320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לכל דבר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1832" y="4434840"/>
            <a:ext cx="168249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987552" y="443484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כשחוזר על עצמו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-1014984" y="4434840"/>
            <a:ext cx="188366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-969264" y="44348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כשצריך checklist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Shape 44"/>
          <p:cNvSpPr/>
          <p:nvPr/>
        </p:nvSpPr>
        <p:spPr>
          <a:xfrm>
            <a:off x="11612880" y="5212080"/>
            <a:ext cx="91440" cy="1143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77724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הראשונה  ›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5596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את הפרומפט הראשון לפרויקט שלכם.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ב-skill לחשיבה ולסיעור מוחות:  </a:t>
            </a: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superpowers:brainstorming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סיכום ממוקד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ה-spec מקדים את הקוד. ה-plan מקדים </a:t>
            </a:r>
            <a:r>
              <a:rPr lang="en-US" sz="3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</a:t>
            </a: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he-IL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r>
              <a:rPr lang="he-IL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בניתם פיצ׳ר אחד מקצה לקצה.  שלוש החלטות שעשו את ההבדל.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2514600"/>
            <a:ext cx="3703320" cy="23774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36676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6676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6676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הוא ה-source of truth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עוקב אחרי ה-spec, לא הפוך. CLAUDE.md הוא איך הסוכן יודע את ה-spec.  spec ב-30 דקות חוסך 30 שעות.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80192" y="4434840"/>
            <a:ext cx="978408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725912" y="4434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27464" y="4434840"/>
            <a:ext cx="1179576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473184" y="443484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75320" y="4434840"/>
            <a:ext cx="1078992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321040" y="44348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90956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52628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2628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BEFORE 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לפני code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הוא ה-checkpoint שלכם. מאשרים את התכנית, לא את ה-diff. תופסים אי-הבנות לפני שהן הופכות ל-500 שורות.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38544" y="4434840"/>
            <a:ext cx="117957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6684264" y="443484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85232" y="4434840"/>
            <a:ext cx="128016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330952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33672" y="4434840"/>
            <a:ext cx="978408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279392" y="4434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406908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8580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580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ARE LEVERS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ל-95% · Opus לקשים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מודל בכוונה, לא ב-default. Sonnet ליום-יום, Opus לדרישות עמוקות. /effort הוא lever נפרד, לא קישוט.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99816" y="4434840"/>
            <a:ext cx="87782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3145536" y="4434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50008" y="4434840"/>
            <a:ext cx="67665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2395728" y="4434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298448" y="4434840"/>
            <a:ext cx="978408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1344168" y="4434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/effort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1612880" y="5212080"/>
            <a:ext cx="91440" cy="1143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77724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  ›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596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לכתוב את ה-spec הראשון שלכם.  200 שורות. 30 דקות.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תנו ל-Claude לקרוא, להרחיב, ולבנות:  </a:t>
            </a: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/init &amp;&amp; /plan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  ·  סיכום ממוקד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× Claude. PR × אדם. סוכן × סוכן.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מסקנות מהמפגש — הראשונה והשלישית סוגרות את הקורס.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75004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36676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6676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CO-AMPLIFICATION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6676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× Claude מגביר את עצמו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6676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הופך את הסוכן לבטוח לשימוש נועז. הסוכן הופך את git ממועיל לקריטי. אחד בלי השני — חצי כוח.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479024" y="4434840"/>
            <a:ext cx="117957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0524744" y="443484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4434840"/>
            <a:ext cx="1078992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372600" y="44348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4434840"/>
            <a:ext cx="475488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823960" y="44348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5146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7909560" y="251460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452628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628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= HUMAN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הוא איפה שאדם חוזר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מהיר. PR מאלץ ניסוח של 'למה'. ה-review מכריח שיפוט. ירוק / צהוב / אדום — קליברציה, לא אוטומציה.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38544" y="4434840"/>
            <a:ext cx="1179576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6684264" y="443484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spec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86984" y="4434840"/>
            <a:ext cx="978408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5632704" y="4434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33088" y="4434840"/>
            <a:ext cx="1380744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178808" y="44348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514600"/>
            <a:ext cx="3703320" cy="23774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85800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5800" y="3044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HARNESS, MADE CONCRETE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סוכנים, ריפו אחד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כותב את הקוד. Claude סוקר את ה-PR. אותו מודל, שני harnesses. זה הרגע שבו מפגש 1 וה-לקוח האחרון הופכים לאותו דבר.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96896" y="4434840"/>
            <a:ext cx="1380744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2642616" y="44348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" y="4434840"/>
            <a:ext cx="1682496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886968" y="443484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Spec-Check Bot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-1014984" y="4434840"/>
            <a:ext cx="1783080" cy="274320"/>
          </a:xfrm>
          <a:prstGeom prst="rect">
            <a:avLst/>
          </a:prstGeom>
          <a:solidFill>
            <a:srgbClr val="26221C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-969264" y="4434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≠ model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1612880" y="5212080"/>
            <a:ext cx="91440" cy="1143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77724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  ›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596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להתקין את ה-spec-check bot בריפו שלכם.  לפני סוף השבוע.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העתיקו את הקובץ שלנו, הוסיפו secret, פתחו PR ניסיון:  </a:t>
            </a: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.github/workflows/spec-check.yml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42FA-A9E5-88E0-BC19-A1CEB750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4841FC-FE65-1B73-4F39-36FAD0846242}"/>
              </a:ext>
            </a:extLst>
          </p:cNvPr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9D653EE-D5B6-AD8D-7AEA-DC567D0AEAB5}"/>
              </a:ext>
            </a:extLst>
          </p:cNvPr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ABE9A8-5D99-29B5-03C9-E398568373A6}"/>
              </a:ext>
            </a:extLst>
          </p:cNvPr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9600" b="1" dirty="0">
                <a:latin typeface="Arial" pitchFamily="34" charset="0"/>
                <a:cs typeface="Arial" pitchFamily="34" charset="-120"/>
              </a:rPr>
              <a:t>כמה בונוסים נחמדים</a:t>
            </a:r>
            <a:endParaRPr lang="en-US" sz="9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FFF74C-5AE5-5895-80CF-F796EB67499F}"/>
              </a:ext>
            </a:extLst>
          </p:cNvPr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9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313CDC-CD74-B7CD-25AD-8B2212EA521A}"/>
              </a:ext>
            </a:extLst>
          </p:cNvPr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  ·  tal.gurevich@gmail.com  ·  linkedin.com/in/</a:t>
            </a:r>
            <a:r>
              <a:rPr lang="en-US" sz="1400" dirty="0" err="1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talgurevich</a:t>
            </a:r>
            <a:r>
              <a:rPr lang="en-US" sz="14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828504-84E5-0E13-7FCC-4762B672F9F0}"/>
              </a:ext>
            </a:extLst>
          </p:cNvPr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0C4139-E627-08AA-4BDA-D4666E1B2D17}"/>
              </a:ext>
            </a:extLst>
          </p:cNvPr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473349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REMOTION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 rot="5400000">
            <a:off x="0" y="0"/>
            <a:ext cx="457200" cy="457200"/>
          </a:xfrm>
          <a:prstGeom prst="rt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Remotion</a:t>
            </a:r>
            <a:r>
              <a:rPr lang="he-IL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וידאו</a:t>
            </a:r>
            <a:r>
              <a:rPr lang="en-US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ככל קוד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515600" y="19202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Claude — פלט חדש: MP4.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152144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 ·  מה זה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של React לוידאו תכנותי. קומפוננטה אחת = פריים אחד. שינוי = שורת קוד. הפלט: MP4.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589788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  ·  למה עכשיו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Premiere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פעם — Premiere, After Effects, חודש עבודה. עכשיו — npm install ופרומפט. המחסום פשוט נעלם.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152144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40080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CLAUDE BIT  ·  מה Claude מוסיף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MP4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כותב את ה-Remotion code מתיאור באנגלית. אתם אומרים 'video של 30 שניות על X'. מקבלים סרטון.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589788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7724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YOU  ·  מה תוכלו לבנות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פלט ויזואלי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לפרויקט. demo reel למוצר. content ל-LinkedIn. הסבר מונפש. אותו עץ קוד, פלטים אינסופיים.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הסרטון של 15 השניות שראיתם? נכתב בפרומפט אחד.  רנדר ב-15 שניות.  MP4 של 1.3MB.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בצוות  ·  קורס תל-חי  ·  remotion.dev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/REMOTE-CONTROL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685800"/>
            <a:ext cx="91440" cy="91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Remote Control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סשן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מקומי — גישה מכל מקום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515600" y="190195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מתחילים משולחן העבודה.  ממשיכים מהטלפון.  Claude רץ אצלכם — אתם רק רואים אותו מכל מסך.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2648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52144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WHAT  ·  מה זה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סשן מקומי, מכל מסך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ממשיכים סשן Claude Code מקומי מכל מכשיר. אותה תוכן, אותו state, נגיש דרך claude.ai/code או אפליקציית Claude.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9788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LOCAL FIRST  ·  מקומי תמיד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Claude לא עוזב את המחשב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כל ה-tools, ה-files, וה-config נשארים אצלכם. ה-web וה-mobile הם רק חלון פנימה — שום קוד לא עובר לענן.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2648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52144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HOW  ·  איך מפעילים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פקודה אחת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מתוך סשן קיים: /remote-control.  מהשורה: claude --remote-control.  רוצים QR לטלפון? לחיצה על רווח.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9788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2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SUB ONLY  ·  רק במנוי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API לא תומך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Pro, Max, Team, Enterprise — כן.  API keys — לא.  נדרש Claude Code v2.1.51+.  Research preview, on by default.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ה-API לא יכול לעשות את זה.  זה הצד הסמוי של הסבסידיה.  ועוד harness — לאותו Claude.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B95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בצוות  ·  קורס תל-חי  ·  docs.claude.com/.../remote-control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COWORK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-4572"/>
            <a:ext cx="640080" cy="4572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0" y="-4842"/>
            <a:ext cx="640080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Cowork: כשהסוכן </a:t>
            </a:r>
            <a:r>
              <a:rPr lang="en-US" sz="40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יוצא</a:t>
            </a:r>
            <a:r>
              <a:rPr lang="en-US" sz="4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מהterminal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515600" y="19202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לולאת סוכן.  פלט/קלט אחר: מסמכים, גיליונות, דפדפן, אפליקציות.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1152144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 ·  מה זה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לעבודה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Desktop של Claude. גישה לקבצים מקומיים, פותח אפליקציות, מבצע משימות רב-שלביות עצמאית.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5897880" y="26060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777240" y="28072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CHAT  ·  לעומת chat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108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עושה, לא מסביר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מסביר איך לעשות. Cowork עושה: עורך קבצים, ממלא גיליון, מנווט בדפדפן. תוצאה גמורה — לא הוראות.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52144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0080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CLAUDE CODE  ·  לעומת 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ארכיטקטורה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harness אגנטי — בלי terminal. נבנה עבור knowledge work: מסמכים, מצגות, נתונים, עבודה תפעולית.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5486400" cy="16916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5897880" y="4434840"/>
            <a:ext cx="91440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777240" y="4636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TASKS  ·  בפועל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מ-prompt לתוצר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30 מיילים לפעולה. ניתוח תיקיית פרויקט. dashboard משלושה גיליונות. עבודה שלמה, לא step-by-step.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למפגש 1:  Claude נשאר Claude.  ה-harness הוא ההבדל.  Cowork = harness חדש לאותו Claude.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בצוות  ·  קורס תל-חי  ·  claude.com/product/cowork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 ·  LAST 30 DAYS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5F1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 ימים.  15 פרויקטים.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B85F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אחד אני.  כפל-כפליים יוצא — עם Claude Code.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9898" y="2130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2" name="Text 390"/>
          <p:cNvSpPr/>
          <p:nvPr/>
        </p:nvSpPr>
        <p:spPr>
          <a:xfrm>
            <a:off x="8046720" y="3706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ofektech-app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3" name="Text 391"/>
          <p:cNvSpPr/>
          <p:nvPr/>
        </p:nvSpPr>
        <p:spPr>
          <a:xfrm>
            <a:off x="8046720" y="3953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פלטפורמת חניכה — bulk-tasks, admin views, mentor summaries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" name="Text 392"/>
          <p:cNvSpPr/>
          <p:nvPr/>
        </p:nvSpPr>
        <p:spPr>
          <a:xfrm>
            <a:off x="4251960" y="3706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Tel-hai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" name="Text 393"/>
          <p:cNvSpPr/>
          <p:nvPr/>
        </p:nvSpPr>
        <p:spPr>
          <a:xfrm>
            <a:off x="4251960" y="3953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קורס Claude Code — 3 דקים, handoff, Remotion recap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6" name="Text 394"/>
          <p:cNvSpPr/>
          <p:nvPr/>
        </p:nvSpPr>
        <p:spPr>
          <a:xfrm>
            <a:off x="457200" y="3706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claude101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7" name="Text 395"/>
          <p:cNvSpPr/>
          <p:nvPr/>
        </p:nvSpPr>
        <p:spPr>
          <a:xfrm>
            <a:off x="457200" y="3953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דק ציבורי לקורס — מפגש 1 ו-2 + bonus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8" name="Text 396"/>
          <p:cNvSpPr/>
          <p:nvPr/>
        </p:nvSpPr>
        <p:spPr>
          <a:xfrm>
            <a:off x="8046720" y="4328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fixslot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9" name="Text 397"/>
          <p:cNvSpPr/>
          <p:nvPr/>
        </p:nvSpPr>
        <p:spPr>
          <a:xfrm>
            <a:off x="8046720" y="457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WhatsApp slot-booking — spec, skeleton, 3 issues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0" name="Text 398"/>
          <p:cNvSpPr/>
          <p:nvPr/>
        </p:nvSpPr>
        <p:spPr>
          <a:xfrm>
            <a:off x="4251960" y="4328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masa-cv-builder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1" name="Text 399"/>
          <p:cNvSpPr/>
          <p:nvPr/>
        </p:nvSpPr>
        <p:spPr>
          <a:xfrm>
            <a:off x="4251960" y="457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v1: chat → tools → PDF inline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2" name="Text 400"/>
          <p:cNvSpPr/>
          <p:nvPr/>
        </p:nvSpPr>
        <p:spPr>
          <a:xfrm>
            <a:off x="457200" y="4328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CV-Skill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 401"/>
          <p:cNvSpPr/>
          <p:nvPr/>
        </p:nvSpPr>
        <p:spPr>
          <a:xfrm>
            <a:off x="457200" y="457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v1.0.0 — Hebrew CV skill ל-Claude Code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Text 402"/>
          <p:cNvSpPr/>
          <p:nvPr/>
        </p:nvSpPr>
        <p:spPr>
          <a:xfrm>
            <a:off x="8046720" y="494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catering-platform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Text 403"/>
          <p:cNvSpPr/>
          <p:nvPr/>
        </p:nvSpPr>
        <p:spPr>
          <a:xfrm>
            <a:off x="8046720" y="5196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Bread Station — refresh ויזואלי מלא ביום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Text 404"/>
          <p:cNvSpPr/>
          <p:nvPr/>
        </p:nvSpPr>
        <p:spPr>
          <a:xfrm>
            <a:off x="4251960" y="494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stickers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Text 405"/>
          <p:cNvSpPr/>
          <p:nvPr/>
        </p:nvSpPr>
        <p:spPr>
          <a:xfrm>
            <a:off x="4251960" y="5196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Wallaura — PayPlus, bundling, מותג חדש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Text 406"/>
          <p:cNvSpPr/>
          <p:nvPr/>
        </p:nvSpPr>
        <p:spPr>
          <a:xfrm>
            <a:off x="457200" y="494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errn.io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Text 407"/>
          <p:cNvSpPr/>
          <p:nvPr/>
        </p:nvSpPr>
        <p:spPr>
          <a:xfrm>
            <a:off x="457200" y="5196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 portfolio חדשים + hero rotation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Text 408"/>
          <p:cNvSpPr/>
          <p:nvPr/>
        </p:nvSpPr>
        <p:spPr>
          <a:xfrm>
            <a:off x="8046720" y="557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sivan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 409"/>
          <p:cNvSpPr/>
          <p:nvPr/>
        </p:nvSpPr>
        <p:spPr>
          <a:xfrm>
            <a:off x="8046720" y="5818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חוזרת אלי — landing + email signup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2" name="Text 410"/>
          <p:cNvSpPr/>
          <p:nvPr/>
        </p:nvSpPr>
        <p:spPr>
          <a:xfrm>
            <a:off x="4251960" y="557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machsanai-ai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3" name="Text 411"/>
          <p:cNvSpPr/>
          <p:nvPr/>
        </p:nvSpPr>
        <p:spPr>
          <a:xfrm>
            <a:off x="4251960" y="5818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DINOv2 + fingerprints + valve/pump logic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Text 412"/>
          <p:cNvSpPr/>
          <p:nvPr/>
        </p:nvSpPr>
        <p:spPr>
          <a:xfrm>
            <a:off x="457200" y="557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pivot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Text 413"/>
          <p:cNvSpPr/>
          <p:nvPr/>
        </p:nvSpPr>
        <p:spPr>
          <a:xfrm>
            <a:off x="457200" y="5818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אתר Pivott + לוגו ב-Remotion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Text 414"/>
          <p:cNvSpPr/>
          <p:nvPr/>
        </p:nvSpPr>
        <p:spPr>
          <a:xfrm>
            <a:off x="8046720" y="619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ofektech-signatures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7" name="Text 415"/>
          <p:cNvSpPr/>
          <p:nvPr/>
        </p:nvSpPr>
        <p:spPr>
          <a:xfrm>
            <a:off x="8046720" y="639733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חתימה על 16 תעודות מחזור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8" name="Text 416"/>
          <p:cNvSpPr/>
          <p:nvPr/>
        </p:nvSpPr>
        <p:spPr>
          <a:xfrm>
            <a:off x="4251960" y="619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yosef-butique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9" name="Text 417"/>
          <p:cNvSpPr/>
          <p:nvPr/>
        </p:nvSpPr>
        <p:spPr>
          <a:xfrm>
            <a:off x="4251960" y="639733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תיקון תמונת מוצר לפי color_id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0" name="Text 418"/>
          <p:cNvSpPr/>
          <p:nvPr/>
        </p:nvSpPr>
        <p:spPr>
          <a:xfrm>
            <a:off x="457200" y="619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7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mvmnt-sign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1" name="Text 419"/>
          <p:cNvSpPr/>
          <p:nvPr/>
        </p:nvSpPr>
        <p:spPr>
          <a:xfrm>
            <a:off x="457200" y="639733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C2B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Slack כערוץ ראשי, WhatsApp off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4" name="Picture 42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6CC2FE73-05C6-4FE6-DE90-9FF14D68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2" y="1544320"/>
            <a:ext cx="7187229" cy="189430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9600" b="1" dirty="0">
                <a:solidFill>
                  <a:srgbClr val="F5F1EB"/>
                </a:solidFill>
                <a:latin typeface="Arial" pitchFamily="34" charset="0"/>
                <a:cs typeface="Arial" pitchFamily="34" charset="-120"/>
              </a:rPr>
              <a:t>להתראות אבל שלום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  ·  tal.gurevich@gmail.com  ·  linkedin.com/in/</a:t>
            </a:r>
            <a:r>
              <a:rPr lang="en-US" sz="1400" dirty="0" err="1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talgurevich</a:t>
            </a:r>
            <a:r>
              <a:rPr lang="en-US" sz="14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7743</TotalTime>
  <Words>5129</Words>
  <Application>Microsoft Macintosh PowerPoint</Application>
  <PresentationFormat>Widescreen</PresentationFormat>
  <Paragraphs>809</Paragraphs>
  <Slides>48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בצוות - Git, PRs, אוטומציה</dc:title>
  <dc:subject>PptxGenJS Presentation</dc:subject>
  <dc:creator>טל גורביץ׳</dc:creator>
  <cp:lastModifiedBy>טל גורביץ - מנהל אדמניסטרטיבי, Ofektech</cp:lastModifiedBy>
  <cp:revision>32</cp:revision>
  <dcterms:created xsi:type="dcterms:W3CDTF">2026-05-04T07:25:26Z</dcterms:created>
  <dcterms:modified xsi:type="dcterms:W3CDTF">2026-06-04T14:55:49Z</dcterms:modified>
</cp:coreProperties>
</file>