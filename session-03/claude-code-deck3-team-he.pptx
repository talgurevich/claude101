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notesMasterIdLst>
    <p:notesMasterId r:id="rId49"/>
  </p:notesMasterIdLst>
  <p:sldIdLst>
    <p:sldId id="256" r:id="rId2"/>
    <p:sldId id="300" r:id="rId3"/>
    <p:sldId id="298" r:id="rId4"/>
    <p:sldId id="257" r:id="rId5"/>
    <p:sldId id="258" r:id="rId6"/>
    <p:sldId id="259" r:id="rId7"/>
    <p:sldId id="260" r:id="rId8"/>
    <p:sldId id="261" r:id="rId9"/>
    <p:sldId id="288" r:id="rId10"/>
    <p:sldId id="285" r:id="rId11"/>
    <p:sldId id="284" r:id="rId12"/>
    <p:sldId id="286" r:id="rId13"/>
    <p:sldId id="287" r:id="rId14"/>
    <p:sldId id="262" r:id="rId15"/>
    <p:sldId id="263" r:id="rId16"/>
    <p:sldId id="290" r:id="rId17"/>
    <p:sldId id="289" r:id="rId18"/>
    <p:sldId id="292" r:id="rId19"/>
    <p:sldId id="303" r:id="rId20"/>
    <p:sldId id="302" r:id="rId21"/>
    <p:sldId id="265" r:id="rId22"/>
    <p:sldId id="291" r:id="rId23"/>
    <p:sldId id="266" r:id="rId24"/>
    <p:sldId id="267" r:id="rId25"/>
    <p:sldId id="268" r:id="rId26"/>
    <p:sldId id="270" r:id="rId27"/>
    <p:sldId id="271" r:id="rId28"/>
    <p:sldId id="272" r:id="rId29"/>
    <p:sldId id="273" r:id="rId30"/>
    <p:sldId id="274" r:id="rId31"/>
    <p:sldId id="277" r:id="rId32"/>
    <p:sldId id="278" r:id="rId33"/>
    <p:sldId id="279" r:id="rId34"/>
    <p:sldId id="280" r:id="rId35"/>
    <p:sldId id="281" r:id="rId36"/>
    <p:sldId id="282" r:id="rId37"/>
    <p:sldId id="305" r:id="rId38"/>
    <p:sldId id="304" r:id="rId39"/>
    <p:sldId id="306" r:id="rId40"/>
    <p:sldId id="307" r:id="rId41"/>
    <p:sldId id="308" r:id="rId42"/>
    <p:sldId id="294" r:id="rId43"/>
    <p:sldId id="293" r:id="rId44"/>
    <p:sldId id="299" r:id="rId45"/>
    <p:sldId id="295" r:id="rId46"/>
    <p:sldId id="296" r:id="rId47"/>
    <p:sldId id="283" r:id="rId4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23"/>
    <p:restoredTop sz="94610"/>
  </p:normalViewPr>
  <p:slideViewPr>
    <p:cSldViewPr snapToGrid="0" snapToObjects="1">
      <p:cViewPr varScale="1">
        <p:scale>
          <a:sx n="119" d="100"/>
          <a:sy n="119" d="100"/>
        </p:scale>
        <p:origin x="5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168914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235BB-067F-1A07-FE12-09927823B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9871AB-EEA8-0212-D7C7-028D8E0D2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210A71-BA7B-881B-5284-DB38EEBD36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40A3DD-9C1B-7D06-08CD-723152F660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7878325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B8E65-9EA2-443A-BB0D-8202FF838E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7AC0EC-ADC7-7D1E-FA41-E1C91450BD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C5E6FF-5968-C341-5CD3-06FEF4AC30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3C3A6E-C10E-1F83-6011-625D98AB98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33625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-914400"/>
            <a:ext cx="4572000" cy="45720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Shape 1"/>
          <p:cNvSpPr/>
          <p:nvPr/>
        </p:nvSpPr>
        <p:spPr>
          <a:xfrm>
            <a:off x="640080" y="4572000"/>
            <a:ext cx="1371600" cy="1371600"/>
          </a:xfrm>
          <a:prstGeom prst="ellipse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4114800" y="14630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8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03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371600" y="201168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6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Claude Code בצוות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1371600" y="338328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Git, PRs </a:t>
            </a:r>
            <a:r>
              <a:rPr lang="en-US" sz="2600" i="1" dirty="0" err="1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ואוטומציה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10607040" y="5029200"/>
            <a:ext cx="1097280" cy="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4389120" y="5212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טל גורביץ׳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400" normalizeH="0" baseline="0" noProof="0" dirty="0">
                <a:ln>
                  <a:noFill/>
                </a:ln>
                <a:solidFill>
                  <a:srgbClr val="D97757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BONUS  ·  THIS WEEK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1" i="0" u="none" strike="noStrike" kern="1200" cap="none" spc="0" normalizeH="0" baseline="0" noProof="0" dirty="0" err="1">
                <a:ln>
                  <a:noFill/>
                </a:ln>
                <a:solidFill>
                  <a:srgbClr val="F5F1EB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השבוע</a:t>
            </a:r>
            <a:r>
              <a:rPr kumimoji="0" lang="en-US" sz="4200" b="1" i="0" u="none" strike="noStrike" kern="1200" cap="none" spc="0" normalizeH="0" baseline="0" noProof="0" dirty="0">
                <a:ln>
                  <a:noFill/>
                </a:ln>
                <a:solidFill>
                  <a:srgbClr val="F5F1EB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kumimoji="0" lang="en-US" sz="4200" b="1" i="0" u="none" strike="noStrike" kern="1200" cap="none" spc="0" normalizeH="0" baseline="0" noProof="0" dirty="0" err="1">
                <a:ln>
                  <a:noFill/>
                </a:ln>
                <a:solidFill>
                  <a:srgbClr val="F5F1EB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בAnthropic</a:t>
            </a:r>
            <a:endParaRPr kumimoji="0" lang="en-US" sz="4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0515600" y="1901952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L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05740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C9C2B5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Opus 4.8.  Dynamic Workflows.  Mythos preview.  ו-draft S-1 ל-SEC.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6126480" y="2606040"/>
            <a:ext cx="5486400" cy="16916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L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11521440" y="2606040"/>
            <a:ext cx="91440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L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400800" y="280720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1" u="none" strike="noStrike" kern="0" cap="none" spc="200" normalizeH="0" baseline="0" noProof="0" dirty="0">
                <a:ln>
                  <a:noFill/>
                </a:ln>
                <a:solidFill>
                  <a:srgbClr val="D97757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OPUS 4.8  ·  28.5.2026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400800" y="310896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5F1EB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מודל חדש, אותו מחיר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400800" y="36118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9C2B5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claude-opus-4-8 ברירת מחדל ב-Claude Code. $5/$25 למיליון טוקנים — כמו 4.7. fast mode עכשיו $10/$50 לטוקן בפי-3 הוזלה.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02920" y="2606040"/>
            <a:ext cx="5486400" cy="16916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L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5897880" y="2606040"/>
            <a:ext cx="91440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L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777240" y="280720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1" u="none" strike="noStrike" kern="0" cap="none" spc="200" normalizeH="0" baseline="0" noProof="0" dirty="0">
                <a:ln>
                  <a:noFill/>
                </a:ln>
                <a:solidFill>
                  <a:srgbClr val="D97757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/ULTRACODE  ·  DYNAMIC WORKFLOWS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77240" y="310896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5F1EB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תזמור של מאות סוכנים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777240" y="36118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9C2B5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בקשו 'ultracode' או workflow → Claude מתזמר עשרות-מאות סוכנים ברקע על משימות מורכבות. /workflows לראות את הריצות שלכם.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126480" y="4434840"/>
            <a:ext cx="5486400" cy="16916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L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11521440" y="4434840"/>
            <a:ext cx="91440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L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400800" y="463600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1" u="none" strike="noStrike" kern="0" cap="none" spc="200" normalizeH="0" baseline="0" noProof="0" dirty="0">
                <a:ln>
                  <a:noFill/>
                </a:ln>
                <a:solidFill>
                  <a:srgbClr val="D97757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PROJECT GLASSWING  ·  MYTHOS PREVIEW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400800" y="493776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5F1EB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דרגה מעל Opus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400800" y="54406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9C2B5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Claude Mythos — מודל מעל Opus, כרגע ב-150 ארגונים לעבודות סייבר. שחרור רחב 'בשבועות הקרובים', בכפוף לבדיקות בטיחות.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02920" y="4434840"/>
            <a:ext cx="5486400" cy="16916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L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5897880" y="4434840"/>
            <a:ext cx="91440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L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777240" y="463600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1" u="none" strike="noStrike" kern="0" cap="none" spc="200" normalizeH="0" baseline="0" noProof="0" dirty="0">
                <a:ln>
                  <a:noFill/>
                </a:ln>
                <a:solidFill>
                  <a:srgbClr val="D97757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ANTHROPIC THE COMPANY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777240" y="493776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5F1EB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965Bn $ IPO 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777240" y="54406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9C2B5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draft S-1 הוגש ל-SEC. Series H של $65 מיליארד (Altimeter, Sequoia, Greenoaks, Dragoneer) ב-post-money של $965 מיליארד.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457200" y="61264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1" u="none" strike="noStrike" kern="1200" cap="none" spc="0" normalizeH="0" baseline="0" noProof="0" dirty="0">
                <a:ln>
                  <a:noFill/>
                </a:ln>
                <a:solidFill>
                  <a:srgbClr val="D9775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שבוע אחד.  ארבע הכרזות.  ככה זה ב-AI עכשיו — החזיקו ידיים על הדופק.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6217920" y="64922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B9588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Anthropic news  ·  27.5–3.6.2026  ·  קורס תל-חי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BONUS  ·  BILLING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Subscription vs API </a:t>
            </a:r>
            <a:r>
              <a:rPr lang="en-US" sz="32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</a:t>
            </a:r>
            <a:r>
              <a:rPr lang="en-US" sz="3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סוגי סיכון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0515600" y="1572768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Claude. שני מנגנוני חיוב. שני סוגי הגנה.  רובכם תשתמשו בשניהם.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126480" y="2194560"/>
            <a:ext cx="54864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11503152" y="2194560"/>
            <a:ext cx="109728" cy="2103120"/>
          </a:xfrm>
          <a:prstGeom prst="rect">
            <a:avLst/>
          </a:prstGeom>
          <a:solidFill>
            <a:srgbClr val="6E9A5E"/>
          </a:solidFill>
          <a:ln w="12700">
            <a:solidFill>
              <a:srgbClr val="6E9A5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6400800" y="237744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6E9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SUBSCRIPTION  ·  Pro/Max/Team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0" y="265176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מנוי חודשי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0" y="310896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6E9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$20–$200 / חודש קבוע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0" y="3474720"/>
            <a:ext cx="4983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חיוב חודשי קבוע, צפוי מראש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0" y="3675888"/>
            <a:ext cx="4983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אם חוצים שימוש — rate limit, לא חיוב נוסף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0" y="3877056"/>
            <a:ext cx="4983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מתאים ל: עבודה יומיומית, חקירה, למידה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0" y="4078224"/>
            <a:ext cx="4983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הגבלה: לא מתאים לאוטומציה כבדה / שירותי back-end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2194560"/>
            <a:ext cx="54864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5879592" y="2194560"/>
            <a:ext cx="109728" cy="2103120"/>
          </a:xfrm>
          <a:prstGeom prst="rect">
            <a:avLst/>
          </a:prstGeom>
          <a:solidFill>
            <a:srgbClr val="C97A3F"/>
          </a:solidFill>
          <a:ln w="12700">
            <a:solidFill>
              <a:srgbClr val="C97A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777240" y="237744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C97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  ·  console.anthropic.com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" y="265176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לפי שימוש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777240" y="310896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C97A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לפי טוקנים — אין תקרה ברירת-מחדל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77240" y="3474720"/>
            <a:ext cx="4983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חיוב לפי טוקנים בפועל; ללא קצה עליון אוטומטי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77240" y="3675888"/>
            <a:ext cx="4983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bug אחד בלולאה = חשבון של $10K בלילה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77240" y="3877056"/>
            <a:ext cx="4983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מתאים ל: production, אוטומציה, אינטגרציות, בוטים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77240" y="4078224"/>
            <a:ext cx="4983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דורש הגנות שכבתיות (ראו למטה)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869680" y="4526280"/>
            <a:ext cx="26974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Shape 23"/>
          <p:cNvSpPr/>
          <p:nvPr/>
        </p:nvSpPr>
        <p:spPr>
          <a:xfrm>
            <a:off x="11475720" y="4526280"/>
            <a:ext cx="91440" cy="1554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9052560" y="466344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SPEND CAP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9052560" y="491032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תקרת הוצאה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052560" y="528523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 Console → Spend Limit. הציבו תקרה נדיבה — לא מחניקה. רשת ביטחון אחרונה.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80760" y="4526280"/>
            <a:ext cx="26974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0" name="Shape 28"/>
          <p:cNvSpPr/>
          <p:nvPr/>
        </p:nvSpPr>
        <p:spPr>
          <a:xfrm>
            <a:off x="8686800" y="4526280"/>
            <a:ext cx="91440" cy="1554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/>
          <p:nvPr/>
        </p:nvSpPr>
        <p:spPr>
          <a:xfrm>
            <a:off x="6263640" y="466344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MULTIPLE KEYS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263640" y="491032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מפתחות נפרדים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263640" y="528523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לפיתוח, key ל-prod, key ל-CI.  rate limit לכל אחד. אחד דולף = אחד מבטלים.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291840" y="4526280"/>
            <a:ext cx="26974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Shape 33"/>
          <p:cNvSpPr/>
          <p:nvPr/>
        </p:nvSpPr>
        <p:spPr>
          <a:xfrm>
            <a:off x="5897880" y="4526280"/>
            <a:ext cx="91440" cy="1554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Text 34"/>
          <p:cNvSpPr/>
          <p:nvPr/>
        </p:nvSpPr>
        <p:spPr>
          <a:xfrm>
            <a:off x="3474720" y="466344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SERVER-SIDE ONLY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74720" y="491032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ב-client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3474720" y="528523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ה-key לעולם לא בקוד שמגיע לדפדפן. תמיד דרך השרת שלכם. client-side = ארנק פתוח לאינטרנט.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02920" y="4526280"/>
            <a:ext cx="26974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0" name="Shape 38"/>
          <p:cNvSpPr/>
          <p:nvPr/>
        </p:nvSpPr>
        <p:spPr>
          <a:xfrm>
            <a:off x="3108960" y="4526280"/>
            <a:ext cx="91440" cy="1554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1" name="Text 39"/>
          <p:cNvSpPr/>
          <p:nvPr/>
        </p:nvSpPr>
        <p:spPr>
          <a:xfrm>
            <a:off x="685800" y="466344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APP-LEVEL THROTTLE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85800" y="491032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throttle משתמשים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685800" y="528523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 מגן על המפתח שלכם. אתם מגנים על המפתח מהמשתמשים. rate limit per-user/IP.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57200" y="619963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 מגנה עליכם מ-key אחד.  אתם מגנים על ה-key מהמשתמשים שלכם.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17920" y="65379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  ·  קורס תל-חי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סדר היום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נעשה היום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שמונה חלקים. דגש על מה משתנה כשכל מפתח מריץ סוכן.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607040" y="18288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217920" y="187452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זה שונה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937760" y="1920240"/>
            <a:ext cx="1097280" cy="3200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4937760" y="19202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דק׳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19202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שינוי קצב, ושלוש בעיות תיאום חדשות שלא היו קודם.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607040" y="23774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217920" y="242316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כתשתית למקביל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937760" y="2468880"/>
            <a:ext cx="1097280" cy="3200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4937760" y="24688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דק׳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" y="24688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per task, worktrees, commit hygiene.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607040" y="29260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17920" y="297180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PRs בעולם של AI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937760" y="3017520"/>
            <a:ext cx="1097280" cy="3200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Text 16"/>
          <p:cNvSpPr/>
          <p:nvPr/>
        </p:nvSpPr>
        <p:spPr>
          <a:xfrm>
            <a:off x="4937760" y="301752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דק׳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30175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description מ-spec, שלוש רמות review, בדיקת קוד AI.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607040" y="34747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6217920" y="35204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טקסי הצוות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4937760" y="3566160"/>
            <a:ext cx="1097280" cy="3200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4937760" y="35661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דק׳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" y="35661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Daily, pairing, וידע משותף שעובר ב-CLAUDE.md.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607040" y="40233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217920" y="40690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של כלים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4937760" y="4114800"/>
            <a:ext cx="1097280" cy="3200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4937760" y="41148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דק׳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" y="4114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Action, MCP servers, hooks.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0607040" y="45720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6217920" y="461772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לאוטמט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4937760" y="4663440"/>
            <a:ext cx="1097280" cy="3200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3" name="Text 31"/>
          <p:cNvSpPr/>
          <p:nvPr/>
        </p:nvSpPr>
        <p:spPr>
          <a:xfrm>
            <a:off x="4937760" y="46634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דק׳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48640" y="46634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מטריצת leverage/risk. דוגמאות חיות. ומה לא לאוטמט.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0607040" y="51206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800" dirty="0"/>
          </a:p>
        </p:txBody>
      </p:sp>
      <p:sp>
        <p:nvSpPr>
          <p:cNvPr id="36" name="Text 34"/>
          <p:cNvSpPr/>
          <p:nvPr/>
        </p:nvSpPr>
        <p:spPr>
          <a:xfrm>
            <a:off x="6217920" y="516636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Anti-patterns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4937760" y="5212080"/>
            <a:ext cx="1097280" cy="3200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8" name="Text 36"/>
          <p:cNvSpPr/>
          <p:nvPr/>
        </p:nvSpPr>
        <p:spPr>
          <a:xfrm>
            <a:off x="4937760" y="5212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דק׳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48640" y="52120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פער אחריות, התנגשות סוכנים, review fatigue.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607040" y="56692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2800" dirty="0"/>
          </a:p>
        </p:txBody>
      </p:sp>
      <p:sp>
        <p:nvSpPr>
          <p:cNvPr id="41" name="Text 39"/>
          <p:cNvSpPr/>
          <p:nvPr/>
        </p:nvSpPr>
        <p:spPr>
          <a:xfrm>
            <a:off x="6217920" y="571500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סגירה ושאלות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4937760" y="5760720"/>
            <a:ext cx="1097280" cy="3200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Text 41"/>
          <p:cNvSpPr/>
          <p:nvPr/>
        </p:nvSpPr>
        <p:spPr>
          <a:xfrm>
            <a:off x="4937760" y="576072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דק׳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48640" y="57607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יום בחיי צוות בריא. Q&amp;A.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זה שונה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כשכל מפתח מריץ סוכן - הצוות לא נשאר אותו צוות.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הקצב החדש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מפתח אחד, שלושה PRs בבוקר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</a:t>
            </a: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השגרה החדשה. ולצוות יש שלוש בעיות שלא היו קודם.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309360" y="2468880"/>
            <a:ext cx="53949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492240" y="2697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לפני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0" y="30175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מפתח · יום עבודה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92240" y="3749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 PR לרוב, לפעמים 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92240" y="4160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200-400 שורות, יחידה אחת של עבודה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92240" y="4572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Review של חצי שעה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92240" y="4983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Daily קצר ויעיל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5394960" cy="338328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640080" y="2697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2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אחרי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0175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מפתח + סוכן · יום עבודה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40080" y="3749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3-5 PRs ביום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4160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כל אחד קטן וממוקד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4572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Review הופך להיות צוואר הבקבוק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4983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Daily כבר לא מספיק לסנכרן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בעיות חדשות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 בעיות תיאום חדשות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אף אחת מהן לא הייתה קיימת לפני שנתיים.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955280" y="2468880"/>
            <a:ext cx="35661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411712" y="2468880"/>
            <a:ext cx="109728" cy="32918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8229600" y="27432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229600" y="3383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התנגשות סוכנים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0" y="402336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 מפתחים מריצים שני סוכנים על אותו מודול. כל אחד עובד נכון לעצמו. ה-merge הופך לסיוט.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06240" y="2468880"/>
            <a:ext cx="35661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7662672" y="2468880"/>
            <a:ext cx="109728" cy="32918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4480560" y="27432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480560" y="3383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אי-בהירות בעלות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480560" y="402336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חתם על השורה הזאת? אני? הסוכן? אם יש באג בייצור — של מי האחריות, ואיך לומדים מזה.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2468880"/>
            <a:ext cx="35661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3913632" y="2468880"/>
            <a:ext cx="109728" cy="32918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731520" y="27432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31520" y="3383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עומס ביקורת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402336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שלושה מפתחים × ארבעה PRs = 12 PRs ביום. אף אחד לא יכול לסקור הכל ברצינות. הביקורת הופכת ל-rubber stamp.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Git </a:t>
            </a:r>
            <a:r>
              <a:rPr lang="en-US" sz="54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כתשתית</a:t>
            </a: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54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</a:t>
            </a:r>
            <a:r>
              <a:rPr lang="he-IL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עבודה ב</a:t>
            </a:r>
            <a:r>
              <a:rPr lang="en-US" sz="54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מקביל</a:t>
            </a:r>
            <a:endParaRPr lang="en-US" sz="5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WHAT IS GIT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git?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0515600" y="1691640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תשובה אחת — ושלוש תוצאות שנובעות ממנה. הכל אחר כך מתחיל מפה.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331720"/>
            <a:ext cx="11247120" cy="13716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11612880" y="2331720"/>
            <a:ext cx="9144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git  </a:t>
            </a:r>
            <a:r>
              <a:rPr lang="he-IL" sz="3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r>
              <a:rPr lang="en-US" sz="3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4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מכונת</a:t>
            </a:r>
            <a:r>
              <a:rPr lang="en-US" sz="3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זמן לקוד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31089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   </a:t>
            </a:r>
            <a:r>
              <a:rPr lang="en-US" sz="2000" i="1" dirty="0" err="1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שכבת</a:t>
            </a: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תיאום שמאפשרת לכמה ידיים לעבוד באותו פרויקט.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3886200"/>
            <a:ext cx="36576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11612880" y="3886200"/>
            <a:ext cx="91440" cy="22860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8275320" y="40690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HISTORY  ·  היסטוריה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275320" y="43891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שינוי נשמר לעד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8275320" y="4937760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commit הוא snapshot של הקוד. אפשר תמיד לחזור לכל גרסה — לפני שבוע, לפני חצי שנה. שום דבר לא נאבד.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251960" y="3886200"/>
            <a:ext cx="36576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7818120" y="3886200"/>
            <a:ext cx="91440" cy="22860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4480560" y="40690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BRANCHES  ·  ענפים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480560" y="43891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גרסאות</a:t>
            </a:r>
            <a:r>
              <a:rPr lang="en-US" sz="19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9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מקבילות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4480560" y="4937760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= קו עבודה מקביל ועצמאי. יצירה ומיזוג זולים. זה מה שמאפשר לכל מפתח לעבוד על המשימה שלו בלי להפריע.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886200"/>
            <a:ext cx="36576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4023360" y="3886200"/>
            <a:ext cx="91440" cy="22860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685800" y="40690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DISTRIBUTED  ·  מקומי ומשותף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85800" y="43891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מפתח — עותק מלא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685800" y="4937760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מבוזר: על כל מחשב יש את ההיסטוריה המלאה. GitHub הוא עותק מוסכם שכולם מסנכרנים מולו. אין שרת קסום אחד.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  ·  קורס תל-חי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git command&#10;&#10;AI-generated content may be incorrect.">
            <a:extLst>
              <a:ext uri="{FF2B5EF4-FFF2-40B4-BE49-F238E27FC236}">
                <a16:creationId xmlns:a16="http://schemas.microsoft.com/office/drawing/2014/main" id="{173509A3-9B0A-9C12-0681-C7F1D9C60D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1259" y="248536"/>
            <a:ext cx="9695329" cy="6471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97146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GIT BASICS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git שמונה פקודות, מה כל אחת עושה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515600" y="1627632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המינימום שצריך לדעת כדי לעבוד על המשימה.  סדר השורות = סדר השימוש.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331720"/>
            <a:ext cx="11247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11612880" y="2331720"/>
            <a:ext cx="91440" cy="4572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7772400" y="2331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&lt;url&gt;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3317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מורידים את הריפו מ-GitHub למחשב המקומי. פעם אחת לכל ריפו.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11247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11612880" y="2834640"/>
            <a:ext cx="91440" cy="4572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7772400" y="2834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pull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28346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מושכים שינויים חדשים מהשרת. עושים לפני שמתחילים לעבוד.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337560"/>
            <a:ext cx="11247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Shape 13"/>
          <p:cNvSpPr/>
          <p:nvPr/>
        </p:nvSpPr>
        <p:spPr>
          <a:xfrm>
            <a:off x="11612880" y="3337560"/>
            <a:ext cx="91440" cy="4572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7772400" y="33375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checkout -b &lt;name&gt;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33375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יוצרים branch חדש לעבודה שלכם. כל משימה — branch משלה.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840480"/>
            <a:ext cx="11247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Shape 17"/>
          <p:cNvSpPr/>
          <p:nvPr/>
        </p:nvSpPr>
        <p:spPr>
          <a:xfrm>
            <a:off x="11612880" y="3840480"/>
            <a:ext cx="91440" cy="4572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7772400" y="3840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status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38404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מציג אילו קבצים השתנו מאז ה-commit האחרון. בדיקה מהירה איפה אתם.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Shape 21"/>
          <p:cNvSpPr/>
          <p:nvPr/>
        </p:nvSpPr>
        <p:spPr>
          <a:xfrm>
            <a:off x="11612880" y="4343400"/>
            <a:ext cx="91440" cy="4572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Text 22"/>
          <p:cNvSpPr/>
          <p:nvPr/>
        </p:nvSpPr>
        <p:spPr>
          <a:xfrm>
            <a:off x="7772400" y="43434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add -A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" y="43434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מסמנים את כל השינויים כמועמדים ל-commit (staging area).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4846320"/>
            <a:ext cx="11247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Shape 25"/>
          <p:cNvSpPr/>
          <p:nvPr/>
        </p:nvSpPr>
        <p:spPr>
          <a:xfrm>
            <a:off x="11612880" y="4846320"/>
            <a:ext cx="91440" cy="4572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7772400" y="48463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commit -m "..."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0080" y="48463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שומרים snapshot מקומי עם הודעה שמסבירה מה השתנה. עדיין רק על המחשב שלכם.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57200" y="5349240"/>
            <a:ext cx="11247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Shape 29"/>
          <p:cNvSpPr/>
          <p:nvPr/>
        </p:nvSpPr>
        <p:spPr>
          <a:xfrm>
            <a:off x="11612880" y="5349240"/>
            <a:ext cx="91440" cy="4572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2" name="Text 30"/>
          <p:cNvSpPr/>
          <p:nvPr/>
        </p:nvSpPr>
        <p:spPr>
          <a:xfrm>
            <a:off x="7772400" y="53492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40080" y="53492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דוחפים את ה-branch ל-GitHub. עכשיו השינויים גלויים גם ל-remote.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Shape 33"/>
          <p:cNvSpPr/>
          <p:nvPr/>
        </p:nvSpPr>
        <p:spPr>
          <a:xfrm>
            <a:off x="11612880" y="5852160"/>
            <a:ext cx="91440" cy="4572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Text 34"/>
          <p:cNvSpPr/>
          <p:nvPr/>
        </p:nvSpPr>
        <p:spPr>
          <a:xfrm>
            <a:off x="7772400" y="58521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 pr create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40080" y="58521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פותחים Pull Request. בקשה רשמית למזג את ה-branch שלכם ל-main.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  ·  קורס תל-חי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GIT CONCEPTS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git: </a:t>
            </a:r>
            <a:r>
              <a:rPr lang="en-US" sz="34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שישה</a:t>
            </a:r>
            <a:r>
              <a:rPr lang="en-US" sz="3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מושגים שצריך להבין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515600" y="1627632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כל אחד מהם אומר, ולמה הוא קיים. הפקודות יבואו אחר כך.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955280" y="2331720"/>
            <a:ext cx="36118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11475720" y="2331720"/>
            <a:ext cx="91440" cy="17830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8183880" y="251460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CLONE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183880" y="278892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שכפול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183880" y="324612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מורידים את הריפו מ-GitHub למחשב המקומי. עכשיו יש לכם עותק עצמאי לעבוד עליו. רק עליו.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06240" y="2331720"/>
            <a:ext cx="36118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Shape 10"/>
          <p:cNvSpPr/>
          <p:nvPr/>
        </p:nvSpPr>
        <p:spPr>
          <a:xfrm>
            <a:off x="7726680" y="2331720"/>
            <a:ext cx="91440" cy="17830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4434840" y="251460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BRANCH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34840" y="278892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 ·  ענף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434840" y="324612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 עבודה מקבילי. שינויים שלכם לא נוגעים ב-main עד שמוזגים. כל משימה — branch משלה.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331720"/>
            <a:ext cx="36118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Shape 15"/>
          <p:cNvSpPr/>
          <p:nvPr/>
        </p:nvSpPr>
        <p:spPr>
          <a:xfrm>
            <a:off x="3977640" y="2331720"/>
            <a:ext cx="91440" cy="17830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Text 16"/>
          <p:cNvSpPr/>
          <p:nvPr/>
        </p:nvSpPr>
        <p:spPr>
          <a:xfrm>
            <a:off x="685800" y="251460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85800" y="278892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  ·  קומיט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85800" y="324612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snapshot מקומי של שינויים, עם הודעה שמסבירה מה נעשה. עדיין רק על המחשב שלכם.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955280" y="4251960"/>
            <a:ext cx="36118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Shape 20"/>
          <p:cNvSpPr/>
          <p:nvPr/>
        </p:nvSpPr>
        <p:spPr>
          <a:xfrm>
            <a:off x="11475720" y="4251960"/>
            <a:ext cx="91440" cy="17830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8183880" y="44348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183880" y="470916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דחיפה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8183880" y="516636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שליחת ה-commits מהמחשב שלכם ל-GitHub. עכשיו ה-branch גלוי גם ל-remote ולשאר הצוות.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206240" y="4251960"/>
            <a:ext cx="36118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Shape 25"/>
          <p:cNvSpPr/>
          <p:nvPr/>
        </p:nvSpPr>
        <p:spPr>
          <a:xfrm>
            <a:off x="7726680" y="4251960"/>
            <a:ext cx="91440" cy="17830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4434840" y="44348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PULL REQUEST  ·  PR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434840" y="470916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בקשת מיזוג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4434840" y="516636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בקשה רשמית למזג את ה-branch שלכם ל-main. כוללת תיאור השינוי, דיון, ו-code review.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7200" y="4251960"/>
            <a:ext cx="36118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2" name="Shape 30"/>
          <p:cNvSpPr/>
          <p:nvPr/>
        </p:nvSpPr>
        <p:spPr>
          <a:xfrm>
            <a:off x="3977640" y="4251960"/>
            <a:ext cx="91440" cy="17830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3" name="Text 31"/>
          <p:cNvSpPr/>
          <p:nvPr/>
        </p:nvSpPr>
        <p:spPr>
          <a:xfrm>
            <a:off x="685800" y="44348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MERGE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85800" y="470916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מיזוג</a:t>
            </a:r>
            <a:endParaRPr lang="en-US" sz="1900" dirty="0"/>
          </a:p>
        </p:txBody>
      </p:sp>
      <p:sp>
        <p:nvSpPr>
          <p:cNvPr id="35" name="Text 33"/>
          <p:cNvSpPr/>
          <p:nvPr/>
        </p:nvSpPr>
        <p:spPr>
          <a:xfrm>
            <a:off x="685800" y="516636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אישור ה-PR. ה-branch מצטרף ל-main, והקוד שלכם הופך לחלק מההיסטוריה הרשמית.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57200" y="626364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הסדר הוא לא במקרה: clone פעם אחת, branch לכל משימה, ושאר ה-4 חוזרים בלולאה.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217920" y="65379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  ·  קורס תל-חי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THE 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Flow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515600" y="1627632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ה-branch שלכם יוצא מ-main, צובר commits, ומתמזג חזרה. כל מעבר — פקודה.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4434840"/>
            <a:ext cx="11247120" cy="0"/>
          </a:xfrm>
          <a:prstGeom prst="line">
            <a:avLst/>
          </a:prstGeom>
          <a:noFill/>
          <a:ln w="508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3017520" y="3246120"/>
            <a:ext cx="6126480" cy="0"/>
          </a:xfrm>
          <a:prstGeom prst="line">
            <a:avLst/>
          </a:prstGeom>
          <a:noFill/>
          <a:ln w="38100">
            <a:solidFill>
              <a:srgbClr val="8FB87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 flipV="1">
            <a:off x="2194560" y="3246120"/>
            <a:ext cx="822960" cy="1188720"/>
          </a:xfrm>
          <a:prstGeom prst="line">
            <a:avLst/>
          </a:prstGeom>
          <a:noFill/>
          <a:ln w="38100">
            <a:solidFill>
              <a:srgbClr val="8FB87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9144000" y="3246120"/>
            <a:ext cx="822960" cy="1188720"/>
          </a:xfrm>
          <a:prstGeom prst="line">
            <a:avLst/>
          </a:prstGeom>
          <a:noFill/>
          <a:ln w="38100">
            <a:solidFill>
              <a:srgbClr val="8FB87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2084832" y="4325112"/>
            <a:ext cx="219456" cy="219456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9829800" y="4297680"/>
            <a:ext cx="274320" cy="27432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Shape 10"/>
          <p:cNvSpPr/>
          <p:nvPr/>
        </p:nvSpPr>
        <p:spPr>
          <a:xfrm>
            <a:off x="4206240" y="3154680"/>
            <a:ext cx="182880" cy="182880"/>
          </a:xfrm>
          <a:prstGeom prst="ellipse">
            <a:avLst/>
          </a:prstGeom>
          <a:solidFill>
            <a:srgbClr val="8FB87A"/>
          </a:solidFill>
          <a:ln w="12700">
            <a:solidFill>
              <a:srgbClr val="8FB87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Shape 11"/>
          <p:cNvSpPr/>
          <p:nvPr/>
        </p:nvSpPr>
        <p:spPr>
          <a:xfrm>
            <a:off x="6035040" y="3154680"/>
            <a:ext cx="182880" cy="182880"/>
          </a:xfrm>
          <a:prstGeom prst="ellipse">
            <a:avLst/>
          </a:prstGeom>
          <a:solidFill>
            <a:srgbClr val="8FB87A"/>
          </a:solidFill>
          <a:ln w="12700">
            <a:solidFill>
              <a:srgbClr val="8FB87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Shape 12"/>
          <p:cNvSpPr/>
          <p:nvPr/>
        </p:nvSpPr>
        <p:spPr>
          <a:xfrm>
            <a:off x="7863840" y="3154680"/>
            <a:ext cx="182880" cy="182880"/>
          </a:xfrm>
          <a:prstGeom prst="ellipse">
            <a:avLst/>
          </a:prstGeom>
          <a:solidFill>
            <a:srgbClr val="8FB87A"/>
          </a:solidFill>
          <a:ln w="12700">
            <a:solidFill>
              <a:srgbClr val="8FB87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457200" y="4572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607040" y="4572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297680" y="2240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feature/&lt;your-name&gt;-&lt;short&gt;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114800" y="26060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add  +  git commit   ( × N 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4320" y="49377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  →   git checkout -b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498080" y="49377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   →   gh pr create   →   merge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b="1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מוגן.  ה-merge הוא הצעד היחיד שדורש אישור — וזה קורה ב-PR.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Branch per task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Branch  </a:t>
            </a:r>
            <a:r>
              <a:rPr lang="en-US" sz="36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לכל</a:t>
            </a: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יחידת עבודה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feature branch. branch אטומי שנפתח, מתמזג, ונסגר תוך שעה-שעתיים.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11247120" cy="33832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731520" y="260604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כל משימה - branch משלה. גם אם זו רק תיקון אחד.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2898648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checkout -b fix-stale-cache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3191256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 # סוכן עובד על המשימה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3483864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 &amp;&amp; gh pr create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3776472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406908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בינתיים, במקביל - משימה אחרת: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4361688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checkout main &amp;&amp; git pull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31520" y="4654296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checkout -b add-search-filters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520" y="4946904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 # סוכן שני, תוצר אחר, אין התנגשות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הכלל: branch קצר חיים. אם הוא בן יום - הוא כבר ארוך מדי.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Worktrees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להריץ שני Claudes - בלי שיתעצבנו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2743200"/>
            <a:ext cx="53035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40080" y="29718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worktree #1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32918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~/proj/main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749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Branch: fix-stale-cache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42062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8FB8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#1 - מתקן באג cache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0" y="2743200"/>
            <a:ext cx="53035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6583680" y="29718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worktree #2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583680" y="32918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~/proj/feature-search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83680" y="3749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Branch: add-search-filters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583680" y="42062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8FB8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#2 - מוסיף פילטרים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5486400"/>
            <a:ext cx="11247120" cy="4572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731520" y="55321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worktree add ../feature-search add-search-filters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AUTHORING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Claude כותב במקומכם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10515600" y="1627632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הסוכן יודע את ה-spec, לא רק את ה-diff. זה משנה כל מה שהוא מנסח.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26480" y="2331720"/>
            <a:ext cx="54864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11521440" y="2331720"/>
            <a:ext cx="91440" cy="17830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6400800" y="253288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COMMIT MESSAGES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0" y="283464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הודעות commit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00800" y="333756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קורא את ה-diff ומנסח הודעה שמסבירה מה ולמה. עוקב Conventional Commits, מציע body עם הקשר מה-spec.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2331720"/>
            <a:ext cx="54864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Shape 10"/>
          <p:cNvSpPr/>
          <p:nvPr/>
        </p:nvSpPr>
        <p:spPr>
          <a:xfrm>
            <a:off x="5897880" y="2331720"/>
            <a:ext cx="91440" cy="17830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777240" y="253288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 DESCRIPTIONS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" y="283464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תיאורי PR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77240" y="333756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/ What / Risk / Tested — מנוסחים מתוך ה-spec ולא מתוך ה-diff. בדיוק מה שביקשנו בשקופית #11.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26480" y="4251960"/>
            <a:ext cx="54864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Shape 15"/>
          <p:cNvSpPr/>
          <p:nvPr/>
        </p:nvSpPr>
        <p:spPr>
          <a:xfrm>
            <a:off x="11521440" y="4251960"/>
            <a:ext cx="91440" cy="17830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Text 16"/>
          <p:cNvSpPr/>
          <p:nvPr/>
        </p:nvSpPr>
        <p:spPr>
          <a:xfrm>
            <a:off x="6400800" y="445312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  ·  RELEASE NOTES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00800" y="475488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 ושינויים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400800" y="525780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מ-range של commits או PRs — Claude מסכם ל-`CHANGELOG.md`, ל-release notes, או להודעת Slack מסודרת.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4251960"/>
            <a:ext cx="54864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Shape 20"/>
          <p:cNvSpPr/>
          <p:nvPr/>
        </p:nvSpPr>
        <p:spPr>
          <a:xfrm>
            <a:off x="5897880" y="4251960"/>
            <a:ext cx="91440" cy="17830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777240" y="445312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 ISSUES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77240" y="475488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פתיחת issues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777240" y="525780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מתיאור של פיצ׳ר או באג — issue מובנה עם acceptance criteria. בקושי בעריכה — מוכן להיפתח.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60807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ה-spec הוא ה-source of truth.  ה-CLAUDE.md הוא איך הסוכן יודע אותו. שמרו על שניהם.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  ·  קורס תל-חי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ASSISTANCE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כעוזר: השוואה, תיאום, מורה ל-git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0515600" y="1627632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מעבר ל-/review </a:t>
            </a:r>
            <a:r>
              <a:rPr lang="en-US" sz="1500" i="1" dirty="0" err="1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הסטנדרטי</a:t>
            </a:r>
            <a:r>
              <a:rPr lang="en-US" sz="15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ארבע יכולות שיעזרו במיוחד בשבוע של המשימה.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26480" y="2331720"/>
            <a:ext cx="54864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11521440" y="2331720"/>
            <a:ext cx="91440" cy="17830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6400800" y="253288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COMPARE PRs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0" y="283464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השוואת PRs מתחרים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00800" y="333756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שלושה PRs מציעים את אותו פיצ׳ר. תשאלו: 'מי הכי נקי, ולמה?'  Claude עונה לפי הקוד ולפי ה-spec — מוכן בדיוק למפגש 3.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2331720"/>
            <a:ext cx="54864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Shape 10"/>
          <p:cNvSpPr/>
          <p:nvPr/>
        </p:nvSpPr>
        <p:spPr>
          <a:xfrm>
            <a:off x="5897880" y="2331720"/>
            <a:ext cx="91440" cy="17830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777240" y="253288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  ↔  DIFF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" y="283464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תיאור</a:t>
            </a:r>
            <a:r>
              <a:rPr lang="en-US" sz="2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0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מול</a:t>
            </a:r>
            <a:r>
              <a:rPr lang="en-US" sz="2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diff 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77240" y="333756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ה-PR description אומר X. ה-diff עושה Y. Claude מזהה את הפער ומתריע. שווה לעשות לפני merge.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26480" y="4251960"/>
            <a:ext cx="54864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Shape 15"/>
          <p:cNvSpPr/>
          <p:nvPr/>
        </p:nvSpPr>
        <p:spPr>
          <a:xfrm>
            <a:off x="11521440" y="4251960"/>
            <a:ext cx="91440" cy="17830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Text 16"/>
          <p:cNvSpPr/>
          <p:nvPr/>
        </p:nvSpPr>
        <p:spPr>
          <a:xfrm>
            <a:off x="6400800" y="445312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TUTOR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00800" y="475488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מורה</a:t>
            </a:r>
            <a:r>
              <a:rPr lang="en-US" sz="2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0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לgit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400800" y="525780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'אני רוצה לבטל את ה-commit האחרון אבל לשמור את השינויים.'  Claude מסביר, מציע את הפקודה, ומריץ במקומכם. ה-manpage שמדברים איתו.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4251960"/>
            <a:ext cx="54864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Shape 20"/>
          <p:cNvSpPr/>
          <p:nvPr/>
        </p:nvSpPr>
        <p:spPr>
          <a:xfrm>
            <a:off x="5897880" y="4251960"/>
            <a:ext cx="91440" cy="17830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777240" y="445312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PRE-MERGE SANITY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77240" y="475488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בדיקה</a:t>
            </a:r>
            <a:r>
              <a:rPr lang="en-US" sz="2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0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</a:t>
            </a:r>
            <a:r>
              <a:rPr lang="en-US" sz="2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merge 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777240" y="525780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'אם אמזג את שלושת ה-PRs בסדר הזה — מה עשוי להישבר?'  Claude קורא את שלושתם וצבע על קונפליקטים לפני שתלחצו merge.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60807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ה-/review הסטנדרטי, /security-review ו-/ultrareview — בשקופית 12. אלו ההרחבות.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  ·  קורס תל-חי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08  ·  דמו חי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נעשה בדמו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0515600" y="1627632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מ-issue ל-merge — חמישה צעדים.  אני מדבר.  Claude עושה.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377440"/>
            <a:ext cx="11247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11612880" y="2377440"/>
            <a:ext cx="91440" cy="6858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10332720" y="237744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640080" y="2377440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מעתיקים את ה-issue מ-GitHub ל-Claude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57200" y="3136392"/>
            <a:ext cx="11247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11612880" y="3136392"/>
            <a:ext cx="91440" cy="6858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10332720" y="3136392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640080" y="3136392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Claude  </a:t>
            </a:r>
            <a:r>
              <a:rPr lang="en-US" sz="22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כותב</a:t>
            </a: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את </a:t>
            </a:r>
            <a:r>
              <a:rPr lang="en-US" sz="22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הקוד</a:t>
            </a: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r>
              <a:rPr lang="en-US" sz="22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רק</a:t>
            </a: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קוד, </a:t>
            </a:r>
            <a:r>
              <a:rPr lang="en-US" sz="22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בלי</a:t>
            </a: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commit 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457200" y="3895344"/>
            <a:ext cx="11247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Shape 13"/>
          <p:cNvSpPr/>
          <p:nvPr/>
        </p:nvSpPr>
        <p:spPr>
          <a:xfrm>
            <a:off x="11612880" y="3895344"/>
            <a:ext cx="91440" cy="6858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10332720" y="3895344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640080" y="389534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Claude  </a:t>
            </a:r>
            <a:r>
              <a:rPr lang="en-US" sz="22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עושה</a:t>
            </a: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commit ב-branch חדש </a:t>
            </a:r>
            <a:r>
              <a:rPr lang="en-US" sz="22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ודוחף</a:t>
            </a: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2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לGitHub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457200" y="4654296"/>
            <a:ext cx="11247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Shape 17"/>
          <p:cNvSpPr/>
          <p:nvPr/>
        </p:nvSpPr>
        <p:spPr>
          <a:xfrm>
            <a:off x="11612880" y="4654296"/>
            <a:ext cx="91440" cy="6858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10332720" y="4654296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800" dirty="0"/>
          </a:p>
        </p:txBody>
      </p:sp>
      <p:sp>
        <p:nvSpPr>
          <p:cNvPr id="21" name="Text 19"/>
          <p:cNvSpPr/>
          <p:nvPr/>
        </p:nvSpPr>
        <p:spPr>
          <a:xfrm>
            <a:off x="640080" y="4654296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  </a:t>
            </a:r>
            <a:r>
              <a:rPr lang="en-US" sz="22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פותח</a:t>
            </a: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 עם תיאור טוב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457200" y="5413248"/>
            <a:ext cx="11247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Shape 21"/>
          <p:cNvSpPr/>
          <p:nvPr/>
        </p:nvSpPr>
        <p:spPr>
          <a:xfrm>
            <a:off x="11612880" y="5413248"/>
            <a:ext cx="91440" cy="6858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Text 22"/>
          <p:cNvSpPr/>
          <p:nvPr/>
        </p:nvSpPr>
        <p:spPr>
          <a:xfrm>
            <a:off x="10332720" y="5413248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800" dirty="0"/>
          </a:p>
        </p:txBody>
      </p:sp>
      <p:sp>
        <p:nvSpPr>
          <p:cNvPr id="25" name="Text 23"/>
          <p:cNvSpPr/>
          <p:nvPr/>
        </p:nvSpPr>
        <p:spPr>
          <a:xfrm>
            <a:off x="640080" y="5413248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אנחנו </a:t>
            </a:r>
            <a:r>
              <a:rPr lang="en-US" sz="22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סוקרים</a:t>
            </a: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2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</a:t>
            </a: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GitHub </a:t>
            </a:r>
            <a:r>
              <a:rPr lang="en-US" sz="22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ולוחצים</a:t>
            </a: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merge 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57200" y="61722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צעד = הוראה אחת ל-Claude.  בעברית.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217920" y="65379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  ·  קורס תל-חי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08  ·  OUR BOT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ה-Spec-Check Bot שבנינו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10515600" y="1627632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הוא קורא, איך הוא חושב, מה הוא כותב, איפה הוא חי.  112 שורות YAML.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26480" y="2331720"/>
            <a:ext cx="54864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11521440" y="2331720"/>
            <a:ext cx="91440" cy="17830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6400800" y="253288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IT READS  ·  INPUTS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0" y="283464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הוא קורא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0" y="333756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spec.md מה-root  +  ה-diff המלא של ה-PR (עד 100KB)  +  title ו-body של ה-PR.  הכל נבנה לפרומפט אחד מובנה.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2331720"/>
            <a:ext cx="54864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Shape 10"/>
          <p:cNvSpPr/>
          <p:nvPr/>
        </p:nvSpPr>
        <p:spPr>
          <a:xfrm>
            <a:off x="5897880" y="2331720"/>
            <a:ext cx="91440" cy="17830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777240" y="253288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IT THINKS  ·  ENGINE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" y="283464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הוא חושב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777240" y="333756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קריאת API אחת ל-Claude (Sonnet 4.6).  פרומפט: 'בדוק אם ה-diff מקיים את ה-spec'.  פלט בתבנית קבועה — Verdict + Matches + Gaps + Risks.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26480" y="4251960"/>
            <a:ext cx="54864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Shape 15"/>
          <p:cNvSpPr/>
          <p:nvPr/>
        </p:nvSpPr>
        <p:spPr>
          <a:xfrm>
            <a:off x="11521440" y="4251960"/>
            <a:ext cx="91440" cy="17830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Text 16"/>
          <p:cNvSpPr/>
          <p:nvPr/>
        </p:nvSpPr>
        <p:spPr>
          <a:xfrm>
            <a:off x="6400800" y="445312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IT WRITES  ·  OUTPUT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00800" y="475488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הוא כותב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400800" y="525780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תגובה אחת ב-PR:  ✅ matches / ⚠️ partial / ❌ off-spec  + bullets.  מסומן ב-marker נסתר, נערך במקום במקום להיכפל בכל push.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4251960"/>
            <a:ext cx="54864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Shape 20"/>
          <p:cNvSpPr/>
          <p:nvPr/>
        </p:nvSpPr>
        <p:spPr>
          <a:xfrm>
            <a:off x="5897880" y="4251960"/>
            <a:ext cx="91440" cy="17830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777240" y="445312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IT LIVES  ·  RUNTIME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77240" y="475488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איפה הוא חי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777240" y="525780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 ב-`.github/workflows/spec-check.yml`.  ANTHROPIC_API_KEY ב-repo secrets.  רץ ~30 שניות לכל PR.  עלות: ~$0.02 לקריאה.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60807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נפתח  </a:t>
            </a:r>
            <a:r>
              <a:rPr lang="en-US" sz="13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r>
              <a:rPr lang="en-US" sz="13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Action רץ  </a:t>
            </a:r>
            <a:r>
              <a:rPr lang="en-US" sz="13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r>
              <a:rPr lang="en-US" sz="13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Claude נשאל  </a:t>
            </a:r>
            <a:r>
              <a:rPr lang="en-US" sz="13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r>
              <a:rPr lang="en-US" sz="13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Comment נשלח  </a:t>
            </a:r>
            <a:r>
              <a:rPr lang="en-US" sz="1100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(~30s, ~$0.02)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217920" y="64922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github.com/talgurevich/fixslot/.github/workflows/spec-check.yml  ·  קורס תל-חי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08  ·  TWO AGENTS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 סוכנים.  ריפו אחד.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0515600" y="1627632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בסשן הזה: אחד כותב את הקוד.  אחד סוקר את ה-PR.  גם זה Claude, גם זה Claude.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126480" y="2423160"/>
            <a:ext cx="54864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11503152" y="2423160"/>
            <a:ext cx="109728" cy="3657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10332720" y="265176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6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5600" dirty="0"/>
          </a:p>
        </p:txBody>
      </p:sp>
      <p:sp>
        <p:nvSpPr>
          <p:cNvPr id="9" name="Text 7"/>
          <p:cNvSpPr/>
          <p:nvPr/>
        </p:nvSpPr>
        <p:spPr>
          <a:xfrm>
            <a:off x="6400800" y="27889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#1  ·  THE WRITER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0" y="313639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— כותב הקוד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400800" y="3840480"/>
            <a:ext cx="493776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6400800" y="4023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רץ אצלכם — terminal או IDE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0" y="440740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מקבל כוונה בשפה טבעית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0" y="47914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עורך קבצים, מריץ tests, עושה commits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0" y="517550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דוחף branches ופותח PRs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0" y="555955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מדבר איתכם בזמן אמת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2920" y="2423160"/>
            <a:ext cx="54864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5879592" y="2423160"/>
            <a:ext cx="109728" cy="3657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4709160" y="265176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6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5600" dirty="0"/>
          </a:p>
        </p:txBody>
      </p:sp>
      <p:sp>
        <p:nvSpPr>
          <p:cNvPr id="20" name="Text 18"/>
          <p:cNvSpPr/>
          <p:nvPr/>
        </p:nvSpPr>
        <p:spPr>
          <a:xfrm>
            <a:off x="777240" y="27889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#2  ·  THE REVIEWER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77240" y="313639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Spec-Check Bot — סוקר ה-PR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777240" y="3840480"/>
            <a:ext cx="493776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777240" y="4023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רץ ב-GitHub Actions (CI)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77240" y="440740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נדלק על כל PR אוטומטית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77240" y="47914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קורא: spec + diff + PR body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77240" y="517550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שואל את Claude מה הוא חושב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77240" y="555955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מגיב על ה-PR — לא מדבר איתכם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חזרה למפגש 1:  אותו Claude.  שני harnesses.  שני תפקידים.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217920" y="65379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  ·  קורס תל-חי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PRs </a:t>
            </a:r>
            <a:r>
              <a:rPr lang="en-US" sz="54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בעולם</a:t>
            </a: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54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</a:t>
            </a: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AI 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פה ה-Bottleneck החדש - וגם פה הניצחונות הגדולים.</a:t>
            </a:r>
            <a:endParaRPr lang="en-US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WHAT IS A PR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Pull Request?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0515600" y="1627632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75564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הוא הרבה יותר מבקשה. ארבע פנים לאותו דבר.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240280"/>
            <a:ext cx="11247120" cy="118872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11612880" y="2240280"/>
            <a:ext cx="91440" cy="11887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640080" y="242316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PR </a:t>
            </a:r>
            <a:r>
              <a:rPr lang="en-US" sz="30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בקשה</a:t>
            </a:r>
            <a:r>
              <a:rPr lang="en-US" sz="3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רשמית למזג branch ל-main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40080" y="292608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המקום שבו הקוד נסקר, מתדיין, ומאושר לפני שהופך לרשמי.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6126480" y="3566160"/>
            <a:ext cx="54864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11521440" y="3566160"/>
            <a:ext cx="91440" cy="14173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6400800" y="3730752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CONTAINER  ·  חבילה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0" y="402336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יש בתוך PR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00800" y="443484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ה-diff שלכם + title + description + linked issues + commits + status של checks. הכל במקום אחד וניתן לסקירה.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3566160"/>
            <a:ext cx="54864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5897880" y="3566160"/>
            <a:ext cx="91440" cy="14173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777240" y="3730752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DISCUSSION  ·  דיון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" y="402336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המקום שבו הקוד נדון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77240" y="443484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comments, הצעות שינוי, החלטות. ה-thread הוא חלק בלתי-נפרד מהקוד שמתמזג בסוף.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26480" y="5074920"/>
            <a:ext cx="54864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11521440" y="5074920"/>
            <a:ext cx="91440" cy="14173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6400800" y="5239512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GATE  ·  שער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0" y="553212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שצריך לעבור לפני merge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400800" y="594360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בדיקות אוטומטיות (CI) + אישור אדם. אם משהו תקוע — ה-merge חסום עד שהבעיה תיפתר.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02920" y="5074920"/>
            <a:ext cx="54864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Shape 24"/>
          <p:cNvSpPr/>
          <p:nvPr/>
        </p:nvSpPr>
        <p:spPr>
          <a:xfrm>
            <a:off x="5897880" y="5074920"/>
            <a:ext cx="91440" cy="14173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777240" y="5239512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RECORD  ·  תיעוד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7240" y="553212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נשאר אחרי merge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77240" y="594360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ה-PR לעולם לא נמחק. בעוד שנה תוכלו לקרוא: מה השתנה, למה, מי סקר, ומי אישר.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  ·  קורס תל-חי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PR description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3600" b="1" dirty="0">
                <a:solidFill>
                  <a:srgbClr val="1A1814"/>
                </a:solidFill>
                <a:latin typeface="Arial" pitchFamily="34" charset="0"/>
                <a:cs typeface="Arial" pitchFamily="34" charset="-120"/>
              </a:rPr>
              <a:t>לכתוב </a:t>
            </a:r>
            <a:r>
              <a:rPr lang="en-US" sz="3600" b="1" dirty="0">
                <a:solidFill>
                  <a:srgbClr val="1A1814"/>
                </a:solidFill>
                <a:latin typeface="Arial" pitchFamily="34" charset="0"/>
                <a:cs typeface="Arial" pitchFamily="34" charset="-120"/>
              </a:rPr>
              <a:t>PR</a:t>
            </a:r>
            <a:r>
              <a:rPr lang="he-IL" sz="3600" b="1" dirty="0">
                <a:solidFill>
                  <a:srgbClr val="1A1814"/>
                </a:solidFill>
                <a:latin typeface="Arial" pitchFamily="34" charset="0"/>
                <a:cs typeface="Arial" pitchFamily="34" charset="-120"/>
              </a:rPr>
              <a:t> עם הגיון, לא רק אוסף של שינויים בקוד 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ה-diff עונה על 'מה'. ה-PR description צריך לענות על 'למה'.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309360" y="2468880"/>
            <a:ext cx="53949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4A3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492240" y="2606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B04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נאיבי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0" y="30175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0" y="33375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fix bug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83680" y="36576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0" y="39776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Body: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83680" y="42976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Updated cache.ts and api.ts.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83680" y="46177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Added new function.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3680" y="49377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Tests pass.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468880"/>
            <a:ext cx="5394960" cy="329184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640080" y="2606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מ-spec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30175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Title: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33101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cache: invalidate on user logout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360273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389534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Body: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4187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Why: stale data leaked to next session.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44805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Approach: clear on auth.signOut.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" y="477316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Risk: minimal - only affects logout.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506577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Tested: unit + manual logout flow.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שלוש רמות review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 פקודות, שלוש רמות עומק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PR מקבל לפחות אחת. PR קריטי - מקבל את שלושתן.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955280" y="2331720"/>
            <a:ext cx="356616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411712" y="2331720"/>
            <a:ext cx="109728" cy="35661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8229600" y="2606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/review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ביקורת רגילה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0" y="370332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מהיר. שגיאות לוגיות, edge cases, ניסוח. רץ בכל PR.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0" y="5349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30 שנ׳  ·  שטחי-בינוני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06240" y="2331720"/>
            <a:ext cx="356616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IL"/>
          </a:p>
        </p:txBody>
      </p:sp>
      <p:sp>
        <p:nvSpPr>
          <p:cNvPr id="12" name="Shape 10"/>
          <p:cNvSpPr/>
          <p:nvPr/>
        </p:nvSpPr>
        <p:spPr>
          <a:xfrm>
            <a:off x="7662672" y="2331720"/>
            <a:ext cx="109728" cy="35661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4480560" y="2606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/security-review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48056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ביקורת אבטחה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480560" y="370332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top 10. שאילתות SQL, XSS, secrets, CORS. רץ בכל PR שנוגע ב-auth/data.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480560" y="5349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1-2 דק׳  ·  ממוקד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331720"/>
            <a:ext cx="356616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3913632" y="2331720"/>
            <a:ext cx="109728" cy="35661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731520" y="2606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/ultrareview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73152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ביקורת רב-שכבתית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31520" y="370332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סוכנים מקבילים, כל אחד עם זווית אחרת. רץ לפני merge ל-main של פיצ׳ר גדול.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31520" y="5349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3-5 דק׳  ·  עמוק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לבדוק AI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לחפש בקוד </a:t>
            </a:r>
            <a:r>
              <a:rPr lang="en-US" sz="36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שכתב</a:t>
            </a: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AI 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ה-AI כותב קוד שעובד. הבעיה היא בדברים שהאדם לא היה כותב.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309360" y="2423160"/>
            <a:ext cx="53949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423160"/>
            <a:ext cx="91440" cy="10972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6537960" y="2560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Over-engineering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37960" y="297180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פתרונות גנריים לבעיה ספציפית. אבסטרקציות שאף אחד לא ביקש.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423160"/>
            <a:ext cx="53949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5760720" y="2423160"/>
            <a:ext cx="91440" cy="10972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685800" y="2560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Fake error handling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5800" y="297180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try/catch שתופס הכל ומחזיר null. או logging במקום fix.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309360" y="3657600"/>
            <a:ext cx="53949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Shape 12"/>
          <p:cNvSpPr/>
          <p:nvPr/>
        </p:nvSpPr>
        <p:spPr>
          <a:xfrm>
            <a:off x="11612880" y="3657600"/>
            <a:ext cx="91440" cy="10972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6537960" y="3794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 assumptions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537960" y="42062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הקוד מניח דבר שלא נאמר לו. בדוק שהוא לא 'המציא' API.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657600"/>
            <a:ext cx="53949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5760720" y="3657600"/>
            <a:ext cx="91440" cy="10972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685800" y="3794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Silent fallbacks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85800" y="42062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אם משהו נכשל - הקוד ממשיך כאילו לא קרה כלום. במקום לזעוק.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309360" y="4892040"/>
            <a:ext cx="53949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Shape 20"/>
          <p:cNvSpPr/>
          <p:nvPr/>
        </p:nvSpPr>
        <p:spPr>
          <a:xfrm>
            <a:off x="11612880" y="4892040"/>
            <a:ext cx="91440" cy="10972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6537960" y="5029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 שעוברים תמיד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537960" y="544068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 שלא בודקים כלום. mock מחזיר את התשובה ש-test מצפה לה.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4892040"/>
            <a:ext cx="53949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Shape 24"/>
          <p:cNvSpPr/>
          <p:nvPr/>
        </p:nvSpPr>
        <p:spPr>
          <a:xfrm>
            <a:off x="5760720" y="4892040"/>
            <a:ext cx="91440" cy="10972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685800" y="5029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Comments מיותרים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85800" y="544068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// Get user from database. כן, ראינו.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טקסי הצוות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משתנה ב-Daily, ב-pairing, ובידע המשותף.</a:t>
            </a:r>
            <a:endParaRPr lang="en-US" sz="2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04  ·  Daily החדש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- פחות 'מה עשיתי', יותר 'מה אני שוקל'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כשאתה מסיים 4 PRs ביום, אף אחד לא ירצה לשמוע מה הם. הצוות צריך לדעת איפה אתה תקוע.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309360" y="2468880"/>
            <a:ext cx="53949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583680" y="28346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עובר ל-async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583680" y="35661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מה סיימתי אתמול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83680" y="40233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מה ה-PRs הפתוחים שלי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0" y="44805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מה אני מתכנן היום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83680" y="49377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(הכל ב-Slack channel ייעודי)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468880"/>
            <a:ext cx="5394960" cy="329184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731520" y="28346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נשאר ב-Daily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31520" y="35661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איפה אני תקוע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520" y="40233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החלטות שצריך לקבל ביחד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31520" y="44805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Blockers שצריכים אדם אחר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31520" y="49377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דיון ארכיטקטוני קצר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04  ·  Pairing וידע משותף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שני אנשים עובדים על אותה בעיה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Pairing הופך לעבודה מקבילית עם נקודות סנכרון. CLAUDE.md הוא ה-source of truth.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309360" y="2468880"/>
            <a:ext cx="53949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468880"/>
            <a:ext cx="91440" cy="1508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6537960" y="26517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 על מסך אחד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537960" y="310896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כשהבעיה לא ברורה ושני אנשים צריכים לחשוב יחד. סוכן רץ, שניים סוקרים.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53949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5760720" y="2468880"/>
            <a:ext cx="91440" cy="1508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685800" y="26517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 על branches מקבילים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85800" y="310896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כשהבעיה התחלקה. כל אחד עובד על branch משלו, סנכרון כל שעה.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09360" y="4160520"/>
            <a:ext cx="53949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Shape 12"/>
          <p:cNvSpPr/>
          <p:nvPr/>
        </p:nvSpPr>
        <p:spPr>
          <a:xfrm>
            <a:off x="11612880" y="4160520"/>
            <a:ext cx="91440" cy="1508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6537960" y="43434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משותף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537960" y="480060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החלטה ארכיטקטונית, כל convention, כל path מסובך - נכנס שם. הסוכן של כולם קורא.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4160520"/>
            <a:ext cx="53949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5760720" y="4160520"/>
            <a:ext cx="91440" cy="1508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685800" y="43434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משותפים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85800" y="480060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/security-review, אותו /ui-build, אותו /code-review. בריפו ב-.claude/skills.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05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Stack </a:t>
            </a:r>
            <a:r>
              <a:rPr lang="en-US" sz="54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</a:t>
            </a: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כלים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רץ אצל הצוות מתחת למכסה.</a:t>
            </a:r>
            <a:endParaRPr lang="en-US" sz="2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05  ·  Claude Code Action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סוכן </a:t>
            </a:r>
            <a:r>
              <a:rPr lang="en-US" sz="36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שרץ</a:t>
            </a: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6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</a:t>
            </a: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CI </a:t>
            </a:r>
            <a:r>
              <a:rPr lang="en-US" sz="36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</a:t>
            </a: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כל PR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 + Anthropic API = סוכן שמסתכל על כל PR לפני שאדם רואה אותו.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11247120" cy="33832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731520" y="260604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.github/workflows/claude-review.yml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288036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Claude Review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315468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342900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pull_request: { types: [opened, synchronize] }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370332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jobs: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397764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review: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425196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runs-on: ubuntu-latest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452628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steps: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480060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anthropic/claude-code-action@v1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507492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with: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31520" y="534924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prompt: '/review --strict'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התוצאה: כל PR מקבל הערות אוטומטיות תוך דקה. האדם סוקר אחרי.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06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לאוטמט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Leverage מול Risk - והקווים שלא חוצים.</a:t>
            </a:r>
            <a:endParaRPr lang="en-US" sz="2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06  ·  מטריצה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Leverage  </a:t>
            </a:r>
            <a:r>
              <a:rPr lang="en-US" sz="32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גבוה</a:t>
            </a:r>
            <a:r>
              <a:rPr lang="en-US" sz="3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סיכון נמוך - קודם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הכל שווה אוטומציה. יש משבצת אחת שבה כדאי להתחיל.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286000" y="2468880"/>
            <a:ext cx="3840480" cy="1645920"/>
          </a:xfrm>
          <a:prstGeom prst="rect">
            <a:avLst/>
          </a:prstGeom>
          <a:solidFill>
            <a:srgbClr val="6E9A5E"/>
          </a:solidFill>
          <a:ln w="12700">
            <a:solidFill>
              <a:srgbClr val="6E9A5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2468880" y="26517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b="1" kern="0" spc="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התחל פה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468880" y="310896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 description אוטומטי</a:t>
            </a:r>
            <a:endParaRPr lang="en-US" sz="1200" dirty="0"/>
          </a:p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Changelog מ-commits</a:t>
            </a:r>
            <a:endParaRPr lang="en-US" sz="1200" dirty="0"/>
          </a:p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Daily summary מ-git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2468880"/>
            <a:ext cx="3840480" cy="1645920"/>
          </a:xfrm>
          <a:prstGeom prst="rect">
            <a:avLst/>
          </a:prstGeom>
          <a:solidFill>
            <a:srgbClr val="C97A3F"/>
          </a:solidFill>
          <a:ln w="12700">
            <a:solidFill>
              <a:srgbClr val="C97A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6400800" y="26517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b="1" kern="0" spc="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בזהירות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0" y="310896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Auto-merge של PRs ירוקים</a:t>
            </a:r>
            <a:endParaRPr lang="en-US" sz="1200" dirty="0"/>
          </a:p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Auto-fix מ-Sentry</a:t>
            </a:r>
            <a:endParaRPr lang="en-US" sz="1200" dirty="0"/>
          </a:p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Auto-triage לבאגים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286000" y="4206240"/>
            <a:ext cx="3840480" cy="1645920"/>
          </a:xfrm>
          <a:prstGeom prst="rect">
            <a:avLst/>
          </a:prstGeom>
          <a:solidFill>
            <a:srgbClr val="5C564D"/>
          </a:solidFill>
          <a:ln w="12700">
            <a:solidFill>
              <a:srgbClr val="5C564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2468880" y="43891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b="1" kern="0" spc="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דחוף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468880" y="484632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Lint בכל commit</a:t>
            </a:r>
            <a:endParaRPr lang="en-US" sz="1200" dirty="0"/>
          </a:p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ניקוי branches ישנים</a:t>
            </a:r>
            <a:endParaRPr lang="en-US" sz="1200" dirty="0"/>
          </a:p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עדכון docs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4206240"/>
            <a:ext cx="3840480" cy="1645920"/>
          </a:xfrm>
          <a:prstGeom prst="rect">
            <a:avLst/>
          </a:prstGeom>
          <a:solidFill>
            <a:srgbClr val="B04A3A"/>
          </a:solidFill>
          <a:ln w="12700">
            <a:solidFill>
              <a:srgbClr val="B04A3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6400800" y="43891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b="1" kern="0" spc="300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אל</a:t>
            </a:r>
            <a:r>
              <a:rPr lang="en-US" sz="1400" b="1" kern="0" spc="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400" b="1" kern="0" spc="300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תאטמט</a:t>
            </a:r>
            <a:r>
              <a:rPr lang="he-IL" sz="1400" b="1" kern="0" spc="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0" y="484632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Deploy ל-prod</a:t>
            </a:r>
            <a:endParaRPr lang="en-US" sz="1200" dirty="0"/>
          </a:p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מחיקת DB / migrations</a:t>
            </a:r>
            <a:endParaRPr lang="en-US" sz="1200" dirty="0"/>
          </a:p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החלטות אבטחה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Leverage גבוה  ·  Leverage נמוך →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06  ·  דוגמאות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ארבע אוטומציות שמשתלמות מיידית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אחת לוקחת חצי שעה לבנות ומחזירה שעות בשבוע.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309360" y="2423160"/>
            <a:ext cx="53949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423160"/>
            <a:ext cx="91440" cy="1508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10515600" y="25603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537960" y="26060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description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537960" y="30632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על gh pr create. הסוכן קורא את ה-diff, מנסח title + body מובנה. החיסכון: 10 דק׳ ל-PR.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423160"/>
            <a:ext cx="53949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5760720" y="2423160"/>
            <a:ext cx="91440" cy="1508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4663440" y="25603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85800" y="26060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 שבועי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85800" y="30632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יום שישי. לוקח את כל ה-merged PRs של השבוע, מסכם ל-CHANGELOG.md ול-Slack.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309360" y="4114800"/>
            <a:ext cx="53949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1612880" y="4114800"/>
            <a:ext cx="91440" cy="1508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10515600" y="42519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537960" y="42976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summary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537960" y="475488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בוקר 8:30. סוכן קורא git log של הצוות מאתמול, מפרסם ל-#standup. ה-Daily קצר יותר.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4114800"/>
            <a:ext cx="53949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5760720" y="4114800"/>
            <a:ext cx="91440" cy="1508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4663440" y="42519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85800" y="42976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Auto-triage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85800" y="475488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כשבאג נכנס ל-Sentry - סוכן מנסה לזהות commit אחראי, פותח issue, מתייג אדם.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06  ·  מה לא לאוטמט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ארבעה קווים שלא חוצים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אחד מהם נראה זול לאוטמט. כל אחד עלה למישהו פה ביוקר.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11247120" cy="7772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286000"/>
            <a:ext cx="91440" cy="777240"/>
          </a:xfrm>
          <a:prstGeom prst="rect">
            <a:avLst/>
          </a:prstGeom>
          <a:solidFill>
            <a:srgbClr val="B04A3A"/>
          </a:solidFill>
          <a:ln w="12700">
            <a:solidFill>
              <a:srgbClr val="B04A3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10698480" y="237744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B04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0" y="23774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החלטות ארכיטקטוניות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080" y="2651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סוכן יציע. אדם יחליט. אם לא — תוך חודש יש לכם מערכת שאף אחד לא מבין.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154680"/>
            <a:ext cx="11247120" cy="7772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11612880" y="3154680"/>
            <a:ext cx="91440" cy="777240"/>
          </a:xfrm>
          <a:prstGeom prst="rect">
            <a:avLst/>
          </a:prstGeom>
          <a:solidFill>
            <a:srgbClr val="B04A3A"/>
          </a:solidFill>
          <a:ln w="12700">
            <a:solidFill>
              <a:srgbClr val="B04A3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10698480" y="324612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B04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00800" y="32461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של פיצ׳ר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0080" y="3520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סוכן ירחיב. תמיד. אם אין אדם שאומר 'מספיק' - הפיצ׳ר יגדל פי שלוש.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023360"/>
            <a:ext cx="11247120" cy="7772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1612880" y="4023360"/>
            <a:ext cx="91440" cy="777240"/>
          </a:xfrm>
          <a:prstGeom prst="rect">
            <a:avLst/>
          </a:prstGeom>
          <a:solidFill>
            <a:srgbClr val="B04A3A"/>
          </a:solidFill>
          <a:ln w="12700">
            <a:solidFill>
              <a:srgbClr val="B04A3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10698480" y="411480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B04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400800" y="41148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ל-prod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40080" y="4389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אוטו-deploy עובד 99% מהזמן. ה-1% הזה מוריד אתכם. לפחות אדם אחד צריך ללחוץ אישור.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4892040"/>
            <a:ext cx="11247120" cy="7772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11612880" y="4892040"/>
            <a:ext cx="91440" cy="777240"/>
          </a:xfrm>
          <a:prstGeom prst="rect">
            <a:avLst/>
          </a:prstGeom>
          <a:solidFill>
            <a:srgbClr val="B04A3A"/>
          </a:solidFill>
          <a:ln w="12700">
            <a:solidFill>
              <a:srgbClr val="B04A3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10698480" y="498348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B04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6400800" y="49834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החלטות אבטחה ופרטיות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40080" y="52578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לעשות עם נתון, את מי לחשוף ל-API, איך לאחסן secret. תמיד אדם.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07  ·  Anti-patterns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שלושה דפוסים שמופיעים בכל צוות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אם זיהיתם אצלכם - לא נורא. רוב הצוותים עוברים את זה.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955280" y="2331720"/>
            <a:ext cx="356616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411712" y="2331720"/>
            <a:ext cx="109728" cy="3840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8183880" y="25603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"ה-AI עשה את זה"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33375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i="1" kern="0" spc="100" dirty="0">
                <a:solidFill>
                  <a:srgbClr val="B04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סימפטום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183880" y="365760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כשיש באג, אף אחד לא לוקח אחריות. "זה הסוכן כתב."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83880" y="4754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i="1" kern="0" spc="100" dirty="0">
                <a:solidFill>
                  <a:srgbClr val="6E9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תיקון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183880" y="507492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שעשה merge - חתום. כל commit מאדם, גם אם הקוד מהסוכן.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06240" y="2331720"/>
            <a:ext cx="356616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Shape 11"/>
          <p:cNvSpPr/>
          <p:nvPr/>
        </p:nvSpPr>
        <p:spPr>
          <a:xfrm>
            <a:off x="7662672" y="2331720"/>
            <a:ext cx="109728" cy="3840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4434840" y="25603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התנגשות סוכנים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434840" y="33375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i="1" kern="0" spc="100" dirty="0">
                <a:solidFill>
                  <a:srgbClr val="B04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סימפטום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34840" y="365760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 PRs שנוגעים באותו module, שניהם נכונים, ה-merge הופך לסיוט.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434840" y="4754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i="1" kern="0" spc="100" dirty="0">
                <a:solidFill>
                  <a:srgbClr val="6E9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תיקון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434840" y="507492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קצר על מה כל אחד נוגע. או: branch ownership ברור ב-CLAUDE.md.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2331720"/>
            <a:ext cx="356616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Shape 18"/>
          <p:cNvSpPr/>
          <p:nvPr/>
        </p:nvSpPr>
        <p:spPr>
          <a:xfrm>
            <a:off x="3913632" y="2331720"/>
            <a:ext cx="109728" cy="3840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685800" y="25603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fatigue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85800" y="33375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i="1" kern="0" spc="100" dirty="0">
                <a:solidFill>
                  <a:srgbClr val="B04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סימפטום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85800" y="365760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שלושים PRs בשבוע. אנשים מאשרים בלי לקרוא. הביקורת הופכת ל-rubber stamp.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5800" y="4754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i="1" kern="0" spc="100" dirty="0">
                <a:solidFill>
                  <a:srgbClr val="6E9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תיקון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85800" y="507492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 review ב-CI לוקח את ה-trivial. אדם רואה רק PRs שהסוכן סימן.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08  ·  סגירה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יום בחיי צוות בריא של ארבעה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 ביחד. איך זה נראה בפועל.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11247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10058400" y="23317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09:00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של 10 דק׳. לא 'מה עשיתי' - רק blockers.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880360"/>
            <a:ext cx="11247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10058400" y="28803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09:15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8803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מפתח פותח שניים-שלושה worktrees, מתחיל סוכנים על משימות מ-Linear.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11247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10058400" y="3429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11:30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ראשון נפתח. Claude Code Action סוקר תוך דקה. אדם סוקר תוך 5.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977640"/>
            <a:ext cx="11247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10058400" y="39776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12:30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9776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Auto-changelog רץ ברקע. Slack #deploys מתעדכן.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4526280"/>
            <a:ext cx="11247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Text 16"/>
          <p:cNvSpPr/>
          <p:nvPr/>
        </p:nvSpPr>
        <p:spPr>
          <a:xfrm>
            <a:off x="10058400" y="45262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14:00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45262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התנגשות branches. הצוות מסתנכרן ב-Slack של 5 דק׳, פותרים.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5074920"/>
            <a:ext cx="11247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10058400" y="50749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16:00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" y="50749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PRs נסגרו ביום. Auto-summary מסכם ל-#standup לקראת מחר.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הסוד: לא יותר עבודה. אותה עבודה - מחולקת אחרת.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81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E51992-EB8A-9E98-621C-09A09FECD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32954D9-C564-22A8-3070-7261F4562261}"/>
              </a:ext>
            </a:extLst>
          </p:cNvPr>
          <p:cNvSpPr/>
          <p:nvPr/>
        </p:nvSpPr>
        <p:spPr>
          <a:xfrm>
            <a:off x="-2286000" y="-914400"/>
            <a:ext cx="4572000" cy="45720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L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C57A4DD-A249-5D5B-6650-E3ED1D99A66C}"/>
              </a:ext>
            </a:extLst>
          </p:cNvPr>
          <p:cNvSpPr/>
          <p:nvPr/>
        </p:nvSpPr>
        <p:spPr>
          <a:xfrm>
            <a:off x="640080" y="4572000"/>
            <a:ext cx="1371600" cy="1371600"/>
          </a:xfrm>
          <a:prstGeom prst="ellipse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L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468BDBA-1E0D-4DDA-23DC-0C2524084361}"/>
              </a:ext>
            </a:extLst>
          </p:cNvPr>
          <p:cNvSpPr/>
          <p:nvPr/>
        </p:nvSpPr>
        <p:spPr>
          <a:xfrm>
            <a:off x="1371600" y="201168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400" b="1" i="0" u="none" strike="noStrike" kern="1200" cap="none" spc="0" normalizeH="0" baseline="0" noProof="0" dirty="0">
                <a:ln>
                  <a:noFill/>
                </a:ln>
                <a:solidFill>
                  <a:srgbClr val="F5F1EB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 Claude Code </a:t>
            </a:r>
            <a:endParaRPr kumimoji="0" lang="he-IL" sz="6400" b="1" i="0" u="none" strike="noStrike" kern="1200" cap="none" spc="0" normalizeH="0" baseline="0" noProof="0" dirty="0">
              <a:ln>
                <a:noFill/>
              </a:ln>
              <a:solidFill>
                <a:srgbClr val="F5F1EB"/>
              </a:solidFill>
              <a:effectLst/>
              <a:uLnTx/>
              <a:uFillTx/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e-IL" sz="6400" b="1" dirty="0">
              <a:solidFill>
                <a:srgbClr val="F5F1E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he-IL" sz="6400" b="1" i="0" u="none" strike="noStrike" kern="1200" cap="none" spc="0" normalizeH="0" baseline="0" noProof="0" dirty="0">
                <a:ln>
                  <a:noFill/>
                </a:ln>
                <a:solidFill>
                  <a:srgbClr val="F5F1EB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סיכום</a:t>
            </a:r>
            <a:endParaRPr kumimoji="0" lang="en-US" sz="6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9858289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 הקורס  ·  THE ARC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המסע: 3 מפגשים, רעיון אחד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10515600" y="1627632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Claude לאורך הדרך.  ה-harness השתנה. אתם השתניתם.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046720" y="2423160"/>
            <a:ext cx="36576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11594592" y="2423160"/>
            <a:ext cx="109728" cy="31089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8321040" y="260604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6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5600" dirty="0"/>
          </a:p>
        </p:txBody>
      </p:sp>
      <p:sp>
        <p:nvSpPr>
          <p:cNvPr id="9" name="Text 7"/>
          <p:cNvSpPr/>
          <p:nvPr/>
        </p:nvSpPr>
        <p:spPr>
          <a:xfrm>
            <a:off x="8321040" y="338328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3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FOUNDATIONS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321040" y="3685032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יסודות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8321040" y="4206240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ראשון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4526280"/>
            <a:ext cx="310896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8321040" y="46634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form-factor — לא משנה איפה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321040" y="49377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harness ≠ model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321040" y="521208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Skill = פרומפט מורחב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51960" y="2423160"/>
            <a:ext cx="36576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Shape 15"/>
          <p:cNvSpPr/>
          <p:nvPr/>
        </p:nvSpPr>
        <p:spPr>
          <a:xfrm>
            <a:off x="7799832" y="2423160"/>
            <a:ext cx="109728" cy="31089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Text 16"/>
          <p:cNvSpPr/>
          <p:nvPr/>
        </p:nvSpPr>
        <p:spPr>
          <a:xfrm>
            <a:off x="4526280" y="260604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6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5600" dirty="0"/>
          </a:p>
        </p:txBody>
      </p:sp>
      <p:sp>
        <p:nvSpPr>
          <p:cNvPr id="19" name="Text 17"/>
          <p:cNvSpPr/>
          <p:nvPr/>
        </p:nvSpPr>
        <p:spPr>
          <a:xfrm>
            <a:off x="4526280" y="338328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3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26280" y="3685032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בנייה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4526280" y="4206240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שני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26280" y="4526280"/>
            <a:ext cx="310896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4526280" y="46634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spec הוא ה-source of truth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26280" y="49377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plan לפני code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26280" y="521208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Sonnet ל-95% · Opus לקשים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2423160"/>
            <a:ext cx="36576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Shape 25"/>
          <p:cNvSpPr/>
          <p:nvPr/>
        </p:nvSpPr>
        <p:spPr>
          <a:xfrm>
            <a:off x="4005072" y="2423160"/>
            <a:ext cx="109728" cy="31089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731520" y="260604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6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5600" dirty="0"/>
          </a:p>
        </p:txBody>
      </p:sp>
      <p:sp>
        <p:nvSpPr>
          <p:cNvPr id="29" name="Text 27"/>
          <p:cNvSpPr/>
          <p:nvPr/>
        </p:nvSpPr>
        <p:spPr>
          <a:xfrm>
            <a:off x="731520" y="338328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3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TEAM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31520" y="3685032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צוות</a:t>
            </a:r>
            <a:endParaRPr lang="en-US" sz="3200" dirty="0"/>
          </a:p>
        </p:txBody>
      </p:sp>
      <p:sp>
        <p:nvSpPr>
          <p:cNvPr id="31" name="Text 29"/>
          <p:cNvSpPr/>
          <p:nvPr/>
        </p:nvSpPr>
        <p:spPr>
          <a:xfrm>
            <a:off x="731520" y="4206240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שלישי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31520" y="4526280"/>
            <a:ext cx="310896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3" name="Text 31"/>
          <p:cNvSpPr/>
          <p:nvPr/>
        </p:nvSpPr>
        <p:spPr>
          <a:xfrm>
            <a:off x="731520" y="46634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git × Claude מגביר את עצמו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31520" y="49377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 הוא איפה שאדם חוזר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31520" y="521208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שני סוכנים, ריפו אחד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57200" y="5806440"/>
            <a:ext cx="11247120" cy="50292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Shape 35"/>
          <p:cNvSpPr/>
          <p:nvPr/>
        </p:nvSpPr>
        <p:spPr>
          <a:xfrm>
            <a:off x="11612880" y="5806440"/>
            <a:ext cx="91440" cy="5029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8" name="Text 36"/>
          <p:cNvSpPr/>
          <p:nvPr/>
        </p:nvSpPr>
        <p:spPr>
          <a:xfrm>
            <a:off x="457200" y="58064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2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צוות</a:t>
            </a:r>
            <a:r>
              <a:rPr lang="en-US" sz="2200" b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←  </a:t>
            </a:r>
            <a:r>
              <a:rPr lang="en-US" sz="2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מוצר</a:t>
            </a:r>
            <a:r>
              <a:rPr lang="en-US" sz="2200" b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←  </a:t>
            </a:r>
            <a:r>
              <a:rPr lang="en-US" sz="2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סוכן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6217920" y="64922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 ·  קורס תל-חי  ·  טל גורביץ׳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1  ·  סיכום ממוקד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</a:t>
            </a:r>
            <a:r>
              <a:rPr lang="en-US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נשאר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Claude </a:t>
            </a:r>
            <a:r>
              <a:rPr lang="en-US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הHarness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e-IL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ההבדל.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10515600" y="1627632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השתמשו בכלי שנוח לכם — וזכרו ש-skill הוא רק פרומפט מורחב.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138160" y="2514600"/>
            <a:ext cx="3703320" cy="237744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8366760" y="2679192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366760" y="3044952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200" dirty="0">
                <a:solidFill>
                  <a:srgbClr val="C9C2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PICK YOUR FORM-FACTOR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366760" y="3383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השתמשו איפה שנוח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366760" y="38862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טרמינל, extension ב-VS Code, אפליקציית דסקטופ, web. כולם תקפים, כולם עובדים.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0579608" y="4434840"/>
            <a:ext cx="1078992" cy="274320"/>
          </a:xfrm>
          <a:prstGeom prst="rect">
            <a:avLst/>
          </a:prstGeom>
          <a:solidFill>
            <a:srgbClr val="26221C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10625328" y="4434840"/>
            <a:ext cx="987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9528048" y="4434840"/>
            <a:ext cx="978408" cy="274320"/>
          </a:xfrm>
          <a:prstGeom prst="rect">
            <a:avLst/>
          </a:prstGeom>
          <a:solidFill>
            <a:srgbClr val="26221C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9573768" y="4434840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Code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074152" y="4434840"/>
            <a:ext cx="1380744" cy="274320"/>
          </a:xfrm>
          <a:prstGeom prst="rect">
            <a:avLst/>
          </a:prstGeom>
          <a:solidFill>
            <a:srgbClr val="26221C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8119872" y="4434840"/>
            <a:ext cx="1289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Desktop App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424928" y="4434840"/>
            <a:ext cx="576072" cy="274320"/>
          </a:xfrm>
          <a:prstGeom prst="rect">
            <a:avLst/>
          </a:prstGeom>
          <a:solidFill>
            <a:srgbClr val="26221C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Text 16"/>
          <p:cNvSpPr/>
          <p:nvPr/>
        </p:nvSpPr>
        <p:spPr>
          <a:xfrm>
            <a:off x="7470648" y="443484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297680" y="2514600"/>
            <a:ext cx="370332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Shape 18"/>
          <p:cNvSpPr/>
          <p:nvPr/>
        </p:nvSpPr>
        <p:spPr>
          <a:xfrm>
            <a:off x="7909560" y="2514600"/>
            <a:ext cx="91440" cy="23774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4526280" y="2679192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26280" y="3044952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HARNESS ≠ MODEL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26280" y="3383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ה-Harness זה ההבדל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4526280" y="38862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משתנה: איך הסוכן ניגש לכלים, ל-Skills, לקבצים, ולפקודות. מה לא משתנה: ה-Claude שמאחורי הקלעים.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141464" y="4434840"/>
            <a:ext cx="676656" cy="274320"/>
          </a:xfrm>
          <a:prstGeom prst="rect">
            <a:avLst/>
          </a:prstGeom>
          <a:solidFill>
            <a:srgbClr val="F5F1EB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7187184" y="443484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כלים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190488" y="4434840"/>
            <a:ext cx="877824" cy="274320"/>
          </a:xfrm>
          <a:prstGeom prst="rect">
            <a:avLst/>
          </a:prstGeom>
          <a:solidFill>
            <a:srgbClr val="F5F1EB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6236208" y="44348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340096" y="4434840"/>
            <a:ext cx="777240" cy="274320"/>
          </a:xfrm>
          <a:prstGeom prst="rect">
            <a:avLst/>
          </a:prstGeom>
          <a:solidFill>
            <a:srgbClr val="F5F1EB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0" name="Text 28"/>
          <p:cNvSpPr/>
          <p:nvPr/>
        </p:nvSpPr>
        <p:spPr>
          <a:xfrm>
            <a:off x="5385816" y="443484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קבצים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389120" y="4434840"/>
            <a:ext cx="877824" cy="274320"/>
          </a:xfrm>
          <a:prstGeom prst="rect">
            <a:avLst/>
          </a:prstGeom>
          <a:solidFill>
            <a:srgbClr val="F5F1EB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2" name="Text 30"/>
          <p:cNvSpPr/>
          <p:nvPr/>
        </p:nvSpPr>
        <p:spPr>
          <a:xfrm>
            <a:off x="4434840" y="44348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פקודות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57200" y="2514600"/>
            <a:ext cx="370332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4" name="Shape 32"/>
          <p:cNvSpPr/>
          <p:nvPr/>
        </p:nvSpPr>
        <p:spPr>
          <a:xfrm>
            <a:off x="4069080" y="2514600"/>
            <a:ext cx="91440" cy="23774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Text 33"/>
          <p:cNvSpPr/>
          <p:nvPr/>
        </p:nvSpPr>
        <p:spPr>
          <a:xfrm>
            <a:off x="685800" y="2679192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685800" y="3044952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 WHEN NEEDED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85800" y="3383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= פרומפט מורחב</a:t>
            </a:r>
            <a:endParaRPr lang="en-US" sz="1900" dirty="0"/>
          </a:p>
        </p:txBody>
      </p:sp>
      <p:sp>
        <p:nvSpPr>
          <p:cNvPr id="38" name="Text 36"/>
          <p:cNvSpPr/>
          <p:nvPr/>
        </p:nvSpPr>
        <p:spPr>
          <a:xfrm>
            <a:off x="685800" y="38862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הוא לא קסם — הוא הוראות שכתב מישהו פעם אחת. הפעילו אותו רק כשהמשימה מצדיקה זאת.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2697480" y="4434840"/>
            <a:ext cx="1280160" cy="274320"/>
          </a:xfrm>
          <a:prstGeom prst="rect">
            <a:avLst/>
          </a:prstGeom>
          <a:solidFill>
            <a:srgbClr val="F5F1EB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0" name="Text 38"/>
          <p:cNvSpPr/>
          <p:nvPr/>
        </p:nvSpPr>
        <p:spPr>
          <a:xfrm>
            <a:off x="2743200" y="44348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לכל דבר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941832" y="4434840"/>
            <a:ext cx="1682496" cy="274320"/>
          </a:xfrm>
          <a:prstGeom prst="rect">
            <a:avLst/>
          </a:prstGeom>
          <a:solidFill>
            <a:srgbClr val="F5F1EB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2" name="Text 40"/>
          <p:cNvSpPr/>
          <p:nvPr/>
        </p:nvSpPr>
        <p:spPr>
          <a:xfrm>
            <a:off x="987552" y="4434840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כשחוזר על עצמו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-1014984" y="4434840"/>
            <a:ext cx="1883664" cy="274320"/>
          </a:xfrm>
          <a:prstGeom prst="rect">
            <a:avLst/>
          </a:prstGeom>
          <a:solidFill>
            <a:srgbClr val="F5F1EB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4" name="Text 42"/>
          <p:cNvSpPr/>
          <p:nvPr/>
        </p:nvSpPr>
        <p:spPr>
          <a:xfrm>
            <a:off x="-969264" y="4434840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כשצריך checklist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" y="5212080"/>
            <a:ext cx="11247120" cy="11430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6" name="Shape 44"/>
          <p:cNvSpPr/>
          <p:nvPr/>
        </p:nvSpPr>
        <p:spPr>
          <a:xfrm>
            <a:off x="11612880" y="5212080"/>
            <a:ext cx="91440" cy="11430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7" name="Text 45"/>
          <p:cNvSpPr/>
          <p:nvPr/>
        </p:nvSpPr>
        <p:spPr>
          <a:xfrm>
            <a:off x="7772400" y="5349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המשימה הראשונה  ›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640080" y="55961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לבנות את הפרומפט הראשון לפרויקט שלכם.</a:t>
            </a:r>
            <a:endParaRPr lang="en-US" sz="2000" dirty="0"/>
          </a:p>
        </p:txBody>
      </p:sp>
      <p:sp>
        <p:nvSpPr>
          <p:cNvPr id="49" name="Text 47"/>
          <p:cNvSpPr/>
          <p:nvPr/>
        </p:nvSpPr>
        <p:spPr>
          <a:xfrm>
            <a:off x="640080" y="598932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השתמשו ב-skill לחשיבה ולסיעור מוחות:  </a:t>
            </a:r>
            <a:r>
              <a:rPr lang="en-US" sz="13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superpowers:brainstorming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6217920" y="65379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 ·  קורס תל-חי  ·  טל גורביץ׳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2  ·  סיכום ממוקד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ה-spec מקדים את הקוד. ה-plan מקדים </a:t>
            </a:r>
            <a:r>
              <a:rPr lang="en-US" sz="32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</a:t>
            </a:r>
            <a:r>
              <a:rPr lang="en-US" sz="3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2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</a:t>
            </a:r>
            <a:r>
              <a:rPr lang="he-IL" sz="3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</a:t>
            </a:r>
            <a:r>
              <a:rPr lang="he-IL" sz="3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0515600" y="1627632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בניתם פיצ׳ר אחד מקצה לקצה.  שלוש החלטות שעשו את ההבדל.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138160" y="2514600"/>
            <a:ext cx="3703320" cy="237744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8366760" y="2679192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366760" y="3044952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200" dirty="0">
                <a:solidFill>
                  <a:srgbClr val="C9C2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 FIRST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366760" y="3383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 הוא ה-source of truth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366760" y="38862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הקוד עוקב אחרי ה-spec, לא הפוך. CLAUDE.md הוא איך הסוכן יודע את ה-spec.  spec ב-30 דקות חוסך 30 שעות.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0680192" y="4434840"/>
            <a:ext cx="978408" cy="274320"/>
          </a:xfrm>
          <a:prstGeom prst="rect">
            <a:avLst/>
          </a:prstGeom>
          <a:solidFill>
            <a:srgbClr val="26221C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10725912" y="4434840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spec.md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9427464" y="4434840"/>
            <a:ext cx="1179576" cy="274320"/>
          </a:xfrm>
          <a:prstGeom prst="rect">
            <a:avLst/>
          </a:prstGeom>
          <a:solidFill>
            <a:srgbClr val="26221C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9473184" y="4434840"/>
            <a:ext cx="1088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275320" y="4434840"/>
            <a:ext cx="1078992" cy="274320"/>
          </a:xfrm>
          <a:prstGeom prst="rect">
            <a:avLst/>
          </a:prstGeom>
          <a:solidFill>
            <a:srgbClr val="26221C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8321040" y="4434840"/>
            <a:ext cx="987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97680" y="2514600"/>
            <a:ext cx="370332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7909560" y="2514600"/>
            <a:ext cx="91440" cy="23774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4526280" y="2679192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4526280" y="3044952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 BEFORE CODE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26280" y="3383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לפני code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526280" y="38862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 הוא ה-checkpoint שלכם. מאשרים את התכנית, לא את ה-diff. תופסים אי-הבנות לפני שהן הופכות ל-500 שורות.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638544" y="4434840"/>
            <a:ext cx="1179576" cy="274320"/>
          </a:xfrm>
          <a:prstGeom prst="rect">
            <a:avLst/>
          </a:prstGeom>
          <a:solidFill>
            <a:srgbClr val="F5F1EB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Text 22"/>
          <p:cNvSpPr/>
          <p:nvPr/>
        </p:nvSpPr>
        <p:spPr>
          <a:xfrm>
            <a:off x="6684264" y="4434840"/>
            <a:ext cx="1088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285232" y="4434840"/>
            <a:ext cx="1280160" cy="274320"/>
          </a:xfrm>
          <a:prstGeom prst="rect">
            <a:avLst/>
          </a:prstGeom>
          <a:solidFill>
            <a:srgbClr val="F5F1EB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5330952" y="44348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checkpoint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233672" y="4434840"/>
            <a:ext cx="978408" cy="274320"/>
          </a:xfrm>
          <a:prstGeom prst="rect">
            <a:avLst/>
          </a:prstGeom>
          <a:solidFill>
            <a:srgbClr val="F5F1EB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4279392" y="4434840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" y="2514600"/>
            <a:ext cx="370332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0" name="Shape 28"/>
          <p:cNvSpPr/>
          <p:nvPr/>
        </p:nvSpPr>
        <p:spPr>
          <a:xfrm>
            <a:off x="4069080" y="2514600"/>
            <a:ext cx="91440" cy="23774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/>
          <p:nvPr/>
        </p:nvSpPr>
        <p:spPr>
          <a:xfrm>
            <a:off x="685800" y="2679192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685800" y="3044952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MODELS ARE LEVERS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5800" y="3383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 ל-95% · Opus לקשים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685800" y="38862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בוחרים מודל בכוונה, לא ב-default. Sonnet ליום-יום, Opus לדרישות עמוקות. /effort הוא lever נפרד, לא קישוט.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099816" y="4434840"/>
            <a:ext cx="877824" cy="274320"/>
          </a:xfrm>
          <a:prstGeom prst="rect">
            <a:avLst/>
          </a:prstGeom>
          <a:solidFill>
            <a:srgbClr val="F5F1EB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Text 34"/>
          <p:cNvSpPr/>
          <p:nvPr/>
        </p:nvSpPr>
        <p:spPr>
          <a:xfrm>
            <a:off x="3145536" y="44348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350008" y="4434840"/>
            <a:ext cx="676656" cy="274320"/>
          </a:xfrm>
          <a:prstGeom prst="rect">
            <a:avLst/>
          </a:prstGeom>
          <a:solidFill>
            <a:srgbClr val="F5F1EB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8" name="Text 36"/>
          <p:cNvSpPr/>
          <p:nvPr/>
        </p:nvSpPr>
        <p:spPr>
          <a:xfrm>
            <a:off x="2395728" y="443484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298448" y="4434840"/>
            <a:ext cx="978408" cy="274320"/>
          </a:xfrm>
          <a:prstGeom prst="rect">
            <a:avLst/>
          </a:prstGeom>
          <a:solidFill>
            <a:srgbClr val="F5F1EB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0" name="Text 38"/>
          <p:cNvSpPr/>
          <p:nvPr/>
        </p:nvSpPr>
        <p:spPr>
          <a:xfrm>
            <a:off x="1344168" y="4434840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/effort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57200" y="5212080"/>
            <a:ext cx="11247120" cy="11430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2" name="Shape 40"/>
          <p:cNvSpPr/>
          <p:nvPr/>
        </p:nvSpPr>
        <p:spPr>
          <a:xfrm>
            <a:off x="11612880" y="5212080"/>
            <a:ext cx="91440" cy="11430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Text 41"/>
          <p:cNvSpPr/>
          <p:nvPr/>
        </p:nvSpPr>
        <p:spPr>
          <a:xfrm>
            <a:off x="7772400" y="5349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השבוע  ›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40080" y="55961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לכתוב את ה-spec הראשון שלכם.  200 שורות. 30 דקות.</a:t>
            </a:r>
            <a:endParaRPr lang="en-US" sz="2000" dirty="0"/>
          </a:p>
        </p:txBody>
      </p:sp>
      <p:sp>
        <p:nvSpPr>
          <p:cNvPr id="45" name="Text 43"/>
          <p:cNvSpPr/>
          <p:nvPr/>
        </p:nvSpPr>
        <p:spPr>
          <a:xfrm>
            <a:off x="640080" y="598932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תנו ל-Claude לקרוא, להרחיב, ולבנות:  </a:t>
            </a:r>
            <a:r>
              <a:rPr lang="en-US" sz="13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/init &amp;&amp; /plan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217920" y="65379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 ·  קורס תל-חי  ·  טל גורביץ׳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3  ·  סיכום ממוקד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× Claude. PR × אדם. סוכן × סוכן.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515600" y="1627632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 מסקנות מהמפגש — הראשונה והשלישית סוגרות את הקורס.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138160" y="2514600"/>
            <a:ext cx="370332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11750040" y="2514600"/>
            <a:ext cx="91440" cy="23774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8366760" y="2679192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366760" y="3044952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CO-AMPLIFICATION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66760" y="3383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× Claude מגביר את עצמו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366760" y="38862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הופך את הסוכן לבטוח לשימוש נועז. הסוכן הופך את git ממועיל לקריטי. אחד בלי השני — חצי כוח.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0479024" y="4434840"/>
            <a:ext cx="1179576" cy="274320"/>
          </a:xfrm>
          <a:prstGeom prst="rect">
            <a:avLst/>
          </a:prstGeom>
          <a:solidFill>
            <a:srgbClr val="F5F1EB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10524744" y="4434840"/>
            <a:ext cx="1088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reset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326880" y="4434840"/>
            <a:ext cx="1078992" cy="274320"/>
          </a:xfrm>
          <a:prstGeom prst="rect">
            <a:avLst/>
          </a:prstGeom>
          <a:solidFill>
            <a:srgbClr val="F5F1EB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9372600" y="4434840"/>
            <a:ext cx="987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778240" y="4434840"/>
            <a:ext cx="475488" cy="274320"/>
          </a:xfrm>
          <a:prstGeom prst="rect">
            <a:avLst/>
          </a:prstGeom>
          <a:solidFill>
            <a:srgbClr val="F5F1EB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8823960" y="44348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297680" y="2514600"/>
            <a:ext cx="370332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Shape 17"/>
          <p:cNvSpPr/>
          <p:nvPr/>
        </p:nvSpPr>
        <p:spPr>
          <a:xfrm>
            <a:off x="7909560" y="2514600"/>
            <a:ext cx="91440" cy="23774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4526280" y="2679192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4526280" y="3044952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 = HUMAN LAYER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26280" y="3383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הוא איפה שאדם חוזר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526280" y="38862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מהיר. PR מאלץ ניסוח של 'למה'. ה-review מכריח שיפוט. ירוק / צהוב / אדום — קליברציה, לא אוטומציה.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638544" y="4434840"/>
            <a:ext cx="1179576" cy="274320"/>
          </a:xfrm>
          <a:prstGeom prst="rect">
            <a:avLst/>
          </a:prstGeom>
          <a:solidFill>
            <a:srgbClr val="F5F1EB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Text 23"/>
          <p:cNvSpPr/>
          <p:nvPr/>
        </p:nvSpPr>
        <p:spPr>
          <a:xfrm>
            <a:off x="6684264" y="4434840"/>
            <a:ext cx="1088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spec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586984" y="4434840"/>
            <a:ext cx="978408" cy="274320"/>
          </a:xfrm>
          <a:prstGeom prst="rect">
            <a:avLst/>
          </a:prstGeom>
          <a:solidFill>
            <a:srgbClr val="F5F1EB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5632704" y="4434840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133088" y="4434840"/>
            <a:ext cx="1380744" cy="274320"/>
          </a:xfrm>
          <a:prstGeom prst="rect">
            <a:avLst/>
          </a:prstGeom>
          <a:solidFill>
            <a:srgbClr val="F5F1EB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9" name="Text 27"/>
          <p:cNvSpPr/>
          <p:nvPr/>
        </p:nvSpPr>
        <p:spPr>
          <a:xfrm>
            <a:off x="4178808" y="4434840"/>
            <a:ext cx="1289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calibration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" y="2514600"/>
            <a:ext cx="3703320" cy="237744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/>
          <p:nvPr/>
        </p:nvSpPr>
        <p:spPr>
          <a:xfrm>
            <a:off x="685800" y="2679192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685800" y="3044952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200" dirty="0">
                <a:solidFill>
                  <a:srgbClr val="C9C2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HARNESS, MADE CONCRETE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5800" y="3383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 סוכנים, ריפו אחד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685800" y="38862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כותב את הקוד. Claude סוקר את ה-PR. אותו מודל, שני harnesses. זה הרגע שבו מפגש 1 וה-לקוח האחרון הופכים לאותו דבר.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596896" y="4434840"/>
            <a:ext cx="1380744" cy="274320"/>
          </a:xfrm>
          <a:prstGeom prst="rect">
            <a:avLst/>
          </a:prstGeom>
          <a:solidFill>
            <a:srgbClr val="26221C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Text 34"/>
          <p:cNvSpPr/>
          <p:nvPr/>
        </p:nvSpPr>
        <p:spPr>
          <a:xfrm>
            <a:off x="2642616" y="4434840"/>
            <a:ext cx="1289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41248" y="4434840"/>
            <a:ext cx="1682496" cy="274320"/>
          </a:xfrm>
          <a:prstGeom prst="rect">
            <a:avLst/>
          </a:prstGeom>
          <a:solidFill>
            <a:srgbClr val="26221C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8" name="Text 36"/>
          <p:cNvSpPr/>
          <p:nvPr/>
        </p:nvSpPr>
        <p:spPr>
          <a:xfrm>
            <a:off x="886968" y="4434840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Spec-Check Bot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-1014984" y="4434840"/>
            <a:ext cx="1783080" cy="274320"/>
          </a:xfrm>
          <a:prstGeom prst="rect">
            <a:avLst/>
          </a:prstGeom>
          <a:solidFill>
            <a:srgbClr val="26221C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0" name="Text 38"/>
          <p:cNvSpPr/>
          <p:nvPr/>
        </p:nvSpPr>
        <p:spPr>
          <a:xfrm>
            <a:off x="-969264" y="44348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≠ model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57200" y="5212080"/>
            <a:ext cx="11247120" cy="11430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2" name="Shape 40"/>
          <p:cNvSpPr/>
          <p:nvPr/>
        </p:nvSpPr>
        <p:spPr>
          <a:xfrm>
            <a:off x="11612880" y="5212080"/>
            <a:ext cx="91440" cy="11430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Text 41"/>
          <p:cNvSpPr/>
          <p:nvPr/>
        </p:nvSpPr>
        <p:spPr>
          <a:xfrm>
            <a:off x="7772400" y="5349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השבוע  ›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40080" y="55961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להתקין את ה-spec-check bot בריפו שלכם.  לפני סוף השבוע.</a:t>
            </a:r>
            <a:endParaRPr lang="en-US" sz="2000" dirty="0"/>
          </a:p>
        </p:txBody>
      </p:sp>
      <p:sp>
        <p:nvSpPr>
          <p:cNvPr id="45" name="Text 43"/>
          <p:cNvSpPr/>
          <p:nvPr/>
        </p:nvSpPr>
        <p:spPr>
          <a:xfrm>
            <a:off x="640080" y="598932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העתיקו את הקובץ שלנו, הוסיפו secret, פתחו PR ניסיון:  </a:t>
            </a:r>
            <a:r>
              <a:rPr lang="en-US" sz="13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.github/workflows/spec-check.yml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217920" y="65379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 ·  קורס תל-חי  ·  טל גורביץ׳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AB42FA-A9E5-88E0-BC19-A1CEB750CF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84841FC-FE65-1B73-4F39-36FAD0846242}"/>
              </a:ext>
            </a:extLst>
          </p:cNvPr>
          <p:cNvSpPr/>
          <p:nvPr/>
        </p:nvSpPr>
        <p:spPr>
          <a:xfrm>
            <a:off x="9144000" y="4572000"/>
            <a:ext cx="4572000" cy="4572000"/>
          </a:xfrm>
          <a:prstGeom prst="ellipse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9D653EE-D5B6-AD8D-7AEA-DC567D0AEAB5}"/>
              </a:ext>
            </a:extLst>
          </p:cNvPr>
          <p:cNvSpPr/>
          <p:nvPr/>
        </p:nvSpPr>
        <p:spPr>
          <a:xfrm>
            <a:off x="-1371600" y="-1371600"/>
            <a:ext cx="2743200" cy="2743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EABE9A8-5D99-29B5-03C9-E398568373A6}"/>
              </a:ext>
            </a:extLst>
          </p:cNvPr>
          <p:cNvSpPr/>
          <p:nvPr/>
        </p:nvSpPr>
        <p:spPr>
          <a:xfrm>
            <a:off x="457200" y="2560320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9600" b="1" dirty="0">
                <a:latin typeface="Arial" pitchFamily="34" charset="0"/>
                <a:cs typeface="Arial" pitchFamily="34" charset="-120"/>
              </a:rPr>
              <a:t>כמה בונוסים נחמדים</a:t>
            </a:r>
            <a:endParaRPr lang="en-US" sz="9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5FFF74C-5AE5-5895-80CF-F796EB67499F}"/>
              </a:ext>
            </a:extLst>
          </p:cNvPr>
          <p:cNvSpPr/>
          <p:nvPr/>
        </p:nvSpPr>
        <p:spPr>
          <a:xfrm>
            <a:off x="457200" y="2560320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defTabSz="914400" rtl="1" eaLnBrk="1" latinLnBrk="0" hangingPunct="1">
              <a:buNone/>
            </a:pPr>
            <a:endParaRPr lang="en-US" sz="96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1313CDC-CD74-B7CD-25AD-8B2212EA521A}"/>
              </a:ext>
            </a:extLst>
          </p:cNvPr>
          <p:cNvSpPr/>
          <p:nvPr/>
        </p:nvSpPr>
        <p:spPr>
          <a:xfrm>
            <a:off x="457200" y="502920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טל גורביץ׳  ·  tal.gurevich@gmail.com  ·  linkedin.com/in/</a:t>
            </a:r>
            <a:r>
              <a:rPr lang="en-US" sz="1400" dirty="0" err="1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talgurevich</a:t>
            </a:r>
            <a:r>
              <a:rPr lang="en-US" sz="14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F828504-84E5-0E13-7FCC-4762B672F9F0}"/>
              </a:ext>
            </a:extLst>
          </p:cNvPr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</a:t>
            </a:r>
            <a:endParaRPr lang="en-US" sz="9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80C4139-E627-08AA-4BDA-D4666E1B2D17}"/>
              </a:ext>
            </a:extLst>
          </p:cNvPr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184733497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BONUS  ·  REMOTION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 rot="5400000">
            <a:off x="0" y="0"/>
            <a:ext cx="457200" cy="457200"/>
          </a:xfrm>
          <a:prstGeom prst="rtTriangl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44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44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Remotion</a:t>
            </a:r>
            <a:r>
              <a:rPr lang="he-IL" sz="44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4400" b="1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וידאו</a:t>
            </a:r>
            <a:r>
              <a:rPr lang="en-US" sz="44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 ככל קוד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10515600" y="1920240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457200" y="205740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Claude — פלט חדש: MP4.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126480" y="2606040"/>
            <a:ext cx="5486400" cy="16916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11521440" y="2606040"/>
            <a:ext cx="91440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6400800" y="280720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 ·  מה זה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0" y="310896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Remotion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400800" y="36118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של React לוידאו תכנותי. קומפוננטה אחת = פריים אחד. שינוי = שורת קוד. הפלט: MP4.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606040"/>
            <a:ext cx="5486400" cy="16916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Shape 11"/>
          <p:cNvSpPr/>
          <p:nvPr/>
        </p:nvSpPr>
        <p:spPr>
          <a:xfrm>
            <a:off x="5897880" y="2606040"/>
            <a:ext cx="91440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777240" y="280720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NOW  ·  למה עכשיו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10896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בלי Premiere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77240" y="36118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פעם — Premiere, After Effects, חודש עבודה. עכשיו — npm install ופרומפט. המחסום פשוט נעלם.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26480" y="4434840"/>
            <a:ext cx="5486400" cy="16916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11521440" y="4434840"/>
            <a:ext cx="91440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6400800" y="463600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CLAUDE BIT  ·  מה Claude מוסיף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0" y="493776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→ MP4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400800" y="54406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כותב את ה-Remotion code מתיאור באנגלית. אתם אומרים 'video של 30 שניות על X'. מקבלים סרטון.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02920" y="4434840"/>
            <a:ext cx="5486400" cy="16916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Shape 21"/>
          <p:cNvSpPr/>
          <p:nvPr/>
        </p:nvSpPr>
        <p:spPr>
          <a:xfrm>
            <a:off x="5897880" y="4434840"/>
            <a:ext cx="91440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Text 22"/>
          <p:cNvSpPr/>
          <p:nvPr/>
        </p:nvSpPr>
        <p:spPr>
          <a:xfrm>
            <a:off x="777240" y="463600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YOU  ·  מה תוכלו לבנות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77240" y="493776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פלט ויזואלי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77240" y="54406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 לפרויקט. demo reel למוצר. content ל-LinkedIn. הסבר מונפש. אותו עץ קוד, פלטים אינסופיים.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57200" y="61264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הסרטון של 15 השניות שראיתם? נכתב בפרומפט אחד.  רנדר ב-15 שניות.  MP4 של 1.3MB.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217920" y="64922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Code בצוות  ·  קורס תל-חי  ·  remotion.dev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400" normalizeH="0" baseline="0" noProof="0" dirty="0">
                <a:ln>
                  <a:noFill/>
                </a:ln>
                <a:solidFill>
                  <a:srgbClr val="D97757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BONUS  ·  /REMOTE-CONTROL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02920" y="502920"/>
            <a:ext cx="457200" cy="45720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L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85800" y="685800"/>
            <a:ext cx="91440" cy="914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L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F5F1EB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 Remote Control </a:t>
            </a:r>
            <a:r>
              <a:rPr kumimoji="0" lang="en-US" sz="3600" b="1" i="0" u="none" strike="noStrike" kern="1200" cap="none" spc="0" normalizeH="0" baseline="0" noProof="0" dirty="0" err="1">
                <a:ln>
                  <a:noFill/>
                </a:ln>
                <a:solidFill>
                  <a:srgbClr val="F5F1EB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סשן</a:t>
            </a: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F5F1EB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 מקומי — גישה מכל מקום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0515600" y="1901952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L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57200" y="205740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1" u="none" strike="noStrike" kern="1200" cap="none" spc="0" normalizeH="0" baseline="0" noProof="0" dirty="0">
                <a:ln>
                  <a:noFill/>
                </a:ln>
                <a:solidFill>
                  <a:srgbClr val="C9C2B5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מתחילים משולחן העבודה.  ממשיכים מהטלפון.  Claude רץ אצלכם — אתם רק רואים אותו מכל מסך.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126480" y="2606040"/>
            <a:ext cx="5486400" cy="16916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L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1521440" y="2606040"/>
            <a:ext cx="91440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L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400800" y="280720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1" u="none" strike="noStrike" kern="0" cap="none" spc="200" normalizeH="0" baseline="0" noProof="0" dirty="0">
                <a:ln>
                  <a:noFill/>
                </a:ln>
                <a:solidFill>
                  <a:srgbClr val="D97757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WHAT  ·  מה זה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400800" y="310896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5F1EB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סשן מקומי, מכל מסך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400800" y="36118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9C2B5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ממשיכים סשן Claude Code מקומי מכל מכשיר. אותה תוכן, אותו state, נגיש דרך claude.ai/code או אפליקציית Claude.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02920" y="2606040"/>
            <a:ext cx="5486400" cy="16916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L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897880" y="2606040"/>
            <a:ext cx="91440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L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280720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1" u="none" strike="noStrike" kern="0" cap="none" spc="200" normalizeH="0" baseline="0" noProof="0" dirty="0">
                <a:ln>
                  <a:noFill/>
                </a:ln>
                <a:solidFill>
                  <a:srgbClr val="D97757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LOCAL FIRST  ·  מקומי תמיד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777240" y="310896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5F1EB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Claude לא עוזב את המחשב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77240" y="36118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9C2B5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כל ה-tools, ה-files, וה-config נשארים אצלכם. ה-web וה-mobile הם רק חלון פנימה — שום קוד לא עובר לענן.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126480" y="4434840"/>
            <a:ext cx="5486400" cy="16916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L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11521440" y="4434840"/>
            <a:ext cx="91440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L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400800" y="463600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1" u="none" strike="noStrike" kern="0" cap="none" spc="200" normalizeH="0" baseline="0" noProof="0" dirty="0">
                <a:ln>
                  <a:noFill/>
                </a:ln>
                <a:solidFill>
                  <a:srgbClr val="D97757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HOW  ·  איך מפעילים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400800" y="493776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5F1EB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פקודה אחת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400800" y="54406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9C2B5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מתוך סשן קיים: /remote-control.  מהשורה: claude --remote-control.  רוצים QR לטלפון? לחיצה על רווח.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02920" y="4434840"/>
            <a:ext cx="5486400" cy="16916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L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897880" y="4434840"/>
            <a:ext cx="91440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L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77240" y="463600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1" u="none" strike="noStrike" kern="0" cap="none" spc="200" normalizeH="0" baseline="0" noProof="0" dirty="0">
                <a:ln>
                  <a:noFill/>
                </a:ln>
                <a:solidFill>
                  <a:srgbClr val="D97757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SUB ONLY  ·  רק במנוי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777240" y="493776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5F1EB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API לא תומך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777240" y="54406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9C2B5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Pro, Max, Team, Enterprise — כן.  API keys — לא.  נדרש Claude Code v2.1.51+.  Research preview, on by default.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457200" y="61264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1" u="none" strike="noStrike" kern="1200" cap="none" spc="0" normalizeH="0" baseline="0" noProof="0" dirty="0">
                <a:ln>
                  <a:noFill/>
                </a:ln>
                <a:solidFill>
                  <a:srgbClr val="D9775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ה-API לא יכול לעשות את זה.  זה הצד הסמוי של הסבסידיה.  ועוד harness — לאותו Claude.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217920" y="64922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B9588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Claude Code בצוות  ·  קורס תל-חי  ·  docs.claude.com/.../remote-control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BONUS  ·  COWORK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0" y="-4572"/>
            <a:ext cx="640080" cy="45720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Shape 2"/>
          <p:cNvSpPr/>
          <p:nvPr/>
        </p:nvSpPr>
        <p:spPr>
          <a:xfrm>
            <a:off x="0" y="-4842"/>
            <a:ext cx="640080" cy="10972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0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Cowork: כשהסוכן </a:t>
            </a:r>
            <a:r>
              <a:rPr lang="en-US" sz="4000" b="1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יוצא</a:t>
            </a:r>
            <a:r>
              <a:rPr lang="en-US" sz="40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4000" b="1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מהterminal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10515600" y="1920240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457200" y="205740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אותה לולאת סוכן.  פלט/קלט אחר: מסמכים, גיליונות, דפדפן, אפליקציות.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126480" y="2606040"/>
            <a:ext cx="5486400" cy="16916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11521440" y="2606040"/>
            <a:ext cx="91440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6400800" y="280720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 ·  מה זה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0" y="310896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סוכן לעבודה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400800" y="36118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אפליקציית Desktop של Claude. גישה לקבצים מקומיים, פותח אפליקציות, מבצע משימות רב-שלביות עצמאית.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2606040"/>
            <a:ext cx="5486400" cy="16916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Shape 12"/>
          <p:cNvSpPr/>
          <p:nvPr/>
        </p:nvSpPr>
        <p:spPr>
          <a:xfrm>
            <a:off x="5897880" y="2606040"/>
            <a:ext cx="91440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777240" y="280720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vs CHAT  ·  לעומת chat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77240" y="310896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עושה, לא מסביר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77240" y="36118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מסביר איך לעשות. Cowork עושה: עורך קבצים, ממלא גיליון, מנווט בדפדפן. תוצאה גמורה — לא הוראות.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26480" y="4434840"/>
            <a:ext cx="5486400" cy="16916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Shape 17"/>
          <p:cNvSpPr/>
          <p:nvPr/>
        </p:nvSpPr>
        <p:spPr>
          <a:xfrm>
            <a:off x="11521440" y="4434840"/>
            <a:ext cx="91440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6400800" y="463600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vs CLAUDE CODE  ·  לעומת Code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0" y="493776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אותה ארכיטקטורה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400800" y="54406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harness אגנטי — בלי terminal. נבנה עבור knowledge work: מסמכים, מצגות, נתונים, עבודה תפעולית.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02920" y="4434840"/>
            <a:ext cx="5486400" cy="16916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Shape 22"/>
          <p:cNvSpPr/>
          <p:nvPr/>
        </p:nvSpPr>
        <p:spPr>
          <a:xfrm>
            <a:off x="5897880" y="4434840"/>
            <a:ext cx="91440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Text 23"/>
          <p:cNvSpPr/>
          <p:nvPr/>
        </p:nvSpPr>
        <p:spPr>
          <a:xfrm>
            <a:off x="777240" y="463600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REAL TASKS  ·  בפועל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7240" y="493776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מ-prompt לתוצר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77240" y="54406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 30 מיילים לפעולה. ניתוח תיקיית פרויקט. dashboard משלושה גיליונות. עבודה שלמה, לא step-by-step.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7200" y="61264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חזרה למפגש 1:  Claude נשאר Claude.  ה-harness הוא ההבדל.  Cowork = harness חדש לאותו Claude.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217920" y="64922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Code בצוות  ·  קורס תל-חי  ·  claude.com/product/cowork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400" normalizeH="0" baseline="0" noProof="0" dirty="0">
                <a:ln>
                  <a:noFill/>
                </a:ln>
                <a:solidFill>
                  <a:srgbClr val="D97757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PORTFOLIO  ·  LAST 30 DAYS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5F1EB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30 ימים.  15 פרויקטים.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0515600" y="1627632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L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64792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B85F44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אחד אני.  כפל-כפליים יוצא — עם Claude Code.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469898" y="213055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2" name="Text 390"/>
          <p:cNvSpPr/>
          <p:nvPr/>
        </p:nvSpPr>
        <p:spPr>
          <a:xfrm>
            <a:off x="8046720" y="370630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D97757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ofektech-app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3" name="Text 391"/>
          <p:cNvSpPr/>
          <p:nvPr/>
        </p:nvSpPr>
        <p:spPr>
          <a:xfrm>
            <a:off x="8046720" y="39531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9C2B5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פלטפורמת חניכה — bulk-tasks, admin views, mentor summaries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4" name="Text 392"/>
          <p:cNvSpPr/>
          <p:nvPr/>
        </p:nvSpPr>
        <p:spPr>
          <a:xfrm>
            <a:off x="4251960" y="370630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D97757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Tel-hai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5" name="Text 393"/>
          <p:cNvSpPr/>
          <p:nvPr/>
        </p:nvSpPr>
        <p:spPr>
          <a:xfrm>
            <a:off x="4251960" y="39531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9C2B5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קורס Claude Code — 3 דקים, handoff, Remotion recap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6" name="Text 394"/>
          <p:cNvSpPr/>
          <p:nvPr/>
        </p:nvSpPr>
        <p:spPr>
          <a:xfrm>
            <a:off x="457200" y="370630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D97757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claude101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7" name="Text 395"/>
          <p:cNvSpPr/>
          <p:nvPr/>
        </p:nvSpPr>
        <p:spPr>
          <a:xfrm>
            <a:off x="457200" y="39531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9C2B5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דק ציבורי לקורס — מפגש 1 ו-2 + bonus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8" name="Text 396"/>
          <p:cNvSpPr/>
          <p:nvPr/>
        </p:nvSpPr>
        <p:spPr>
          <a:xfrm>
            <a:off x="8046720" y="432809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D97757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fixslot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9" name="Text 397"/>
          <p:cNvSpPr/>
          <p:nvPr/>
        </p:nvSpPr>
        <p:spPr>
          <a:xfrm>
            <a:off x="8046720" y="45749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9C2B5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WhatsApp slot-booking — spec, skeleton, 3 issues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0" name="Text 398"/>
          <p:cNvSpPr/>
          <p:nvPr/>
        </p:nvSpPr>
        <p:spPr>
          <a:xfrm>
            <a:off x="4251960" y="432809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D97757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masa-cv-builder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1" name="Text 399"/>
          <p:cNvSpPr/>
          <p:nvPr/>
        </p:nvSpPr>
        <p:spPr>
          <a:xfrm>
            <a:off x="4251960" y="45749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9C2B5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v1: chat → tools → PDF inline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2" name="Text 400"/>
          <p:cNvSpPr/>
          <p:nvPr/>
        </p:nvSpPr>
        <p:spPr>
          <a:xfrm>
            <a:off x="457200" y="432809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D97757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CV-Skill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3" name="Text 401"/>
          <p:cNvSpPr/>
          <p:nvPr/>
        </p:nvSpPr>
        <p:spPr>
          <a:xfrm>
            <a:off x="457200" y="45749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9C2B5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v1.0.0 — Hebrew CV skill ל-Claude Code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4" name="Text 402"/>
          <p:cNvSpPr/>
          <p:nvPr/>
        </p:nvSpPr>
        <p:spPr>
          <a:xfrm>
            <a:off x="8046720" y="49498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D97757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catering-platform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5" name="Text 403"/>
          <p:cNvSpPr/>
          <p:nvPr/>
        </p:nvSpPr>
        <p:spPr>
          <a:xfrm>
            <a:off x="8046720" y="5196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9C2B5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Bread Station — refresh ויזואלי מלא ביום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6" name="Text 404"/>
          <p:cNvSpPr/>
          <p:nvPr/>
        </p:nvSpPr>
        <p:spPr>
          <a:xfrm>
            <a:off x="4251960" y="49498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D97757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stickers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7" name="Text 405"/>
          <p:cNvSpPr/>
          <p:nvPr/>
        </p:nvSpPr>
        <p:spPr>
          <a:xfrm>
            <a:off x="4251960" y="5196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9C2B5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Wallaura — PayPlus, bundling, מותג חדש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8" name="Text 406"/>
          <p:cNvSpPr/>
          <p:nvPr/>
        </p:nvSpPr>
        <p:spPr>
          <a:xfrm>
            <a:off x="457200" y="49498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D97757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errn.io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9" name="Text 407"/>
          <p:cNvSpPr/>
          <p:nvPr/>
        </p:nvSpPr>
        <p:spPr>
          <a:xfrm>
            <a:off x="457200" y="5196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9C2B5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4 portfolio חדשים + hero rotation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0" name="Text 408"/>
          <p:cNvSpPr/>
          <p:nvPr/>
        </p:nvSpPr>
        <p:spPr>
          <a:xfrm>
            <a:off x="8046720" y="55716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D97757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sivan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1" name="Text 409"/>
          <p:cNvSpPr/>
          <p:nvPr/>
        </p:nvSpPr>
        <p:spPr>
          <a:xfrm>
            <a:off x="8046720" y="581856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9C2B5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חוזרת אלי — landing + email signup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2" name="Text 410"/>
          <p:cNvSpPr/>
          <p:nvPr/>
        </p:nvSpPr>
        <p:spPr>
          <a:xfrm>
            <a:off x="4251960" y="55716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D97757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machsanai-ai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3" name="Text 411"/>
          <p:cNvSpPr/>
          <p:nvPr/>
        </p:nvSpPr>
        <p:spPr>
          <a:xfrm>
            <a:off x="4251960" y="581856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9C2B5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DINOv2 + fingerprints + valve/pump logic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4" name="Text 412"/>
          <p:cNvSpPr/>
          <p:nvPr/>
        </p:nvSpPr>
        <p:spPr>
          <a:xfrm>
            <a:off x="457200" y="55716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D97757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pivot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5" name="Text 413"/>
          <p:cNvSpPr/>
          <p:nvPr/>
        </p:nvSpPr>
        <p:spPr>
          <a:xfrm>
            <a:off x="457200" y="581856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9C2B5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אתר Pivott + לוגו ב-Remotion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6" name="Text 414"/>
          <p:cNvSpPr/>
          <p:nvPr/>
        </p:nvSpPr>
        <p:spPr>
          <a:xfrm>
            <a:off x="8046720" y="61934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D97757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ofektech-signatures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7" name="Text 415"/>
          <p:cNvSpPr/>
          <p:nvPr/>
        </p:nvSpPr>
        <p:spPr>
          <a:xfrm>
            <a:off x="8046720" y="639733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9C2B5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חתימה על 16 תעודות מחזור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8" name="Text 416"/>
          <p:cNvSpPr/>
          <p:nvPr/>
        </p:nvSpPr>
        <p:spPr>
          <a:xfrm>
            <a:off x="4251960" y="61934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D97757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yosef-butique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9" name="Text 417"/>
          <p:cNvSpPr/>
          <p:nvPr/>
        </p:nvSpPr>
        <p:spPr>
          <a:xfrm>
            <a:off x="4251960" y="639733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9C2B5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תיקון תמונת מוצר לפי color_id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0" name="Text 418"/>
          <p:cNvSpPr/>
          <p:nvPr/>
        </p:nvSpPr>
        <p:spPr>
          <a:xfrm>
            <a:off x="457200" y="61934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D97757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mvmnt-sign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1" name="Text 419"/>
          <p:cNvSpPr/>
          <p:nvPr/>
        </p:nvSpPr>
        <p:spPr>
          <a:xfrm>
            <a:off x="457200" y="639733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9C2B5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Slack כערוץ ראשי, WhatsApp off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24" name="Picture 423" descr="A screenshot of a calendar&#10;&#10;AI-generated content may be incorrect.">
            <a:extLst>
              <a:ext uri="{FF2B5EF4-FFF2-40B4-BE49-F238E27FC236}">
                <a16:creationId xmlns:a16="http://schemas.microsoft.com/office/drawing/2014/main" id="{6CC2FE73-05C6-4FE6-DE90-9FF14D68A4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002" y="1544320"/>
            <a:ext cx="7187229" cy="1894308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4572000"/>
            <a:ext cx="4572000" cy="4572000"/>
          </a:xfrm>
          <a:prstGeom prst="ellipse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Shape 1"/>
          <p:cNvSpPr/>
          <p:nvPr/>
        </p:nvSpPr>
        <p:spPr>
          <a:xfrm>
            <a:off x="-1371600" y="-1371600"/>
            <a:ext cx="2743200" cy="2743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457200" y="2560320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9600" b="1" dirty="0">
                <a:solidFill>
                  <a:srgbClr val="F5F1EB"/>
                </a:solidFill>
                <a:latin typeface="Arial" pitchFamily="34" charset="0"/>
                <a:cs typeface="Arial" pitchFamily="34" charset="-120"/>
              </a:rPr>
              <a:t>להתראות אבל שלום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defTabSz="914400" rtl="1" eaLnBrk="1" latinLnBrk="0" hangingPunct="1">
              <a:buNone/>
            </a:pP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457200" y="502920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טל גורביץ׳  ·  tal.gurevich@gmail.com  ·  linkedin.com/in/</a:t>
            </a:r>
            <a:r>
              <a:rPr lang="en-US" sz="1400" dirty="0" err="1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talgurevich</a:t>
            </a:r>
            <a:r>
              <a:rPr lang="en-US" sz="14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7735</TotalTime>
  <Words>5030</Words>
  <Application>Microsoft Macintosh PowerPoint</Application>
  <PresentationFormat>Widescreen</PresentationFormat>
  <Paragraphs>783</Paragraphs>
  <Slides>47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3" baseType="lpstr">
      <vt:lpstr>Aptos</vt:lpstr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 בצוות - Git, PRs, אוטומציה</dc:title>
  <dc:subject>PptxGenJS Presentation</dc:subject>
  <dc:creator>טל גורביץ׳</dc:creator>
  <cp:lastModifiedBy>טל גורביץ - מנהל אדמניסטרטיבי, Ofektech</cp:lastModifiedBy>
  <cp:revision>30</cp:revision>
  <dcterms:created xsi:type="dcterms:W3CDTF">2026-05-04T07:25:26Z</dcterms:created>
  <dcterms:modified xsi:type="dcterms:W3CDTF">2026-06-04T14:47:51Z</dcterms:modified>
</cp:coreProperties>
</file>