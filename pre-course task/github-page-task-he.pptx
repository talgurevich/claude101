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algurevich/claude101" TargetMode="External"/><Relationship Id="rId3" Type="http://schemas.openxmlformats.org/officeDocument/2006/relationships/hyperlink" Target="https://code.claude.com/docs/en/setup" TargetMode="External"/><Relationship Id="rId4" Type="http://schemas.openxmlformats.org/officeDocument/2006/relationships/hyperlink" Target="https://docs.github.com/en/pages" TargetMode="External"/><Relationship Id="rId5" Type="http://schemas.openxmlformats.org/officeDocument/2006/relationships/hyperlink" Target="https://docs.github.com/en/get-starte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286000" y="-914400"/>
            <a:ext cx="4572000" cy="457200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10607040" y="5029200"/>
            <a:ext cx="1097280" cy="3657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משימת הכנה  ·  לפני המפגש הראשון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72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64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עמוד GitHub אישי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26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ריפו אחד  ·  עמוד אחד  ·  חי באינטרנט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8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טל גורביץ׳ Tal Gurevich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המכללה האקדמית תל-חי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המשימה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צריך להגיש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עמוד אישי אחד, שאתם בונים עם Claude Code, שחי בכתובת ציבורית באינטרנט.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277295" cy="10515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5915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הכתובת שתגישו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2400" b="1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https://USERNAME.github.io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8276" y="3401568"/>
            <a:ext cx="3576218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1697919" y="3401568"/>
            <a:ext cx="36576" cy="2011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4308" y="3639312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4308" y="3621024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ריפו ציבורי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4308" y="4078224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בשם המדויק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4308" y="444398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USERNAME.github.io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4308" y="4846320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באותיות קטנות בלבד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3401568"/>
            <a:ext cx="3576218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847380" y="3401568"/>
            <a:ext cx="36576" cy="2011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63770" y="3639312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770" y="3621024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קובץ 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770" y="4078224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עמוד אחד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3770" y="444398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index.html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770" y="4846320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בלי תלויות חיצוניות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3576218" cy="2011680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996842" y="3401568"/>
            <a:ext cx="36576" cy="2011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" y="3639312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1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621024"/>
            <a:ext cx="302757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7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לפחות שני 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78224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מהטרמינל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4398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00" b="1">
                <a:solidFill>
                  <a:srgbClr val="B85F44"/>
                </a:solidFill>
                <a:latin typeface="Consolas"/>
                <a:cs typeface="Consolas"/>
                <a:ea typeface="Consolas"/>
              </a:rPr>
              <a:t>git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46320"/>
            <a:ext cx="3027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מהעורך של GitHub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המטרה האמיתית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העמוד הוא התירוץ. המטרה שתגיעו למפגש הראשון עם Claude Code מותקן ועם סבב git שלם מאחוריכם.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שלב  ·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הכנה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לפני שנוגעים ב-GitHub — לוודא ש-Claude Code מותקן ועובד.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11277295" cy="173736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68296"/>
            <a:ext cx="107286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בדיקה מהירה בטרמינל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claude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81528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claude doctor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6557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הראשונה מדפיסה מספר גרסה. השנייה נותנת אבחון מלא של ההתקנה.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409651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אם Claude Code עדיין לא מותקן — הדק המלא נמצא בתיקיית installation-instructions בריפו של הקורס.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466344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3600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צריך חשבון GitHub. אם אין לכם — נרשמים ב-github.com, חינם, לוקח שתי דקות.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523036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0293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זכרו את שם המשתמש שבחרתם ב-GitHub. הוא יקבע את שם הריפו ואת הכתובת של העמוד.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שימו לב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התוכנית החינמית של Claude.ai לא כוללת Claude Code. צריך מנוי Pro / Max, או חשבון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שלב  ·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יוצרים את הריפו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השם של הריפו הוא לא קישוט — הוא מה שגורם ל-GitHub להגיש את העמוד שלכם כאתר.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0447" y="2130551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ב-GitHub: New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50447" y="2697479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השם חייב להיות בדיוק שם המשתמש שלכם ואחריו github.io — הכול באותיות קטנות.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0447" y="326440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3697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מסמנים Public. בחשבון חינמי, ריפו פרטי לא יפורסם כאתר.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0447" y="3831336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03904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מסמנים Add a README file, ואז Create repository.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34840"/>
            <a:ext cx="11277295" cy="13716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4654296"/>
            <a:ext cx="107286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משכפלים למחשב ונכנסים לתיקייה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79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git clone https://github.com/USERNAME/USERNAME.github.io.git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67527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cd USERNAME.github.io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הטעות הכי נפוצה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שם ריפו שגוי או עם אות גדולה — הריפו ייווצר, אבל שום עמוד לא יעלה. תבדקו תו-תו.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שלב  ·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בונים עם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לא כותבים HTML ביד. מריצים claude בתוך התיקייה ונותנים לו לראיין אתכם.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914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22576"/>
            <a:ext cx="107286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מפעילים בתוך התיקייה של הריפו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11277295" cy="22860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374136"/>
            <a:ext cx="107286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פרומפט לפתיחה  ·  העתיקו והתאימו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בנה לי עמוד אישי בקובץ index.html יחיד.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לפני שאתה כותב — ראיין אותי: שאל חמש שאלות על מי אני, מה אני לומד,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25112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ומה בניתי. חכה לתשובות שלי, ורק אז כתוב את העמוד.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36007"/>
            <a:ext cx="107286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0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עברית, RTL, עיצוב נקי, בלי ספריות חיצוניות.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005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שימו לב מה הפרומפט הזה עושה: מגדיר פורמט, מבקש ראיון לפני כתיבה, ומציב אילוצים.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למה דווקא ככה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פרומפט שמבקש לשאול לפני שהוא כותב מייצר תוצאה אישית. פרומפט של שורה אחת מייצר תבנית גנרית.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שלב  ·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מעלים לאוויר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שלוש פקודות, ואז בדיקה אחת בדפדפן.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178308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322576"/>
            <a:ext cx="107286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0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שומרים ודוחפים ל-GitHub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git add 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35808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git commit -m "add personal page"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19856"/>
            <a:ext cx="107286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350" b="0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$ </a:t>
            </a:r>
            <a:r>
              <a:rPr sz="1350" b="0">
                <a:solidFill>
                  <a:srgbClr val="F5F1EB"/>
                </a:solidFill>
                <a:latin typeface="Consolas"/>
                <a:cs typeface="Consolas"/>
                <a:ea typeface="Consolas"/>
              </a:rPr>
              <a:t>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0447" y="414223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ב-GitHub: Settings ← Pages, ומוודאים ש-Source מוגדר לענף 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0447" y="4709160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81728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מחכים. פרסום של שינוי יכול לקחת עד עשר דקות — זה נורמלי.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0447" y="52760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00" b="1">
                <a:solidFill>
                  <a:srgbClr val="B85F44"/>
                </a:solidFill>
                <a:latin typeface="Georgia"/>
                <a:cs typeface="Georgia"/>
                <a:ea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48656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350" b="0">
                <a:solidFill>
                  <a:srgbClr val="1A1814"/>
                </a:solidFill>
                <a:latin typeface="Arial"/>
                <a:cs typeface="Arial"/>
                <a:ea typeface="Arial"/>
              </a:rPr>
              <a:t>פותחים את https://USERNAME.github.io בדפדפן. רואים את העמוד? סיימתם.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61888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697919" y="5961888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6044183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אם העמוד לא עולה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36207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רענון קשיח, או חלון גלישה בסתר. דפדפנים שומרים בזיכרון את שגיאת ה-404 מלפני שהאתר פורסם.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תוכן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40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חייב להיות בעמוד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7904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>
              <a:lnSpc>
                <a:spcPct val="125000"/>
              </a:lnSpc>
            </a:pPr>
            <a:r>
              <a:rPr sz="15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חמישה דברים. מעבר לזה — תעצבו ותוסיפו מה שבא לכם.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1697919" y="2103120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203703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מי אתם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79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שם, ומשפט אחד שאומר משהו אמיתי עליכם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52927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697919" y="2852927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953511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אתם לומדים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18687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שנה, מסלול, ומה מעניין אתכם בו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02735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697919" y="3602735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משהו שבניתם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פרויקט, תרגיל, צד — אפילו קטן. עם משפט הסבר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52544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697919" y="4352544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453128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מה אתם רוצים מהקורס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18304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משפט אחד. זה גם עוזר לי להתאים את המפגשים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02352"/>
            <a:ext cx="11277295" cy="658368"/>
          </a:xfrm>
          <a:prstGeom prst="rect">
            <a:avLst/>
          </a:prstGeom>
          <a:solidFill>
            <a:srgbClr val="FAF7F2"/>
          </a:solidFill>
          <a:ln w="12700">
            <a:solidFill>
              <a:srgbClr val="E0DA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697919" y="5102352"/>
            <a:ext cx="36576" cy="65836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5202936"/>
            <a:ext cx="10682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50" b="1">
                <a:solidFill>
                  <a:srgbClr val="1A1814"/>
                </a:solidFill>
                <a:latin typeface="Arial"/>
                <a:cs typeface="Arial"/>
                <a:ea typeface="Arial"/>
              </a:rPr>
              <a:t>דרך ליצור קשר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68112"/>
            <a:ext cx="106829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לינקדאין או מייל שנוח לכם שיהיה פומבי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43600"/>
            <a:ext cx="11277295" cy="566928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697919" y="5943600"/>
            <a:ext cx="36576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6025896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900" b="1" spc="300">
                <a:solidFill>
                  <a:srgbClr val="D97757"/>
                </a:solidFill>
                <a:latin typeface="Arial"/>
                <a:cs typeface="Arial"/>
                <a:ea typeface="Arial"/>
              </a:rPr>
              <a:t>פרטיות — קראו את זה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העמוד פומבי לחלוטין. בלי תעודת זהות, בלי טלפון, בלי כתובת מגורים. מה שעולה לשם, עולה לכולם.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00" b="1" spc="400">
                <a:solidFill>
                  <a:srgbClr val="D97757"/>
                </a:solidFill>
                <a:latin typeface="Arial"/>
                <a:cs typeface="Arial"/>
                <a:ea typeface="Arial"/>
              </a:rPr>
              <a:t>הגשה ומשאבים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4000" b="1">
                <a:solidFill>
                  <a:srgbClr val="F5F1EB"/>
                </a:solidFill>
                <a:latin typeface="Arial"/>
                <a:cs typeface="Arial"/>
                <a:ea typeface="Arial"/>
              </a:rPr>
              <a:t>איך מגישים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40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שולחים כתובת אחת. אם היא נפתחת בדפדפן — המשימה הוגשה.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11277295" cy="868680"/>
          </a:xfrm>
          <a:prstGeom prst="rect">
            <a:avLst/>
          </a:prstGeom>
          <a:solidFill>
            <a:srgbClr val="24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450592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2200" b="1">
                <a:solidFill>
                  <a:srgbClr val="D97757"/>
                </a:solidFill>
                <a:latin typeface="Consolas"/>
                <a:cs typeface="Consolas"/>
                <a:ea typeface="Consolas"/>
              </a:rPr>
              <a:t>https://USERNAME.github.io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16352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150" b="0">
                <a:solidFill>
                  <a:srgbClr val="C9C2B5"/>
                </a:solidFill>
                <a:latin typeface="Arial"/>
                <a:cs typeface="Arial"/>
                <a:ea typeface="Arial"/>
              </a:rPr>
              <a:t>שולחים במייל, עם שם מלא בגוף ההודעה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49620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התקנת Claude Code — הדק של הקורס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4755" y="3429000"/>
            <a:ext cx="60897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D97757"/>
                </a:solidFill>
                <a:latin typeface="Consolas"/>
                <a:hlinkClick r:id="rId2"/>
                <a:cs typeface="Consolas"/>
                <a:ea typeface="Consolas"/>
              </a:rPr>
              <a:t>github.com/talgurevich/claude101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76472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3959352"/>
            <a:ext cx="49620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התיעוד הרשמי של 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755" y="3959352"/>
            <a:ext cx="60897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D97757"/>
                </a:solidFill>
                <a:latin typeface="Consolas"/>
                <a:hlinkClick r:id="rId3"/>
                <a:cs typeface="Consolas"/>
                <a:ea typeface="Consolas"/>
              </a:rPr>
              <a:t>code.claude.com/docs/en/setup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06824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4489704"/>
            <a:ext cx="49620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GitHub Pages — המדריך הרשמי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4755" y="4489704"/>
            <a:ext cx="60897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D97757"/>
                </a:solidFill>
                <a:latin typeface="Consolas"/>
                <a:hlinkClick r:id="rId4"/>
                <a:cs typeface="Consolas"/>
                <a:ea typeface="Consolas"/>
              </a:rPr>
              <a:t>docs.github.com/en/pages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37176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5020056"/>
            <a:ext cx="49620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50" b="0">
                <a:solidFill>
                  <a:srgbClr val="F5F1EB"/>
                </a:solidFill>
                <a:latin typeface="Arial"/>
                <a:cs typeface="Arial"/>
                <a:ea typeface="Arial"/>
              </a:rPr>
              <a:t>ללמוד git מאפס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4755" y="5020056"/>
            <a:ext cx="60897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0" marL="0" indent="0"/>
            <a:r>
              <a:rPr sz="1250" b="0">
                <a:solidFill>
                  <a:srgbClr val="D97757"/>
                </a:solidFill>
                <a:latin typeface="Consolas"/>
                <a:hlinkClick r:id="rId5"/>
                <a:cs typeface="Consolas"/>
                <a:ea typeface="Consolas"/>
              </a:rPr>
              <a:t>docs.github.com/en/get-started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67528"/>
            <a:ext cx="11277295" cy="9144"/>
          </a:xfrm>
          <a:prstGeom prst="rect">
            <a:avLst/>
          </a:prstGeom>
          <a:solidFill>
            <a:srgbClr val="332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 marL="0" indent="0"/>
            <a:r>
              <a:rPr sz="1200" b="0">
                <a:solidFill>
                  <a:srgbClr val="5C564D"/>
                </a:solidFill>
                <a:latin typeface="Arial"/>
                <a:cs typeface="Arial"/>
                <a:ea typeface="Arial"/>
              </a:rPr>
              <a:t>נתקעתם? אל תאבדו על זה ערב. תכתבו לי, או תביאו את השגיאה למפגש — זה בדיוק מה שנעשה בכיתה.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