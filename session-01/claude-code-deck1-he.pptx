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63" r:id="rId1"/>
  </p:sldMasterIdLst>
  <p:notesMasterIdLst>
    <p:notesMasterId r:id="rId40"/>
  </p:notesMasterIdLst>
  <p:sldIdLst>
    <p:sldId id="256" r:id="rId2"/>
    <p:sldId id="289" r:id="rId3"/>
    <p:sldId id="288" r:id="rId4"/>
    <p:sldId id="290" r:id="rId5"/>
    <p:sldId id="257" r:id="rId6"/>
    <p:sldId id="296" r:id="rId7"/>
    <p:sldId id="258" r:id="rId8"/>
    <p:sldId id="259" r:id="rId9"/>
    <p:sldId id="260" r:id="rId10"/>
    <p:sldId id="286" r:id="rId11"/>
    <p:sldId id="287" r:id="rId12"/>
    <p:sldId id="291" r:id="rId13"/>
    <p:sldId id="293" r:id="rId14"/>
    <p:sldId id="292" r:id="rId15"/>
    <p:sldId id="261" r:id="rId16"/>
    <p:sldId id="262" r:id="rId17"/>
    <p:sldId id="263" r:id="rId18"/>
    <p:sldId id="295" r:id="rId19"/>
    <p:sldId id="264" r:id="rId20"/>
    <p:sldId id="265" r:id="rId21"/>
    <p:sldId id="273" r:id="rId29"/>
    <p:sldId id="275" r:id="rId30"/>
    <p:sldId id="274" r:id="rId31"/>
    <p:sldId id="276" r:id="rId32"/>
    <p:sldId id="277" r:id="rId33"/>
    <p:sldId id="278" r:id="rId34"/>
    <p:sldId id="279" r:id="rId35"/>
    <p:sldId id="272" r:id="rId28"/>
    <p:sldId id="266" r:id="rId22"/>
    <p:sldId id="267" r:id="rId23"/>
    <p:sldId id="268" r:id="rId24"/>
    <p:sldId id="284" r:id="rId25"/>
    <p:sldId id="285" r:id="rId26"/>
    <p:sldId id="271" r:id="rId27"/>
    <p:sldId id="280" r:id="rId36"/>
    <p:sldId id="281" r:id="rId37"/>
    <p:sldId id="282" r:id="rId38"/>
    <p:sldId id="283" r:id="rId39"/>
  </p:sldIdLst>
  <p:sldSz cx="12192000" cy="6858000"/>
  <p:notesSz cx="6858000" cy="12192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66"/>
    <p:restoredTop sz="94610"/>
  </p:normalViewPr>
  <p:slideViewPr>
    <p:cSldViewPr snapToGrid="0" snapToObjects="1">
      <p:cViewPr>
        <p:scale>
          <a:sx n="152" d="100"/>
          <a:sy n="152" d="100"/>
        </p:scale>
        <p:origin x="648" y="7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8801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DBEDC-90A1-9B41-0C51-64EDF9F735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21FA8B-6F34-D08D-046E-6E903DEAB1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1C3BD2-EB39-291A-DEBF-F73B184F5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F62AE0-6C92-FE9D-0A6B-E9F048640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ED77D6-74C1-1851-E480-1DB62720A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966030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D0880-C1A6-D29B-3DC6-1E7A42724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5C8AD0-0D3F-50EC-F690-76336EDB3E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D7C8A-D9C4-9353-864D-60B29A67E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3B6EA3-F076-1E5E-0456-C064B2789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725D24-79D6-2BB7-8CAB-DBE90D97F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6901245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1340F-6F64-F7C5-9B94-C3D35CE33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74C884-8D0E-F377-555B-FB97591C9D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179DEE-105C-66B5-F037-BF9E102DF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A5353-5DED-F416-3AFB-9768AA48E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B02E2D-28C0-4B26-17D2-0D21DD9ED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838700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FCDED-2150-B934-B52C-AC859184B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AB9D8F-C3EB-23CC-CB02-8AA0D8A3F9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221313-1F95-A195-8C83-9E0ED49710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E95136-C2CE-3F61-3921-1AAA43A4A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6F7B5A-C285-CEC6-9DE9-3AC8C0B0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4C46D6-BA2F-6FDE-B520-8747703DF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1004389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F803D-92B5-2AB6-D083-B6DD937D7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2E4535-388C-F56A-5A00-26E2AFE98E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3016B-9717-6712-418F-05180CF698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08BE39-99C2-AA33-1AD0-00E74F12B5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C24A14-E1FF-0EEC-D6A7-B675C8C40B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0C9AA2-97AE-E1F0-953D-AF84A3BA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30E73C-CA40-B3C7-2FF2-2FEB77264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E53F84-9311-F99B-5D95-33FE115AB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7131817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E1CD0-FAA0-192A-A045-499309BB3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C2044A-5E92-8499-9485-9FA8CF824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3A7B4B-BF9B-C081-3B14-69B421D4A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51F545-6D20-6603-C744-696CA18B9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569590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BB3E5D3-3764-F906-6C9E-EC6EC6CB6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67D418-0F1E-455E-186A-5665EE9BE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425D53-1096-3C64-3AD9-0F6565996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3879854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7752C-73B5-3BD3-41DE-FEFE592F6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565FA2-7842-2791-D3FE-7960E55D55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E72D9E-8EEE-AE53-2342-D2E307F343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1CE0B0-9C0A-075A-15C8-3F6780E1E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0C933B-7754-AA61-D61C-7C64ED14D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695EB3-AD53-DB05-9510-116DA4843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93643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8F473-919B-B71E-B817-937D8B44F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48A286-5782-994C-10BD-F58C9642BA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B71FA-E8DE-A5B1-D969-E9381980D4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A828C3-8037-E703-567C-B07D141E7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57AD9B-E1B2-E9AC-FA25-7613848E6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E74D3D-363D-29D2-3DD2-AD3637FAE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70387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E290B-0A8C-F553-DF61-DC9A370F5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C6768A-400E-EFF8-3D53-BD1148379B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E52344-6F82-5E68-831B-6EB66CFDF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EF1093-636F-D1CB-B1F6-939C65733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2CC33F-F063-BF94-1B9B-5CA78F857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408405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BCE9BB-C2D1-2421-3C46-4F4FC1879C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D1B3CE-9B3B-FB9A-7545-992F4C1289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E7DA0C-1D58-9ED0-CBB3-12C393439E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AF1D5-92FA-F6F4-AC7C-F7421000C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C147CD-6613-33C7-A9B2-82D03901B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481319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9005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AB6026-5410-A9BA-557A-24BA8A329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692064-E2C4-085D-E59B-B9FF18ADF2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AA5C48-A68D-4AC6-94C3-780E3E59CB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5/10/26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6CCDE0-5F91-0E14-5440-4E799B5F4F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7EB4D9-7C7B-319B-B92B-0710484ADA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8105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JP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914400"/>
            <a:ext cx="4572000" cy="45720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640080" y="4572000"/>
            <a:ext cx="1371600" cy="137160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114800" y="14630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8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371600" y="201168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371600" y="33832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יסודות, כלים, והנחיה.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0607040" y="5029200"/>
            <a:ext cx="1097280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4389120" y="5212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</a:t>
            </a:r>
            <a:endParaRPr lang="en-US" sz="1800" dirty="0"/>
          </a:p>
        </p:txBody>
      </p:sp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48308C4-4DEA-99CE-AB70-4F4610FE9C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616" y="2286000"/>
            <a:ext cx="4451832" cy="368815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7405" y="802013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נעים מאוד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-1748334" y="50297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6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</a:t>
            </a:r>
            <a:endParaRPr lang="en-US" sz="6000" dirty="0"/>
          </a:p>
        </p:txBody>
      </p:sp>
      <p:pic>
        <p:nvPicPr>
          <p:cNvPr id="7" name="Image 0" descr="logos/augur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52238" y="4840709"/>
            <a:ext cx="616804" cy="640080"/>
          </a:xfrm>
          <a:prstGeom prst="rect">
            <a:avLst/>
          </a:prstGeom>
        </p:spPr>
      </p:pic>
      <p:pic>
        <p:nvPicPr>
          <p:cNvPr id="12" name="Image 1" descr="logos/wework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858549" y="5006548"/>
            <a:ext cx="1251065" cy="308402"/>
          </a:xfrm>
          <a:prstGeom prst="rect">
            <a:avLst/>
          </a:prstGeom>
        </p:spPr>
      </p:pic>
      <p:pic>
        <p:nvPicPr>
          <p:cNvPr id="17" name="Image 2" descr="logos/conduit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858549" y="4089959"/>
            <a:ext cx="1341372" cy="250331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40080" y="31089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defTabSz="914400" rtl="0" eaLnBrk="1" latinLnBrk="0" hangingPunct="1">
              <a:buNone/>
            </a:pPr>
            <a:endParaRPr lang="en-US" sz="3200" dirty="0"/>
          </a:p>
        </p:txBody>
      </p:sp>
      <p:sp>
        <p:nvSpPr>
          <p:cNvPr id="27" name="Text 22"/>
          <p:cNvSpPr/>
          <p:nvPr/>
        </p:nvSpPr>
        <p:spPr>
          <a:xfrm>
            <a:off x="10515600" y="58750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i="1" kern="0" spc="3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היום</a:t>
            </a:r>
            <a:endParaRPr lang="en-US" sz="1200" b="1" dirty="0"/>
          </a:p>
        </p:txBody>
      </p:sp>
      <p:sp>
        <p:nvSpPr>
          <p:cNvPr id="29" name="Text 24"/>
          <p:cNvSpPr/>
          <p:nvPr/>
        </p:nvSpPr>
        <p:spPr>
          <a:xfrm>
            <a:off x="457200" y="598932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tal.gurevich@gmail.com  ·  linkedin.com/in/talgurevich  ·  errn.io</a:t>
            </a:r>
            <a:endParaRPr lang="en-US" sz="1200" dirty="0"/>
          </a:p>
        </p:txBody>
      </p:sp>
      <p:pic>
        <p:nvPicPr>
          <p:cNvPr id="1026" name="Picture 2" descr="OfekTech">
            <a:extLst>
              <a:ext uri="{FF2B5EF4-FFF2-40B4-BE49-F238E27FC236}">
                <a16:creationId xmlns:a16="http://schemas.microsoft.com/office/drawing/2014/main" id="{B89F0856-55BD-CADF-915D-BE54CAFF8F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0640" y="2252163"/>
            <a:ext cx="2335792" cy="615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 22">
            <a:extLst>
              <a:ext uri="{FF2B5EF4-FFF2-40B4-BE49-F238E27FC236}">
                <a16:creationId xmlns:a16="http://schemas.microsoft.com/office/drawing/2014/main" id="{05DC013C-3205-CAC0-03BE-D0DB8B25F28C}"/>
              </a:ext>
            </a:extLst>
          </p:cNvPr>
          <p:cNvSpPr/>
          <p:nvPr/>
        </p:nvSpPr>
        <p:spPr>
          <a:xfrm>
            <a:off x="10088628" y="4857750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מנהל מוצר</a:t>
            </a:r>
            <a:endParaRPr lang="en-US" sz="1200" dirty="0"/>
          </a:p>
        </p:txBody>
      </p:sp>
      <p:sp>
        <p:nvSpPr>
          <p:cNvPr id="31" name="Text 22">
            <a:extLst>
              <a:ext uri="{FF2B5EF4-FFF2-40B4-BE49-F238E27FC236}">
                <a16:creationId xmlns:a16="http://schemas.microsoft.com/office/drawing/2014/main" id="{CA126DDB-5F8C-4341-F9C3-7886B53F95E7}"/>
              </a:ext>
            </a:extLst>
          </p:cNvPr>
          <p:cNvSpPr/>
          <p:nvPr/>
        </p:nvSpPr>
        <p:spPr>
          <a:xfrm>
            <a:off x="10088628" y="3907142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מנהל עסקי</a:t>
            </a:r>
            <a:endParaRPr lang="en-US" sz="1200" dirty="0"/>
          </a:p>
        </p:txBody>
      </p:sp>
      <p:sp>
        <p:nvSpPr>
          <p:cNvPr id="32" name="Text 22">
            <a:extLst>
              <a:ext uri="{FF2B5EF4-FFF2-40B4-BE49-F238E27FC236}">
                <a16:creationId xmlns:a16="http://schemas.microsoft.com/office/drawing/2014/main" id="{BE49B59F-1A9A-06A0-44DF-BF8B45B3AF28}"/>
              </a:ext>
            </a:extLst>
          </p:cNvPr>
          <p:cNvSpPr/>
          <p:nvPr/>
        </p:nvSpPr>
        <p:spPr>
          <a:xfrm>
            <a:off x="10112433" y="2978356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יזם</a:t>
            </a:r>
            <a:endParaRPr lang="en-US" sz="1200" dirty="0"/>
          </a:p>
        </p:txBody>
      </p:sp>
      <p:pic>
        <p:nvPicPr>
          <p:cNvPr id="1030" name="Picture 6" descr="Matomy Media Group 2026 Company Profile: Stock Performance &amp; Earnings |  PitchBook">
            <a:extLst>
              <a:ext uri="{FF2B5EF4-FFF2-40B4-BE49-F238E27FC236}">
                <a16:creationId xmlns:a16="http://schemas.microsoft.com/office/drawing/2014/main" id="{96414BEA-4789-EFAC-98A6-A561D540F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1283" y="3663152"/>
            <a:ext cx="1132840" cy="1132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 22">
            <a:extLst>
              <a:ext uri="{FF2B5EF4-FFF2-40B4-BE49-F238E27FC236}">
                <a16:creationId xmlns:a16="http://schemas.microsoft.com/office/drawing/2014/main" id="{500E6E37-09A9-27F2-F7FA-408087BE73A7}"/>
              </a:ext>
            </a:extLst>
          </p:cNvPr>
          <p:cNvSpPr/>
          <p:nvPr/>
        </p:nvSpPr>
        <p:spPr>
          <a:xfrm>
            <a:off x="5531742" y="2978356"/>
            <a:ext cx="366817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הרבה לוגואים של כישלונות נפלאים</a:t>
            </a:r>
            <a:endParaRPr lang="en-US" sz="1200" dirty="0"/>
          </a:p>
        </p:txBody>
      </p:sp>
      <p:sp>
        <p:nvSpPr>
          <p:cNvPr id="34" name="Text 22">
            <a:extLst>
              <a:ext uri="{FF2B5EF4-FFF2-40B4-BE49-F238E27FC236}">
                <a16:creationId xmlns:a16="http://schemas.microsoft.com/office/drawing/2014/main" id="{2B181159-D4B5-D088-4D35-E10920BA8282}"/>
              </a:ext>
            </a:extLst>
          </p:cNvPr>
          <p:cNvSpPr/>
          <p:nvPr/>
        </p:nvSpPr>
        <p:spPr>
          <a:xfrm>
            <a:off x="10112433" y="2249858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מנהל תכנית</a:t>
            </a:r>
            <a:endParaRPr lang="en-US" sz="1200" dirty="0"/>
          </a:p>
        </p:txBody>
      </p:sp>
      <p:sp>
        <p:nvSpPr>
          <p:cNvPr id="35" name="Text 22">
            <a:extLst>
              <a:ext uri="{FF2B5EF4-FFF2-40B4-BE49-F238E27FC236}">
                <a16:creationId xmlns:a16="http://schemas.microsoft.com/office/drawing/2014/main" id="{008C7008-32EB-FA9C-448E-351BA1FA029A}"/>
              </a:ext>
            </a:extLst>
          </p:cNvPr>
          <p:cNvSpPr/>
          <p:nvPr/>
        </p:nvSpPr>
        <p:spPr>
          <a:xfrm>
            <a:off x="3010114" y="2163147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אבא</a:t>
            </a:r>
            <a:endParaRPr lang="en-US" sz="1200" dirty="0"/>
          </a:p>
        </p:txBody>
      </p:sp>
      <p:pic>
        <p:nvPicPr>
          <p:cNvPr id="37" name="Picture 36" descr="A child with long hair&#10;&#10;AI-generated content may be incorrect.">
            <a:extLst>
              <a:ext uri="{FF2B5EF4-FFF2-40B4-BE49-F238E27FC236}">
                <a16:creationId xmlns:a16="http://schemas.microsoft.com/office/drawing/2014/main" id="{E16C23B0-5DB0-1234-D346-8D412A361257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1186" t="26609" r="24213"/>
          <a:stretch>
            <a:fillRect/>
          </a:stretch>
        </p:blipFill>
        <p:spPr>
          <a:xfrm>
            <a:off x="1535663" y="2163147"/>
            <a:ext cx="714290" cy="640080"/>
          </a:xfrm>
          <a:prstGeom prst="rect">
            <a:avLst/>
          </a:prstGeom>
          <a:solidFill>
            <a:schemeClr val="tx1">
              <a:alpha val="61639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9" name="Text 22">
            <a:extLst>
              <a:ext uri="{FF2B5EF4-FFF2-40B4-BE49-F238E27FC236}">
                <a16:creationId xmlns:a16="http://schemas.microsoft.com/office/drawing/2014/main" id="{619B0D46-5105-EF56-E738-08963B22BC8B}"/>
              </a:ext>
            </a:extLst>
          </p:cNvPr>
          <p:cNvSpPr/>
          <p:nvPr/>
        </p:nvSpPr>
        <p:spPr>
          <a:xfrm>
            <a:off x="2947130" y="2978356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ספורט</a:t>
            </a:r>
            <a:endParaRPr lang="en-US" sz="1200" dirty="0"/>
          </a:p>
        </p:txBody>
      </p:sp>
      <p:pic>
        <p:nvPicPr>
          <p:cNvPr id="1032" name="Picture 8" descr="Ironman Logo, symbol, meaning, history, PNG, brand">
            <a:extLst>
              <a:ext uri="{FF2B5EF4-FFF2-40B4-BE49-F238E27FC236}">
                <a16:creationId xmlns:a16="http://schemas.microsoft.com/office/drawing/2014/main" id="{F22961B9-FC7D-6913-25C8-EC33ADD19C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92" y="2803227"/>
            <a:ext cx="1544318" cy="868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Text 22">
            <a:extLst>
              <a:ext uri="{FF2B5EF4-FFF2-40B4-BE49-F238E27FC236}">
                <a16:creationId xmlns:a16="http://schemas.microsoft.com/office/drawing/2014/main" id="{1DD60678-D838-7F15-5AA0-A13781C4782C}"/>
              </a:ext>
            </a:extLst>
          </p:cNvPr>
          <p:cNvSpPr/>
          <p:nvPr/>
        </p:nvSpPr>
        <p:spPr>
          <a:xfrm>
            <a:off x="2947130" y="3907142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צבא ומילואים</a:t>
            </a:r>
            <a:endParaRPr lang="en-US" sz="1200" dirty="0"/>
          </a:p>
        </p:txBody>
      </p:sp>
      <p:pic>
        <p:nvPicPr>
          <p:cNvPr id="48" name="Picture 47" descr="A metal bird with wings&#10;&#10;AI-generated content may be incorrect.">
            <a:extLst>
              <a:ext uri="{FF2B5EF4-FFF2-40B4-BE49-F238E27FC236}">
                <a16:creationId xmlns:a16="http://schemas.microsoft.com/office/drawing/2014/main" id="{BA75C48D-EF35-E443-018F-68807105F4D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0703" y="3542133"/>
            <a:ext cx="1039430" cy="1385907"/>
          </a:xfrm>
          <a:prstGeom prst="rect">
            <a:avLst/>
          </a:prstGeom>
        </p:spPr>
      </p:pic>
      <p:pic>
        <p:nvPicPr>
          <p:cNvPr id="50" name="Picture 49" descr="A close-up of a bar&#10;&#10;AI-generated content may be incorrect.">
            <a:extLst>
              <a:ext uri="{FF2B5EF4-FFF2-40B4-BE49-F238E27FC236}">
                <a16:creationId xmlns:a16="http://schemas.microsoft.com/office/drawing/2014/main" id="{83F4D905-EA22-5C8F-2385-0B2F2BA414A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96830" y="3864507"/>
            <a:ext cx="1097279" cy="1463039"/>
          </a:xfrm>
          <a:prstGeom prst="rect">
            <a:avLst/>
          </a:prstGeom>
        </p:spPr>
      </p:pic>
      <p:pic>
        <p:nvPicPr>
          <p:cNvPr id="52" name="Picture 51" descr="A silver emblem with wings&#10;&#10;AI-generated content may be incorrect.">
            <a:extLst>
              <a:ext uri="{FF2B5EF4-FFF2-40B4-BE49-F238E27FC236}">
                <a16:creationId xmlns:a16="http://schemas.microsoft.com/office/drawing/2014/main" id="{C3BA6DE2-67FB-08A4-635E-19B8688903F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64250" y="3525238"/>
            <a:ext cx="1009222" cy="1345630"/>
          </a:xfrm>
          <a:prstGeom prst="rect">
            <a:avLst/>
          </a:prstGeom>
        </p:spPr>
      </p:pic>
      <p:pic>
        <p:nvPicPr>
          <p:cNvPr id="54" name="Picture 53" descr="A paper with an ultrasound image&#10;&#10;AI-generated content may be incorrect.">
            <a:extLst>
              <a:ext uri="{FF2B5EF4-FFF2-40B4-BE49-F238E27FC236}">
                <a16:creationId xmlns:a16="http://schemas.microsoft.com/office/drawing/2014/main" id="{05EC7E0B-BE03-971B-C0FB-0E98169478AB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t="20954" r="11302" b="17660"/>
          <a:stretch>
            <a:fillRect/>
          </a:stretch>
        </p:blipFill>
        <p:spPr>
          <a:xfrm>
            <a:off x="579415" y="2209007"/>
            <a:ext cx="717415" cy="606579"/>
          </a:xfrm>
          <a:prstGeom prst="rect">
            <a:avLst/>
          </a:prstGeom>
        </p:spPr>
      </p:pic>
      <p:sp>
        <p:nvSpPr>
          <p:cNvPr id="55" name="Text 22">
            <a:extLst>
              <a:ext uri="{FF2B5EF4-FFF2-40B4-BE49-F238E27FC236}">
                <a16:creationId xmlns:a16="http://schemas.microsoft.com/office/drawing/2014/main" id="{AA39C725-D074-FC88-34AE-9796A71EBB91}"/>
              </a:ext>
            </a:extLst>
          </p:cNvPr>
          <p:cNvSpPr/>
          <p:nvPr/>
        </p:nvSpPr>
        <p:spPr>
          <a:xfrm>
            <a:off x="2878034" y="4857750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לימודים</a:t>
            </a:r>
            <a:endParaRPr lang="en-US" sz="1200" dirty="0"/>
          </a:p>
        </p:txBody>
      </p:sp>
      <p:pic>
        <p:nvPicPr>
          <p:cNvPr id="1034" name="Picture 10" descr="Logo downloads and usage guidelines | University of Cambridge">
            <a:extLst>
              <a:ext uri="{FF2B5EF4-FFF2-40B4-BE49-F238E27FC236}">
                <a16:creationId xmlns:a16="http://schemas.microsoft.com/office/drawing/2014/main" id="{C9437301-729D-5AE2-78C8-66895040D0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4606" y="4969891"/>
            <a:ext cx="575347" cy="575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ללמד את זה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Claude Code 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צריך לעניין </a:t>
            </a:r>
            <a:r>
              <a:rPr lang="he-IL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אתכם.ן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איום על המקצוע — שינוי במה שמייצר מהנדס מצוין.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97280" y="2331720"/>
            <a:ext cx="9692640" cy="3246120"/>
          </a:xfrm>
          <a:prstGeom prst="rect">
            <a:avLst/>
          </a:prstGeom>
          <a:solidFill>
            <a:srgbClr val="000000"/>
          </a:solidFill>
          <a:ln w="12700">
            <a:solidFill>
              <a:srgbClr val="2F333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0716768" y="2331720"/>
            <a:ext cx="73152" cy="32461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463040" y="2743200"/>
            <a:ext cx="640080" cy="64008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146304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194560" y="27432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7E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Boris Cherny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98682" y="2801647"/>
            <a:ext cx="201168" cy="201168"/>
          </a:xfrm>
          <a:prstGeom prst="ellipse">
            <a:avLst/>
          </a:prstGeom>
          <a:solidFill>
            <a:srgbClr val="1D9BF0"/>
          </a:solidFill>
          <a:ln w="12700">
            <a:solidFill>
              <a:srgbClr val="1D9BF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3588624" y="2825494"/>
            <a:ext cx="22128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3063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@bcherny  ·  אחד מבוני Claude Code ב-Anthropic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509760" y="2743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X.com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63040" y="3611880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E7E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has to prompt the Claudes, talk to customers, coordinate with other teams, decide what to build next. Engineering is changing and great engineers are more important than ever.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5074920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11:58 AM  ·  Feb 14, 2026  ·  801K Views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57150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בוריס הוא מהמהנדסים שבונים את Claude Code עצמו. כשמי שבונה את הכלי אומר שמהנדסים מצוינים חשובים יותר מתמיד — זאת לא נחמה. זאת מפת דרכים: פחות הקלדת קוד, יותר שיפוט, ארכיטקטורה, מוצר, ותקשורת. בדיוק מה שצריך ללמד היום.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הצעה  ·  טל גורביץ׳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מנטליות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8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לקלוד תבואו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6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6400" b="1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</a:t>
            </a:r>
            <a:r>
              <a:rPr lang="he-IL" sz="6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שוט</a:t>
            </a:r>
            <a:r>
              <a:rPr lang="en-US" sz="6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6400" b="1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ומפונק</a:t>
            </a:r>
            <a:endParaRPr lang="en-US" sz="6400" dirty="0"/>
          </a:p>
        </p:txBody>
      </p:sp>
      <p:sp>
        <p:nvSpPr>
          <p:cNvPr id="5" name="Shape 3"/>
          <p:cNvSpPr/>
          <p:nvPr/>
        </p:nvSpPr>
        <p:spPr>
          <a:xfrm>
            <a:off x="10515600" y="260604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המנטליות שמאפשרת לדרוש - ולקבל.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263640" y="3474720"/>
            <a:ext cx="54406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11612880" y="3474720"/>
            <a:ext cx="91440" cy="23774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6537960" y="37033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Ask anything. Even the dumb question.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37960" y="402336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מטומטמים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537960" y="466344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לשאול את הסוכן הכל - גם דברים שאתם 'אמורים לדעת'. אין שיפוט, אין אגו. הוא ידריך אתכם צעד-צעד מהסוף להתחלה, גם בנושא שמעולם לא נגעתם בו.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37960" y="5486400"/>
            <a:ext cx="4892040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F5F1E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6537960" y="54864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"איך מקימים Google login webclient?"  →  הדרכה שלמה, מההתחלה.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74720"/>
            <a:ext cx="54406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5806440" y="3474720"/>
            <a:ext cx="91440" cy="23774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731520" y="37033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Insist. He can do more than you think.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402336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מפונקים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731520" y="466344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אל תסתפקו ב-'הנה ה-SQL, תריץ אצלך'. תדרשו שהוא יבצע. עם מספיק התעקשות, הסוכן יחבר עצמו לכלים שלכם וירוץ דברים בעצמו - במקום להסביר ולעצור.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5486400"/>
            <a:ext cx="4892040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F5F1E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731520" y="54864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"לא, תריץ את זה דרך ה-DB CLI שלי"  →  הוא מריץ.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"מקצוענים מנומסים" מקבלים תוצאה בינונית.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סדר היום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נעשה היום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607040" y="18288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114800" y="18745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</a:t>
            </a:r>
            <a:r>
              <a:rPr lang="he-IL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4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ויסודות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דק׳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8600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התקנה, סשנים, הרשאות, CLAUDE.md, פקודות slash.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607040" y="288036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114800" y="2926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548640" y="301752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548640" y="30175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דק׳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מסגרת בת 10 רכיבים. דוגמה ויזואלית מ-Anthropic. תרגול עצמאי בקוד.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607040" y="39319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4114800" y="39776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48640" y="406908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548640" y="4069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דק׳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28600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מודולי מומחיות לשימוש חוזר. UI, code review, security audit.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607040" y="498348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4114800" y="50292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ושאלות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548640" y="512064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548640" y="5120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דק׳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86000" y="5486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קורה במפגש הבא, takeaways, Q&amp;A.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המשך הקורס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הלאה — והשאלות שלכם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מפגשים. בין כל מפגש — משימת יישום.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675120" y="2194560"/>
            <a:ext cx="47091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292840" y="2194560"/>
            <a:ext cx="91440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7080307" y="2331194"/>
            <a:ext cx="3819927" cy="480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7080307" y="2971515"/>
            <a:ext cx="3819927" cy="2061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מפגש  ·  Building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080307" y="3262890"/>
            <a:ext cx="3819927" cy="3091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בנייה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080307" y="3611595"/>
            <a:ext cx="3819927" cy="2061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מ-spec ועד deploy.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2194560"/>
            <a:ext cx="4754880" cy="169164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757214" y="2301251"/>
            <a:ext cx="3435012" cy="52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1757214" y="2955312"/>
            <a:ext cx="3435012" cy="2267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מפגש  ·  Team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757214" y="3241534"/>
            <a:ext cx="3435012" cy="3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צוות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757214" y="3595392"/>
            <a:ext cx="3435012" cy="2267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Git, PRs, אוטומציה.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90868" y="2834640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5939914" y="2788920"/>
            <a:ext cx="4978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773950" y="3291840"/>
            <a:ext cx="829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משימה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16199" y="2834640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216199" y="278892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9039" y="329184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משימה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160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ביקשתם — איפה זה ייכנס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7200" y="4663440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11612880" y="4663440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5943600" y="466344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דיוק · חיסכון בטוקנים · דפוסי עבודה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0" y="46634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46634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1 + משימת יישום על פרויקט שלכם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093208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9" name="Shape 27"/>
          <p:cNvSpPr/>
          <p:nvPr/>
        </p:nvSpPr>
        <p:spPr>
          <a:xfrm>
            <a:off x="11612880" y="5093208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Text 28"/>
          <p:cNvSpPr/>
          <p:nvPr/>
        </p:nvSpPr>
        <p:spPr>
          <a:xfrm>
            <a:off x="5943600" y="509320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codebase גדולים · מסדי נתונים · בניית מוצר אמיתי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86400" y="509320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0080" y="50932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2 — מ-spec ועד deploy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" y="5522976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4" name="Shape 32"/>
          <p:cNvSpPr/>
          <p:nvPr/>
        </p:nvSpPr>
        <p:spPr>
          <a:xfrm>
            <a:off x="11612880" y="5522976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5943600" y="552297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סוכנים מקבילים · בדיקות אוטומטיות · עבודה כצוות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486400" y="552297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40080" y="552297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3 — Git, PRs, אוטומציה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57200" y="5952744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Shape 37"/>
          <p:cNvSpPr/>
          <p:nvPr/>
        </p:nvSpPr>
        <p:spPr>
          <a:xfrm>
            <a:off x="11612880" y="5952744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0" name="Text 38"/>
          <p:cNvSpPr/>
          <p:nvPr/>
        </p:nvSpPr>
        <p:spPr>
          <a:xfrm>
            <a:off x="5943600" y="595274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השוואה ל-Copilot/Cursor · יתרונות הפלטפורמה · חיבור לתעשייה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486400" y="595274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40080" y="595274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רוחבי — בכל מפגש, לא בנפרד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4" name="Text 42"/>
          <p:cNvSpPr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שאלה שלא מצאתם פה? </a:t>
            </a:r>
            <a:r>
              <a:rPr lang="en-US" sz="12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שלחו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</a:t>
            </a:r>
            <a:r>
              <a:rPr lang="he-IL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ויסודות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התקנה ותפעול בסיסי.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מה זה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Claude Code?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 קידוד אגנטי שחי בטרמינל - קורא את הקוד, עורך קבצים, מריץ פקודות ומשחרר פיצ׳רים.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55280" y="2743200"/>
            <a:ext cx="3566160" cy="30175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411712" y="2743200"/>
            <a:ext cx="109728" cy="30175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22960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0" y="37490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לולאת סוכן. מתכנן, עורך, מריץ, בודק. אתה סוקר.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06240" y="2743200"/>
            <a:ext cx="35661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448056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/ Windsurf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480560" y="37490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צ׳אט ועריכות בתוך IDE. אתה עדיין מנהל.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35661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73152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31520" y="37490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אוטומטית בעורך. אתה מוביל כל שורה.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שלוש חוויות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זה נראה בפועל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רעיון - AI עוזר לקודד. שלושה form-factors </a:t>
            </a:r>
            <a:r>
              <a:rPr lang="en-US" sz="1500" i="1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שונים</a:t>
            </a: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i="1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לחלוטין</a:t>
            </a:r>
            <a:r>
              <a:rPr lang="he-IL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מה שנקרא - </a:t>
            </a: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046720" y="2377440"/>
            <a:ext cx="36576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8229600" y="2560320"/>
            <a:ext cx="3291840" cy="256032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8229600" y="2560320"/>
            <a:ext cx="3291840" cy="274320"/>
          </a:xfrm>
          <a:prstGeom prst="rect">
            <a:avLst/>
          </a:prstGeom>
          <a:solidFill>
            <a:srgbClr val="2D2D30"/>
          </a:solidFill>
          <a:ln w="12700">
            <a:solidFill>
              <a:srgbClr val="2D2D3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8339328" y="2651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8458200" y="2651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8577072" y="2651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321040" y="2971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calculateTotal(items) {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21040" y="32644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let total = 0;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21040" y="35570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(const item of items) {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21040" y="3886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+= item.price * item.qty;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321040" y="41788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321040" y="44714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total;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321040" y="47640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21040" y="507492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585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 to accept ↹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251960" y="2377440"/>
            <a:ext cx="36576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4434840" y="2560320"/>
            <a:ext cx="3291840" cy="256032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4434840" y="2560320"/>
            <a:ext cx="3291840" cy="274320"/>
          </a:xfrm>
          <a:prstGeom prst="rect">
            <a:avLst/>
          </a:prstGeom>
          <a:solidFill>
            <a:srgbClr val="2D2D30"/>
          </a:solidFill>
          <a:ln w="12700">
            <a:solidFill>
              <a:srgbClr val="2D2D3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4544568" y="2651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Shape 21"/>
          <p:cNvSpPr/>
          <p:nvPr/>
        </p:nvSpPr>
        <p:spPr>
          <a:xfrm>
            <a:off x="4663440" y="2651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4782312" y="2651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6126480" y="2834640"/>
            <a:ext cx="0" cy="2286000"/>
          </a:xfrm>
          <a:prstGeom prst="line">
            <a:avLst/>
          </a:prstGeom>
          <a:noFill/>
          <a:ln w="12700">
            <a:solidFill>
              <a:srgbClr val="3E3E4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4526280" y="29718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login(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526280" y="32461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user, pass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526280" y="352044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526280" y="37947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auth(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526280" y="406908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user,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526280" y="43434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pass);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26280" y="46177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217920" y="28803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63640" y="3154680"/>
            <a:ext cx="1463040" cy="502920"/>
          </a:xfrm>
          <a:prstGeom prst="rect">
            <a:avLst/>
          </a:prstGeom>
          <a:solidFill>
            <a:srgbClr val="37373D"/>
          </a:solidFill>
          <a:ln w="12700">
            <a:solidFill>
              <a:srgbClr val="37373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6309360" y="32004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input validation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263640" y="3749040"/>
            <a:ext cx="1463040" cy="914400"/>
          </a:xfrm>
          <a:prstGeom prst="rect">
            <a:avLst/>
          </a:prstGeom>
          <a:solidFill>
            <a:srgbClr val="2D2D30"/>
          </a:solidFill>
          <a:ln w="12700">
            <a:solidFill>
              <a:srgbClr val="2D2D3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6309360" y="37947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I'll add Zod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 to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login...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263640" y="4800600"/>
            <a:ext cx="1463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5A5A5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630936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8585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⌘K  ask anything...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57200" y="2377440"/>
            <a:ext cx="3657600" cy="292608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1" name="Shape 39"/>
          <p:cNvSpPr/>
          <p:nvPr/>
        </p:nvSpPr>
        <p:spPr>
          <a:xfrm>
            <a:off x="640080" y="2560320"/>
            <a:ext cx="3291840" cy="2560320"/>
          </a:xfrm>
          <a:prstGeom prst="rect">
            <a:avLst/>
          </a:prstGeom>
          <a:solidFill>
            <a:srgbClr val="0C0C0C"/>
          </a:solidFill>
          <a:ln w="12700">
            <a:solidFill>
              <a:srgbClr val="0C0C0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640080" y="2560320"/>
            <a:ext cx="3291840" cy="2743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Shape 41"/>
          <p:cNvSpPr/>
          <p:nvPr/>
        </p:nvSpPr>
        <p:spPr>
          <a:xfrm>
            <a:off x="749808" y="2651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4" name="Shape 42"/>
          <p:cNvSpPr/>
          <p:nvPr/>
        </p:nvSpPr>
        <p:spPr>
          <a:xfrm>
            <a:off x="868680" y="2651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5" name="Shape 43"/>
          <p:cNvSpPr/>
          <p:nvPr/>
        </p:nvSpPr>
        <p:spPr>
          <a:xfrm>
            <a:off x="987552" y="2651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6" name="Text 44"/>
          <p:cNvSpPr/>
          <p:nvPr/>
        </p:nvSpPr>
        <p:spPr>
          <a:xfrm>
            <a:off x="731520" y="2971800"/>
            <a:ext cx="137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68680" y="29718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31520" y="32918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add input validation to login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31520" y="36118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Reading login.ts...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31520" y="381304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Adding Zod schema...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31520" y="401421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Writing tests...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31520" y="421538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31520" y="441655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Updated login.ts (+12)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31520" y="46177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Added login.test.ts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04672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804672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אוטומטית בתוך העורך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25196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425196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צ׳אט בפאנל לצד הקוד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5720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45720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סוכן בטרמינל - מתכנן ומבצע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מושג מרכזי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Harness?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השכבה שבין המשתמש למודל - ולמה היא זאת שקובעת איך הסוכן מתנהג.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114800" y="2240280"/>
            <a:ext cx="39319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4114800" y="22402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  משתמש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80760" y="2743200"/>
            <a:ext cx="0" cy="22860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731520" y="3017520"/>
            <a:ext cx="10698480" cy="164592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kern="0" spc="4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HARNESS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31089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שכבת הריצה - מה בעצם רץ סביב המודל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1897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92811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2811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כלים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2811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קבצים, shell, MCP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1323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72237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2237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2237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נטען לפרומפט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749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51663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663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לולאה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1663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לעצור, להמשיך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175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31089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1089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הרשאות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1089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מותר לסוכן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01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10515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UX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515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חוויה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515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טרמינל / IDE / chat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080760" y="4663440"/>
            <a:ext cx="0" cy="22860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32" name="Shape 30"/>
          <p:cNvSpPr/>
          <p:nvPr/>
        </p:nvSpPr>
        <p:spPr>
          <a:xfrm>
            <a:off x="4114800" y="5029200"/>
            <a:ext cx="39319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4114800" y="50292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 מודל  ·  Claude Sonnet / Opus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kern="0" spc="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מוח. גוף אחר. תוצר אחר.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Harnesses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השוואה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מודל,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harnesses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הדגש לא על איכות. הדגש על התאמה לסוג העבודה - כל אחד חזק ב-form-factor אחר.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046720" y="2331720"/>
            <a:ext cx="3657600" cy="393192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832104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Anthropic-native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321040" y="2926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8321040" y="3566160"/>
            <a:ext cx="3108960" cy="0"/>
          </a:xfrm>
          <a:prstGeom prst="line">
            <a:avLst/>
          </a:prstGeom>
          <a:noFill/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8321040" y="37033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factor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321040" y="38862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טרמינל + IDE + Web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321040" y="42062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21040" y="4389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מערכת קבצים מלאה, shell, MCP, sub-agents, hooks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321040" y="4709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21040" y="4892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· Auto · Thinking · Fast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21040" y="5212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321040" y="5394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דקות עד שעות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57150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21040" y="5897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משימות שלמות, agentic, סגירת לולאות אוטונומיות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51960" y="2331720"/>
            <a:ext cx="36576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7818120" y="2331720"/>
            <a:ext cx="91440" cy="3931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452628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IDE-first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26280" y="2926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4526280" y="3566160"/>
            <a:ext cx="310896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4526280" y="37033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factor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26280" y="38862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 של VS Code · chat + composer + tab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26280" y="42062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26280" y="4389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תחומה ל-workspace · שילוב חיפוש + indexing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26280" y="4709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26280" y="4892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· Composer · Tab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26280" y="5212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Autonomy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26280" y="5394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שניות עד דקות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26280" y="57150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26280" y="5897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עריכה תוך-זרימה, תיקונים מקומיים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2331720"/>
            <a:ext cx="36576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Shape 33"/>
          <p:cNvSpPr/>
          <p:nvPr/>
        </p:nvSpPr>
        <p:spPr>
          <a:xfrm>
            <a:off x="4023360" y="2331720"/>
            <a:ext cx="91440" cy="3931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73152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GitHub-native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31520" y="2926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</a:t>
            </a:r>
            <a:endParaRPr lang="en-US" sz="2600" dirty="0"/>
          </a:p>
        </p:txBody>
      </p:sp>
      <p:sp>
        <p:nvSpPr>
          <p:cNvPr id="38" name="Shape 36"/>
          <p:cNvSpPr/>
          <p:nvPr/>
        </p:nvSpPr>
        <p:spPr>
          <a:xfrm>
            <a:off x="731520" y="3566160"/>
            <a:ext cx="310896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731520" y="37033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factor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31520" y="38862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 text · chat · Workspace · agent mode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31520" y="42062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31520" y="4389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משתנה לפי מוצר · חזק ב-PR/issue flows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31520" y="4709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31520" y="4892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· Chat · Agent · Workspace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31520" y="5212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31520" y="5394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מיידי עד דקות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31520" y="57150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31520" y="5897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אינליין, code review וטריאז׳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הכלל: לא בוחרים harness לפי איכות, אלא לפי form-factor שמתאים למשימה.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Harnesses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Token?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היחידה הבסיסית שהמודל קורא וחושב בה - לא מילה, משהו אחר.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64008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0080" y="21488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= יחידת קלט בסיסית. בערך 4 תווים באנגלית, או חצי-מילה. לא תמיד תואם למילה אחת.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046720" y="2926080"/>
            <a:ext cx="3657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11631168" y="2926080"/>
            <a:ext cx="73152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8229600" y="3017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 world"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0" y="3291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["hello"]  ["·world"]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474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tokens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51960" y="2926080"/>
            <a:ext cx="3657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7836408" y="2926080"/>
            <a:ext cx="73152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4434840" y="3017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"reconstruction"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34840" y="3291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["recon"]  ["struction"]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34840" y="3474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tokens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926080"/>
            <a:ext cx="3657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4041648" y="2926080"/>
            <a:ext cx="73152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640080" y="3017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"שלום עולם"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291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denser tokenization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3474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 tokens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7315200" y="39319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393192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בערך כמה Tokens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297680"/>
            <a:ext cx="112471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7315200" y="4297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מילה אנגלית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4297680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~1.3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15200" y="459028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מילה בעברית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4590288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~2.5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4882896"/>
            <a:ext cx="112471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7315200" y="488289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שורת קוד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" y="4882896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– 15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0" y="517550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 של 10 מילים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40080" y="5175504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– 25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5468112"/>
            <a:ext cx="112471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7315200" y="546811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תמונה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0080" y="5468112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~1,500 – 1,600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315200" y="57607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דקה של וידאו (1fps)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40080" y="5760720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~60K – 100K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57200" y="6053328"/>
            <a:ext cx="112471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1" name="Text 39"/>
          <p:cNvSpPr/>
          <p:nvPr/>
        </p:nvSpPr>
        <p:spPr>
          <a:xfrm>
            <a:off x="7315200" y="605332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דקה של אודיו (אחרי תמלול)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40080" y="6053328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~200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315200" y="634593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 של 300 עמודים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40080" y="6345936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~150K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6" name="Text 44"/>
          <p:cNvSpPr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Sonnet / Opus  ·  הקשר ברירת מחדל: 200K tokens  ·  עם הרחבה: 1M tokens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גבולות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גבולות Tokens ב-Claude Code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סוגי גבולות שונים - אחד לכל שיחה, אחד לכל חלון של 5 שעות.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172200" y="2194560"/>
            <a:ext cx="55321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194560"/>
            <a:ext cx="91440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6400800" y="23774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 Window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0" y="265176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גבול הקשר — לכל שיחה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0" y="32004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Tokens נכנסים לפרומפט אחד.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32520" y="3611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Haiku 4.5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3611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73252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Sonnet 4.6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3977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200K  ·  1M ext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732520" y="4343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Opus 4.7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0" y="4343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200K  ·  1M ext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800600"/>
            <a:ext cx="50749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6400800" y="48920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max בכל מודל: 64K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0" y="51663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נכנס: system prompt · CLAUDE.md · tools · skills · שיחה · קבצים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0" y="54406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כשמתמלא: auto-compact או /compact ידני · /clear מאפס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194560"/>
            <a:ext cx="5532120" cy="365760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685800" y="23774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5-Hour Rolling Window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5800" y="265176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גבול שימוש — כל 5 שעות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85800" y="32004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חלון מתגלגל - מתחיל בהודעה הראשונה, מתאפס אחרי 5 שעות.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017520" y="3611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5800" y="3611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~88K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01752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 5×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85800" y="3977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~176K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017520" y="4343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 20×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85800" y="4343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~440K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85800" y="4800600"/>
            <a:ext cx="50749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685800" y="48920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(הוכפל ב-6 במאי 2026 · המספרים משוערים)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85800" y="51663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משותף בין כל מוצרי Claude — claude.ai · Code · Desktop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85800" y="54406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 שורף ~1.7× מ-Sonnet · יש גם תקרה שבועית נפרדת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בדוק מצב אמיתי בכל רגע עם  /usage  ·  המספרים זזים — Anthropic מתאים את הקיבולת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גדלים של פרומפטים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Tokens 'שווה' פרומפט?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מהטריוויאלי לענק - איפה אתם נופלים, ואיפה הסוכן עובד הכי טוב.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194560"/>
            <a:ext cx="11247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194560"/>
            <a:ext cx="91440" cy="502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686800" y="2194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טריוויאלי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0" y="2194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100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194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"תרגם 'שלום' לאנגלית"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752344"/>
            <a:ext cx="11247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2752344"/>
            <a:ext cx="91440" cy="502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8686800" y="275234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קטן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943600" y="275234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 – 1K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275234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סקירה של פונקציה + הקשר קצר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310128"/>
            <a:ext cx="11247120" cy="50292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8686800" y="331012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בינוני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943600" y="331012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1K – 10K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331012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 של PR, רפקטור של קובץ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867912"/>
            <a:ext cx="11247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11612880" y="3867912"/>
            <a:ext cx="91440" cy="502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8686800" y="3867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גדול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943600" y="38679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10K – 100K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386791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"קרא את כל הריפו, הסבר ארכיטקטורה"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425696"/>
            <a:ext cx="11247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11612880" y="4425696"/>
            <a:ext cx="91440" cy="502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8686800" y="442569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ענק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943600" y="442569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100K – 1M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" y="442569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 שלם · repo + history + tools + skills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5212080"/>
            <a:ext cx="11247120" cy="64008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Text 28"/>
          <p:cNvSpPr/>
          <p:nvPr/>
        </p:nvSpPr>
        <p:spPr>
          <a:xfrm>
            <a:off x="640080" y="52120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בינוני (5K–10K) עובד יותר טוב מפרומפט מינימליסטי - הסוכן פחות 'ממציא' כשיש לו הקשר.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להשוואה  ·  Tweet ~50  ·  אימייל 200–500  ·  בלוג 1K–3K  ·  פרק ספר 5K–10K  ·  ספר קצר ~100K  ·  הארי פוטר ~1.6M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מתחילים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התקנה. הזדהות. הרצה.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846320" y="1828800"/>
            <a:ext cx="6858000" cy="18288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5120640" y="19659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(requires Node.js 18+)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120640" y="2286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-g @anthropic-ai/claude-code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0" y="2788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 in any project directory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3108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claude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איפה הוא רץ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7200" y="22402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טרמינל (עיקרי)  ●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56032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 extension  ●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28803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JetBrains plugin  ●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2004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claude.ai/code (web)  ●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5204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אפליקציית דסקטופ  ●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114800"/>
            <a:ext cx="11247120" cy="15544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594592" y="4114800"/>
            <a:ext cx="109728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777240" y="4251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הזדהות ראשונה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77240" y="4617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שתי אפשרויות: להיכנס עם מנוי Claude.ai Pro/Max (הנפוץ), או להשתמש ב-API key של Anthropic לשימוש לפי תשלום. ה-CLI מעביר אותך תהליך OAuth בהרצה ראשונה.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סשנים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ההקשר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הוא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לכל סשן יש חלון הקשר. נהל אותו בכוונה - או שלם בעלות ובאיכות.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9144000" y="26334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מנקה את ההקשר ופותח מחדש. בין משימות לא קשורות.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33756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9144000" y="3502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/compact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0080" y="3520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מסכם את השיחה עד כה. כשהחלון מתמלא באמצע משימה.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420624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9144000" y="43708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/cost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0080" y="4389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טוקנים ו-$ נצרכו בסשן הזה.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7492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9144000" y="52395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/resume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5257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להמשיך סשן קודם - Claude טוען מחדש את השיחה.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67975B77-CDA9-2B65-75E3-017D5FC26D74}"/>
              </a:ext>
            </a:extLst>
          </p:cNvPr>
          <p:cNvSpPr/>
          <p:nvPr/>
        </p:nvSpPr>
        <p:spPr>
          <a:xfrm>
            <a:off x="457200" y="662940"/>
            <a:ext cx="5317863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4">
            <a:extLst>
              <a:ext uri="{FF2B5EF4-FFF2-40B4-BE49-F238E27FC236}">
                <a16:creationId xmlns:a16="http://schemas.microsoft.com/office/drawing/2014/main" id="{E6D74E8F-D532-E3A5-5BC8-D6B47D0A5208}"/>
              </a:ext>
            </a:extLst>
          </p:cNvPr>
          <p:cNvSpPr/>
          <p:nvPr/>
        </p:nvSpPr>
        <p:spPr>
          <a:xfrm>
            <a:off x="3656045" y="822960"/>
            <a:ext cx="19914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/usage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הרשאות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מצבי הרשאה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אוטונומיה לתת ל-Claude? אתה בוחר, לכל סשן.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2860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686800" y="24505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שואל לפני כל עריכת קובץ ופקודה. הכי בטוח. למאגרים לא מוכרים.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11612880" y="32004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686800" y="33649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acceptEdits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3832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מאשר עריכות אוטומטית, עדיין שואל על פקודות shell. אמצע טוב.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1148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11612880" y="41148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8686800" y="42793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" y="42976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ללא עריכות - Claude מתכנן, אתה קורא ומאשר. לשינויים מורכבים.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50292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11612880" y="50292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8686800" y="51937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defTabSz="914400" rtl="0" eaLnBrk="1" latinLnBrk="0" hangingPunct="1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cs typeface="Consolas" pitchFamily="34" charset="-120"/>
              </a:rPr>
              <a:t>auto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400" dirty="0"/>
              <a:t>למידה של נקודות עצירה לפי </a:t>
            </a:r>
            <a:r>
              <a:rPr lang="he-IL" sz="1400" dirty="0" err="1"/>
              <a:t>היוזר</a:t>
            </a:r>
            <a:r>
              <a:rPr lang="he-IL" sz="1400" dirty="0"/>
              <a:t>, ממשיך עד לסיום ביצוע בדרך כלל. 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טיפ: Plan mode הוא חבר טוב לרפקטורים גדולים. עוברים בין מצבים עם Shift+Tab.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08258-5E7A-F4D8-A0F9-AD3577E94739}"/>
              </a:ext>
            </a:extLst>
          </p:cNvPr>
          <p:cNvSpPr txBox="1"/>
          <p:nvPr/>
        </p:nvSpPr>
        <p:spPr>
          <a:xfrm>
            <a:off x="6927742" y="860156"/>
            <a:ext cx="3324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GIT</a:t>
            </a:r>
          </a:p>
        </p:txBody>
      </p:sp>
    </p:spTree>
    <p:extLst>
      <p:ext uri="{BB962C8B-B14F-4D97-AF65-F5344CB8AC3E}">
        <p14:creationId xmlns:p14="http://schemas.microsoft.com/office/powerpoint/2010/main" val="33854407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זיכרון הפרויקט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קובץ markdown במאגר ש-Claude קורא בכל פתיחת סשן. ההוראות הקבועות של הפרויקט.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846320" y="2468880"/>
            <a:ext cx="6858000" cy="36576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5074920" y="2606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CLAUDE.md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74920" y="2926080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Stack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74920" y="3172968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15 (App Router), Prisma, Postgres,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74920" y="3419856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Tailwind, shadcn/ui, NextAuth.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74920" y="3666744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74920" y="391363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Conventions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74920" y="4160520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Server Actions over API routes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74920" y="4407408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Zod for all input validation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74920" y="4654296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Hebrew + English (RTL aware)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74920" y="4901184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74920" y="514807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Don't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74920" y="5394960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No global state libraries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74920" y="5641848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No CSS-in-JS - Tailwind only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" y="2468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נכנס פנימה?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74320" y="28803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וגרסאות  ●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4320" y="32461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מוסכמות שמות  ●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74320" y="36118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ארכיטקטורה  ●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74320" y="39776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דברים להימנע מהם  ●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74320" y="43434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מריצים בדיקות  ●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74320" y="47091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מאפיינים ייחודיים למאגר  ●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74320" y="539496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טיפ: בקש מ-Claude לכתוב לך CLAUDE.md בהרצה הראשונה.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פקודות SLASH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פקודות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slash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קיצורים מובנים - ושלך, כקבצי markdown ב-.claude/commands/.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0" y="2377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מובנות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0058400" y="2834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/help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0" y="2834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רשימת כל הפקודות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0" y="32918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3291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איפוס שיחה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0" y="37490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/compact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3749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הקשר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0" y="42062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/cost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הצגת שימוש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0" y="46634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/init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0" y="4663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יצירת CLAUDE.md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0" y="5120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/review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5120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סקירת קוד של ה-diff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2377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מותאמות (שלך)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5303520" cy="2743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685800" y="2971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.claude/commands/ship.md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338328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הרץ את כל הבדיקות, בדוק טיפוסים, צור PR עם הודעת commit נקייה שמתארת את השינויים מאז main.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5800" y="5029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עכשיו: /ship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פרדיגמת עבודה חדשה - לא רק פיצ׳ר.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מה זה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מודולי מומחיות לשימוש חוזר. תיקייה עם SKILL.md ש-Claude טוען כשרלוונטי.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56032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3291840" y="278892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32918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טעינה אוטומטית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מזהה מתי skill רלוונטי לפי התיאור וטוען אותו בעת הצורך.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06240" y="256032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7040880" y="278892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704088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8056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ניתן להרכבה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480560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להשתמש בכמה skills יחד. כל אחד עצמאי - להתקין רק מה שצריך.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955280" y="256032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0789920" y="278892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78992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2960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ניתן לשיתוף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29600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נמצא ב-.claude/skills/. Commit ל-git → הצוות מקבל אוטומטית.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8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אם אתה כותב את אותה הנחיה שוב ושוב בכמה פרויקטים - הגיע הזמן לכתוב skill.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SKILL לדוגמה  ·  UI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69806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6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shadcn</a:t>
            </a:r>
            <a:r>
              <a:rPr lang="en-US" sz="3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/ui  -  </a:t>
            </a:r>
            <a:r>
              <a:rPr lang="en-US" sz="36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</a:t>
            </a:r>
            <a:r>
              <a:rPr lang="en-US" sz="3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-skill הרשמי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נותן ל-Claude ידע מודע-לפרויקט על כל רכיבי shadcn. הוא קורא את components.json ומייצר קוד נכון מהפעם הראשונה.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420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in your project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npx shadcn@latest skill add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17920" y="3657600"/>
            <a:ext cx="5486400" cy="246888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5486400" cy="24688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4652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ה-skill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ה-skill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46520" y="41148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44074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&lt;Button variant=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46520" y="47000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"default" size="lg"&gt;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499262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Click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52852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&lt;/Button&gt;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41148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44074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&lt;button className=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47000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"px-4 py-2 bg-blue-600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99262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text-white rounded"&gt;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52852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Click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55778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&lt;/button&gt;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SKILL לדוגמה  ·  CODE REVIEW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code-review-skill  -  ה-skill המוביל לסקירת קוד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9,500+ שורות הנחיות סקירה ל-11 שפות ופריימוורקים. מפריד בין מה שצריך עין אנושית למה ש-tools צריכים לעשות.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420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(one-time, global)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clone https://github.com/awesome-skills/code-review-skill ~/.claude/skills/code-review-skill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3657600"/>
            <a:ext cx="5486400" cy="246888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5486400" cy="24688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4652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ה-skill בודק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לא צריך לבדוק ידנית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46520" y="4160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לוגיקה ו-edge cases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44714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חולשות אבטחה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46520" y="478231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השפעות ביצועים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50932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כיסוי ואיכות בדיקות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540410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error handling ו-API design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57150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התאמה ארכיטקטונית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4160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פורמט - Prettier / Black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44714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סדר imports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78231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חוקי linting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50932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typos פשוטים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540410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57150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כלים אוטומטיים, לא בני אדם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SKILL </a:t>
            </a:r>
            <a:r>
              <a:rPr lang="en-US" sz="1100" b="1" kern="0" spc="400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לדוגמה</a:t>
            </a: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SECURITY</a:t>
            </a:r>
            <a:endParaRPr lang="he-IL" sz="1100" b="1" kern="0" spc="400" dirty="0">
              <a:solidFill>
                <a:srgbClr val="D9775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audit-context-building  -  Trail of Bits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ה-skill המוביל לאודיט אבטחה. נכתב ע"י אחת מחברות הסקירה המובילות בעולם (לקוחות: Google, Ethereum Foundation). מצא CVEs אמיתיים ב-production.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420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(Claude Code plugin marketplace)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/plugin marketplace add trailofbits/skills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3657600"/>
            <a:ext cx="5486400" cy="24688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68580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שלבים - בדיוק בסדר הזה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20640" y="42062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85800" y="42062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Orientation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449884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מיפוי מודולים, entry points, actors. בלי הנחות.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120640" y="48006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85800" y="48006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analysis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50932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פונקציה-פונקציה. First Principles, 5 Whys.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20640" y="5394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85800" y="53949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Global understanding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568756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Invariants, trust boundaries, end-to-end flows.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3657600"/>
            <a:ext cx="5486400" cy="246888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644652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החוק המפתיע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46520" y="4160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ה-skill אסור לו למצוא באגים.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46520" y="45720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להציע fixes. לא להעריך severity. לא לכתוב PoC. רק להבין את המערכת לעומק.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46520" y="5257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מינימום לכל פונקציה: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46520" y="55321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invariants  ·  5+ הנחות מפורשות  ·  3+ סיכוני קלט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SKILL משלך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אנטומיה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skill 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תיקייה. שני קבצים. הרבה ערך.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240280"/>
            <a:ext cx="5486400" cy="36576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355080" y="23774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הקבצים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55080" y="28346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.claude/skills/code-review/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55080" y="32004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SKILL.md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55080" y="35661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checklist.md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55080" y="39319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examples/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55080" y="42976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good-review.md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55080" y="46634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bad-review.md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240280"/>
            <a:ext cx="54864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5852160" y="2240280"/>
            <a:ext cx="91440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40080" y="2377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ב-SKILL.md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023360" y="2880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2880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שם ה-skill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023360" y="3429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3429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להפעיל אותו (קריטי לטעינה אוטומטית)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023360" y="3977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3977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הוראות מפורטות + checklist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023360" y="4526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4526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 few-shot של פלט טוב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023360" y="5074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5074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הפלט הצפוי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טיפ: בקש מ-Claude לכתוב לך SKILL.md ראשון. תן לו תיאור של המשימה, הוא יבנה את המבנה.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11887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הפסקה</a:t>
            </a:r>
            <a:endParaRPr lang="en-US" sz="10000" dirty="0"/>
          </a:p>
        </p:txBody>
      </p:sp>
      <p:sp>
        <p:nvSpPr>
          <p:cNvPr id="4" name="Text 2"/>
          <p:cNvSpPr/>
          <p:nvPr/>
        </p:nvSpPr>
        <p:spPr>
          <a:xfrm>
            <a:off x="457200" y="420624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דקות  ·  חוזרים בתחילת השעה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מדברים עם המודל כדי שיעבוד בשבילכם.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הדוגמה הקנונית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פרומפט טוב באמת מאפשר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 של Anthropic - אותה תמונה, שני פרומפטים, שני עולמות.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240280"/>
            <a:ext cx="54864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35508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נאיבי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55080" y="267004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"Please analyze the images and tell me what happened"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486400" cy="329184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7"/>
          <p:cNvSpPr/>
          <p:nvPr/>
        </p:nvSpPr>
        <p:spPr>
          <a:xfrm>
            <a:off x="59436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מובנה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4360" y="267004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עסקי + תפקיד + פורמט מובנה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0"/>
          <p:cNvSpPr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נאיבי: "קרתה תאונה."   ·   מובנה: "רכב B אשם - ביצע פנייה ופגע ברכב חונה."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הדוגמה המקורית מ-Anthropic, לפני כשנה. המודלים השתפרו מאז - בהמשך נראה איך זה נראה היום.</a:t>
            </a:r>
            <a:endParaRPr lang="en-US" sz="1000" dirty="0"/>
          </a:p>
        </p:txBody>
      </p:sp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D23FEB4-E1AA-FDC5-0A85-E938B59EA7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7345" y="2927147"/>
            <a:ext cx="4467550" cy="2466745"/>
          </a:xfrm>
          <a:prstGeom prst="rect">
            <a:avLst/>
          </a:prstGeom>
        </p:spPr>
      </p:pic>
      <p:pic>
        <p:nvPicPr>
          <p:cNvPr id="19" name="Picture 1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339AFDB-D3D4-27E1-D52D-A676663B98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530" y="3018513"/>
            <a:ext cx="4209740" cy="237545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המסגרת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פרומפט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טען הקשר מוקדם  ·  בקש מאוחר  ·  הגדר פלט בסוף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1965960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515600" y="200253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0" y="200253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וזהות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45920" y="200253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context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395728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2395728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515600" y="243230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0" y="243230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טון ותקשורת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645920" y="243230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Tone context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825496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612880" y="2825496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515600" y="28620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29200" y="286207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רקע: נתונים, מסמכים, תמונות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645920" y="286207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 data, docs, images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255264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612880" y="3255264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0515600" y="32918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029200" y="329184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מפורט וחוקים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645920" y="329184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Detailed task description &amp; rules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685032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1612880" y="3685032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10515600" y="37216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029200" y="372160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645920" y="372160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Examples (few-shot)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114800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B5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31" name="Shape 29"/>
          <p:cNvSpPr/>
          <p:nvPr/>
        </p:nvSpPr>
        <p:spPr>
          <a:xfrm>
            <a:off x="11612880" y="4114800"/>
            <a:ext cx="91440" cy="384048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10515600" y="415137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5C56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029200" y="415137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היסטוריית שיחה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645920" y="415137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 history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94360" y="415137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אופציונלי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57200" y="4544568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Shape 35"/>
          <p:cNvSpPr/>
          <p:nvPr/>
        </p:nvSpPr>
        <p:spPr>
          <a:xfrm>
            <a:off x="11612880" y="4544568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8" name="Text 36"/>
          <p:cNvSpPr/>
          <p:nvPr/>
        </p:nvSpPr>
        <p:spPr>
          <a:xfrm>
            <a:off x="10515600" y="45811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5029200" y="458114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המשימה המיידית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645920" y="458114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Immediate task / request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4974336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B5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11612880" y="4974336"/>
            <a:ext cx="91440" cy="384048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10515600" y="501091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5C56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5029200" y="501091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חשיבה צעד-אחר-צעד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1645920" y="501091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 step by step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94360" y="501091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אופציונלי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5404104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Shape 46"/>
          <p:cNvSpPr/>
          <p:nvPr/>
        </p:nvSpPr>
        <p:spPr>
          <a:xfrm>
            <a:off x="11612880" y="5404104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9" name="Text 47"/>
          <p:cNvSpPr/>
          <p:nvPr/>
        </p:nvSpPr>
        <p:spPr>
          <a:xfrm>
            <a:off x="10515600" y="544068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5029200" y="544068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פורמט הפלט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1645920" y="544068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formatting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5833872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B5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53" name="Shape 51"/>
          <p:cNvSpPr/>
          <p:nvPr/>
        </p:nvSpPr>
        <p:spPr>
          <a:xfrm>
            <a:off x="11612880" y="5833872"/>
            <a:ext cx="91440" cy="384048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4" name="Text 52"/>
          <p:cNvSpPr/>
          <p:nvPr/>
        </p:nvSpPr>
        <p:spPr>
          <a:xfrm>
            <a:off x="10515600" y="587044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5C56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800" dirty="0"/>
          </a:p>
        </p:txBody>
      </p:sp>
      <p:sp>
        <p:nvSpPr>
          <p:cNvPr id="55" name="Text 53"/>
          <p:cNvSpPr/>
          <p:nvPr/>
        </p:nvSpPr>
        <p:spPr>
          <a:xfrm>
            <a:off x="5029200" y="587044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תחילת תגובה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1645920" y="587044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Prefilled response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94360" y="587044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אופציונלי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בקוד  ·  פרומפט נאיבי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קוד. שאלה רגילה.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217920" y="1691640"/>
            <a:ext cx="5486400" cy="4572000"/>
          </a:xfrm>
          <a:prstGeom prst="rect">
            <a:avLst/>
          </a:prstGeom>
          <a:solidFill>
            <a:srgbClr val="1A1814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635508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355080" y="20574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i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"what does this code do?"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55080" y="26060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הקוד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55080" y="2926080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purchase_item(user_id, item_id):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355080" y="3172968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item = db.query(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355080" y="3419856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"SELECT * FROM items WHERE id=?",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55080" y="3666744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item_id)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355080" y="3913632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item.stock &gt; 0: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55080" y="4160520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db.execute(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355080" y="4407408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"UPDATE items SET stock=stock-1"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55080" y="4654296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 WHERE id=?", item_id)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55080" y="4901184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db.execute(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55080" y="5148072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"INSERT INTO orders ...")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55080" y="5394960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{"success": True}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55080" y="5641848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{"success": False}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1691640"/>
            <a:ext cx="548640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59436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התשובה  ·  139 טוקנים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pic>
        <p:nvPicPr>
          <p:cNvPr id="26" name="Picture 25" descr="A screenshot of a black screen&#10;&#10;AI-generated content may be incorrect.">
            <a:extLst>
              <a:ext uri="{FF2B5EF4-FFF2-40B4-BE49-F238E27FC236}">
                <a16:creationId xmlns:a16="http://schemas.microsoft.com/office/drawing/2014/main" id="{6DDBEAF0-0CB1-3E9C-C012-6042D69AF1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632" y="2097916"/>
            <a:ext cx="3011139" cy="4067843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בקוד  ·  פרומפט מובנה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קוד. עבודה אחרת.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217920" y="1691640"/>
            <a:ext cx="5486400" cy="457200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635508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 המובנה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355080" y="210312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תפקיד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355080" y="233172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application security engineer, 10+ years.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55080" y="265176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טון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355080" y="288036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Direct, decisive. Name it. Don't soften.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55080" y="320040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הקשר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55080" y="3429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Pre-merge review. Public-facing production.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55080" y="374904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חוקים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55080" y="397764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by exploitability. Don't manufacture findings. Don't describe.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55080" y="429768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דוגמה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55080" y="45262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Format: [VERDICT] / [FINDINGS] / [NOTES].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55080" y="484632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משימה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55080" y="507492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produce the report.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55080" y="539496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 פלט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55080" y="562356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text, exactly as shown. Start with [VERDICT].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1691640"/>
            <a:ext cx="548640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59436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התשובה  ·  675 טוקנים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pic>
        <p:nvPicPr>
          <p:cNvPr id="26" name="Picture 25" descr="A screenshot of a black screen&#10;&#10;AI-generated content may be incorrect.">
            <a:extLst>
              <a:ext uri="{FF2B5EF4-FFF2-40B4-BE49-F238E27FC236}">
                <a16:creationId xmlns:a16="http://schemas.microsoft.com/office/drawing/2014/main" id="{BE0271A0-ABD1-3B8A-EDD3-5EBBBA7DE1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734" y="2034159"/>
            <a:ext cx="3093843" cy="417957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המסקנה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מידע מול החלטה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הלקח האמיתי - כי הבאג נמצא בשני המקרים.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5486400" cy="310896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Verdict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החלטה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731520" y="3429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מובנה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8404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[VERDICT] BLOCK MERGE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0599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427939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מספרי שורה. דירוג חומרה.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449884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התקיפה. תיקון בקוד מוכן.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471830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493776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אפשר להעתיק ל-PR review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515721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אפשר לפעול עליו עכשיו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2286000"/>
            <a:ext cx="54864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6492240" y="2560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Information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92240" y="2834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b="1" dirty="0">
                <a:solidFill>
                  <a:srgbClr val="1A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מידע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492240" y="3429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נאיבי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38404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"יש race condition פוטנציאלי..."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92240" y="40599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92240" y="427939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הבעיה. הצעות כלליות.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92240" y="449884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"השתמש ב-transactions או locks."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92240" y="471830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92240" y="493776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הסטודנט עוד צריך לחקור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515721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עוד לא מוכן לעבודה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623560"/>
            <a:ext cx="11247120" cy="77724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640080" y="5687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המודל יודע. השאלה היא מה אתה יכול לעשות עם התשובה.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40080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הוא ההבדל בין AI שחושב איתך לבין AI שמספק עבודה. שניהם שימושיים. רק אחד דורש מבנה.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תרגול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התור שלכם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 דקות. שני פרומפטים. דווחו על ההבדל.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0927080" y="245059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927080" y="2450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0" y="24048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פתחו את Anthropic Console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67919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console.anthropic.com → Workbench. Sonnet 4. Temperature 0.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06324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0927080" y="322783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927080" y="32278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0" y="31821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בקוד הזה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34564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תקבלו קוד עם באג ב-Slack. אותו קוד לשתי הריצות.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0927080" y="400507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927080" y="4005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943600" y="395935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ריצה ראשונה - נאיבית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2336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פרומפט: "what does this code do?" - צילום מסך של הפלט.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61772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0927080" y="478231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0927080" y="47823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943600" y="47365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ריצה שנייה - מובנה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501091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במסגרת בת 10 הרכיבים. תפקיד: code reviewer. פלט: VERDICT + FINDINGS.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539496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0927080" y="555955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10927080" y="55595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0" y="55138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 וחזרו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578815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ההבדל? איזה פלט אתם הייתם מדביקים ל-PR? נחזור על זה יחד.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הלאה.</a:t>
            </a:r>
            <a:endParaRPr lang="en-US" sz="2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  ·  המפגש הבא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במפגש הבא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מההיסודות לבנייה. SaaS אמיתי, מ-/init ועד deploy.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37744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37744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6446520" y="2606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המוצר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46520" y="31546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FixSlot - עמוד הזמנת תורים. נגדיר scope, נחליט מה לא בונים.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5852160" y="237744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685800" y="2606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ארכיטקטורה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85800" y="31546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Next.js, Vercel, Supabase, PayPlus - ולמה דווקא הם.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416052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11612880" y="416052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446520" y="43891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 וחשיבה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446520" y="493776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 vs Opus. think → ultrathink. plan mode מול thinking.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416052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5852160" y="416052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685800" y="43891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בנייה חיה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85800" y="493776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דקות של קוד אמיתי. מ-CLAUDE.md ועד deploy ב-Vercel.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  ·  לקחים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לקחת הביתה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1338560" y="1874520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1133856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745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חי בטרמינל. הוא לא רק עוזר - הוא סוכן שמבצע.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1338560" y="2587752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11338560" y="2587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58775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ראשון. הוא הבסיס לכל סשן - וההשקעה היחידה שמצטברת.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1338560" y="3300984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11338560" y="3300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30098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הם פרדיגמת עבודה. UI, code review, security audit - והם משלכם.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1338560" y="4014216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11338560" y="4014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014216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פרומפט יציב: הקשר → רקע → חוקים → דוגמאות → משימה → פורמט.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1338560" y="4727448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1338560" y="4727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472744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המודל יודע. השאלה היא איזה פלט אתה יכול להעתיק לעבודה אמיתית.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11338560" y="5440680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11338560" y="5440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5440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הוא ההבדל בין מידע להחלטה.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3657600"/>
            <a:ext cx="5486400" cy="54864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-914400" y="-1828800"/>
            <a:ext cx="3657600" cy="365760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1887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שאלות?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457200" y="393192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בואו נדבר.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23560" y="5029200"/>
            <a:ext cx="914400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457200" y="5212080"/>
            <a:ext cx="1188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  ·  errn.io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546</TotalTime>
  <Words>3401</Words>
  <Application>Microsoft Macintosh PowerPoint</Application>
  <PresentationFormat>Widescreen</PresentationFormat>
  <Paragraphs>693</Paragraphs>
  <Slides>38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Aptos</vt:lpstr>
      <vt:lpstr>Aptos Display</vt:lpstr>
      <vt:lpstr>Arial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- יסודות</dc:title>
  <dc:subject>PptxGenJS Presentation</dc:subject>
  <dc:creator>טל גורביץ׳</dc:creator>
  <cp:lastModifiedBy>טל גורביץ - מנהל אדמניסטרטיבי, Ofektech</cp:lastModifiedBy>
  <cp:revision>28</cp:revision>
  <dcterms:created xsi:type="dcterms:W3CDTF">2026-05-03T12:13:43Z</dcterms:created>
  <dcterms:modified xsi:type="dcterms:W3CDTF">2026-05-10T16:08:05Z</dcterms:modified>
</cp:coreProperties>
</file>