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63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86" r:id="rId7"/>
    <p:sldId id="287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84" r:id="rId17"/>
    <p:sldId id="285" r:id="rId18"/>
    <p:sldId id="271" r:id="rId19"/>
    <p:sldId id="272" r:id="rId20"/>
    <p:sldId id="273" r:id="rId21"/>
    <p:sldId id="275" r:id="rId22"/>
    <p:sldId id="274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</p:sldIdLst>
  <p:sldSz cx="12192000" cy="6858000"/>
  <p:notesSz cx="6858000" cy="12192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69"/>
    <p:restoredTop sz="94610"/>
  </p:normalViewPr>
  <p:slideViewPr>
    <p:cSldViewPr snapToGrid="0" snapToObjects="1">
      <p:cViewPr varScale="1">
        <p:scale>
          <a:sx n="166" d="100"/>
          <a:sy n="166" d="100"/>
        </p:scale>
        <p:origin x="200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8801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DBEDC-90A1-9B41-0C51-64EDF9F735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21FA8B-6F34-D08D-046E-6E903DEAB1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C3BD2-EB39-291A-DEBF-F73B184F5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62AE0-6C92-FE9D-0A6B-E9F048640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D77D6-74C1-1851-E480-1DB62720A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966030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D0880-C1A6-D29B-3DC6-1E7A42724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C8AD0-0D3F-50EC-F690-76336EDB3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D7C8A-D9C4-9353-864D-60B29A67E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3B6EA3-F076-1E5E-0456-C064B2789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725D24-79D6-2BB7-8CAB-DBE90D97F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90124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1340F-6F64-F7C5-9B94-C3D35CE33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74C884-8D0E-F377-555B-FB97591C9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179DEE-105C-66B5-F037-BF9E102DF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A5353-5DED-F416-3AFB-9768AA48E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B02E2D-28C0-4B26-17D2-0D21DD9ED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38700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FCDED-2150-B934-B52C-AC859184B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B9D8F-C3EB-23CC-CB02-8AA0D8A3F9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221313-1F95-A195-8C83-9E0ED49710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E95136-C2CE-3F61-3921-1AAA43A4A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6F7B5A-C285-CEC6-9DE9-3AC8C0B0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4C46D6-BA2F-6FDE-B520-8747703DF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100438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F803D-92B5-2AB6-D083-B6DD937D7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2E4535-388C-F56A-5A00-26E2AFE98E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63016B-9717-6712-418F-05180CF698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08BE39-99C2-AA33-1AD0-00E74F12B5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C24A14-E1FF-0EEC-D6A7-B675C8C40B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0C9AA2-97AE-E1F0-953D-AF84A3BA8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30E73C-CA40-B3C7-2FF2-2FEB77264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E53F84-9311-F99B-5D95-33FE115AB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713181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E1CD0-FAA0-192A-A045-499309BB3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C2044A-5E92-8499-9485-9FA8CF824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3A7B4B-BF9B-C081-3B14-69B421D4A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51F545-6D20-6603-C744-696CA18B9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69590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B3E5D3-3764-F906-6C9E-EC6EC6CB6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67D418-0F1E-455E-186A-5665EE9BE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25D53-1096-3C64-3AD9-0F6565996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87985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7752C-73B5-3BD3-41DE-FEFE592F6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65FA2-7842-2791-D3FE-7960E55D5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E72D9E-8EEE-AE53-2342-D2E307F343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1CE0B0-9C0A-075A-15C8-3F6780E1E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0C933B-7754-AA61-D61C-7C64ED14D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695EB3-AD53-DB05-9510-116DA4843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93643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8F473-919B-B71E-B817-937D8B44F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48A286-5782-994C-10BD-F58C9642BA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BB71FA-E8DE-A5B1-D969-E9381980D4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A828C3-8037-E703-567C-B07D141E7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57AD9B-E1B2-E9AC-FA25-7613848E6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E74D3D-363D-29D2-3DD2-AD3637FAE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0387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E290B-0A8C-F553-DF61-DC9A370F5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C6768A-400E-EFF8-3D53-BD1148379B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52344-6F82-5E68-831B-6EB66CFDF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F1093-636F-D1CB-B1F6-939C65733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CC33F-F063-BF94-1B9B-5CA78F857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08405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BCE9BB-C2D1-2421-3C46-4F4FC1879C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D1B3CE-9B3B-FB9A-7545-992F4C1289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E7DA0C-1D58-9ED0-CBB3-12C393439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AF1D5-92FA-F6F4-AC7C-F7421000C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147CD-6613-33C7-A9B2-82D03901B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81319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9005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B6026-5410-A9BA-557A-24BA8A329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692064-E2C4-085D-E59B-B9FF18ADF2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A5C48-A68D-4AC6-94C3-780E3E59CB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5/7/26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CCDE0-5F91-0E14-5440-4E799B5F4F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EB4D9-7C7B-319B-B92B-0710484ADA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105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914400"/>
            <a:ext cx="4572000" cy="45720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Shape 1"/>
          <p:cNvSpPr/>
          <p:nvPr/>
        </p:nvSpPr>
        <p:spPr>
          <a:xfrm>
            <a:off x="640080" y="4572000"/>
            <a:ext cx="1371600" cy="1371600"/>
          </a:xfrm>
          <a:prstGeom prst="ellipse">
            <a:avLst/>
          </a:prstGeom>
          <a:solidFill>
            <a:srgbClr val="B85F44"/>
          </a:solidFill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4114800" y="1463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kern="0" spc="8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מפגש 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201168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371600" y="33832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יסודות, כלים, והנחיה.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0607040" y="5029200"/>
            <a:ext cx="1097280" cy="0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4389120" y="5212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טל גורביץ׳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389120" y="5623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מוביל מוצר  ·  errn.io  ·  אופקטק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סדר היום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0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נעשה היום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0607040" y="18288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114800" y="1874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</a:t>
            </a:r>
            <a:r>
              <a:rPr lang="he-IL" sz="2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ויסודות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280160" cy="3657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דק׳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2331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התקנה, סשנים, הרשאות, CLAUDE.md, פקודות slash.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607040" y="28803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114800" y="2926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1280160" cy="3657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548640" y="30175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דק׳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מודולי מומחיות לשימוש חוזר. UI, code review, security audit.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607040" y="39319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4114800" y="3977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הנחיה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1280160" cy="3657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548640" y="4069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דק׳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8600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מסגרת בת 10 רכיבים. דוגמה ויזואלית מ-Anthropic. תרגול עצמאי בקוד.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607040" y="498348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4114800" y="5029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סיכום ושאלות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548640" y="5120640"/>
            <a:ext cx="1280160" cy="3657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Text 20"/>
          <p:cNvSpPr/>
          <p:nvPr/>
        </p:nvSpPr>
        <p:spPr>
          <a:xfrm>
            <a:off x="548640" y="5120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דק׳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0" y="5486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קורה במפגש הבא, takeaways, Q&amp;A.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יסודות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2743200"/>
            <a:ext cx="1371600" cy="1371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457200" y="2697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kern="0" spc="6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5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</a:t>
            </a:r>
            <a:r>
              <a:rPr lang="he-IL" sz="5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5400" b="1" dirty="0" err="1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ויסודות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התקנה ותפעול בסיסי.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01  ·  מה זה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זה Claude Code?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כלי קידוד אגנטי שחי בטרמינל - קורא את הקוד, עורך קבצים, מריץ פקודות ומשחרר פיצ׳רים.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955280" y="2743200"/>
            <a:ext cx="3566160" cy="301752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1411712" y="2743200"/>
            <a:ext cx="109728" cy="30175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8229600" y="3108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0" y="374904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לולאת סוכן. מתכנן, עורך, מריץ, בודק. אתה סוקר.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06240" y="2743200"/>
            <a:ext cx="35661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4480560" y="3108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 / Windsurf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480560" y="374904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צ׳אט ועריכות בתוך IDE. אתה עדיין מנהל.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35661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731520" y="3108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31520" y="374904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השלמה אוטומטית בעורך. אתה מוביל כל שורה.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יסודות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01  ·  שלוש חוויות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זה נראה בפועל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אותו רעיון - AI עוזר לקודד. שלושה form-factors </a:t>
            </a:r>
            <a:r>
              <a:rPr lang="en-US" sz="1500" i="1" dirty="0" err="1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שונים</a:t>
            </a: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i="1" dirty="0" err="1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לחלוטין</a:t>
            </a:r>
            <a:r>
              <a:rPr lang="he-IL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מה שנקרא - </a:t>
            </a: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046720" y="2377440"/>
            <a:ext cx="36576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8229600" y="2560320"/>
            <a:ext cx="3291840" cy="256032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8229600" y="2560320"/>
            <a:ext cx="3291840" cy="274320"/>
          </a:xfrm>
          <a:prstGeom prst="rect">
            <a:avLst/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Shape 6"/>
          <p:cNvSpPr/>
          <p:nvPr/>
        </p:nvSpPr>
        <p:spPr>
          <a:xfrm>
            <a:off x="8339328" y="265176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Shape 7"/>
          <p:cNvSpPr/>
          <p:nvPr/>
        </p:nvSpPr>
        <p:spPr>
          <a:xfrm>
            <a:off x="8458200" y="2651760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Shape 8"/>
          <p:cNvSpPr/>
          <p:nvPr/>
        </p:nvSpPr>
        <p:spPr>
          <a:xfrm>
            <a:off x="8577072" y="265176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8321040" y="2971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calculateTotal(items) {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21040" y="32644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total = 0;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21040" y="35570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(const item of items) {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21040" y="3886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+= item.price * item.qty;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321040" y="41788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321040" y="44714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total;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321040" y="47640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21040" y="507492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 to accept ↹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251960" y="2377440"/>
            <a:ext cx="36576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Shape 18"/>
          <p:cNvSpPr/>
          <p:nvPr/>
        </p:nvSpPr>
        <p:spPr>
          <a:xfrm>
            <a:off x="4434840" y="2560320"/>
            <a:ext cx="3291840" cy="256032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Shape 19"/>
          <p:cNvSpPr/>
          <p:nvPr/>
        </p:nvSpPr>
        <p:spPr>
          <a:xfrm>
            <a:off x="4434840" y="2560320"/>
            <a:ext cx="3291840" cy="274320"/>
          </a:xfrm>
          <a:prstGeom prst="rect">
            <a:avLst/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Shape 20"/>
          <p:cNvSpPr/>
          <p:nvPr/>
        </p:nvSpPr>
        <p:spPr>
          <a:xfrm>
            <a:off x="4544568" y="265176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Shape 21"/>
          <p:cNvSpPr/>
          <p:nvPr/>
        </p:nvSpPr>
        <p:spPr>
          <a:xfrm>
            <a:off x="4663440" y="2651760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Shape 22"/>
          <p:cNvSpPr/>
          <p:nvPr/>
        </p:nvSpPr>
        <p:spPr>
          <a:xfrm>
            <a:off x="4782312" y="265176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Shape 23"/>
          <p:cNvSpPr/>
          <p:nvPr/>
        </p:nvSpPr>
        <p:spPr>
          <a:xfrm>
            <a:off x="6126480" y="2834640"/>
            <a:ext cx="0" cy="2286000"/>
          </a:xfrm>
          <a:prstGeom prst="line">
            <a:avLst/>
          </a:prstGeom>
          <a:noFill/>
          <a:ln w="12700">
            <a:solidFill>
              <a:srgbClr val="3E3E4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Text 24"/>
          <p:cNvSpPr/>
          <p:nvPr/>
        </p:nvSpPr>
        <p:spPr>
          <a:xfrm>
            <a:off x="4526280" y="29718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login(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26280" y="32461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user, pass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26280" y="35204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26280" y="37947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auth(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26280" y="40690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user,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26280" y="43434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pass);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26280" y="46177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217920" y="28803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63640" y="3154680"/>
            <a:ext cx="1463040" cy="502920"/>
          </a:xfrm>
          <a:prstGeom prst="rect">
            <a:avLst/>
          </a:prstGeom>
          <a:solidFill>
            <a:srgbClr val="37373D"/>
          </a:solidFill>
          <a:ln w="12700">
            <a:solidFill>
              <a:srgbClr val="37373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5" name="Text 33"/>
          <p:cNvSpPr/>
          <p:nvPr/>
        </p:nvSpPr>
        <p:spPr>
          <a:xfrm>
            <a:off x="6309360" y="3200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input validation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263640" y="3749040"/>
            <a:ext cx="1463040" cy="914400"/>
          </a:xfrm>
          <a:prstGeom prst="rect">
            <a:avLst/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7" name="Text 35"/>
          <p:cNvSpPr/>
          <p:nvPr/>
        </p:nvSpPr>
        <p:spPr>
          <a:xfrm>
            <a:off x="6309360" y="37947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I'll add Zod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validation to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login...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263640" y="4800600"/>
            <a:ext cx="1463040" cy="274320"/>
          </a:xfrm>
          <a:prstGeom prst="rect">
            <a:avLst/>
          </a:prstGeom>
          <a:solidFill>
            <a:srgbClr val="3C3C3C"/>
          </a:solidFill>
          <a:ln w="12700">
            <a:solidFill>
              <a:srgbClr val="5A5A5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9" name="Text 37"/>
          <p:cNvSpPr/>
          <p:nvPr/>
        </p:nvSpPr>
        <p:spPr>
          <a:xfrm>
            <a:off x="6309360" y="4800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⌘K  ask anything...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57200" y="2377440"/>
            <a:ext cx="365760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1" name="Shape 39"/>
          <p:cNvSpPr/>
          <p:nvPr/>
        </p:nvSpPr>
        <p:spPr>
          <a:xfrm>
            <a:off x="640080" y="2560320"/>
            <a:ext cx="3291840" cy="256032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2" name="Shape 40"/>
          <p:cNvSpPr/>
          <p:nvPr/>
        </p:nvSpPr>
        <p:spPr>
          <a:xfrm>
            <a:off x="640080" y="2560320"/>
            <a:ext cx="329184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3" name="Shape 41"/>
          <p:cNvSpPr/>
          <p:nvPr/>
        </p:nvSpPr>
        <p:spPr>
          <a:xfrm>
            <a:off x="749808" y="265176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4" name="Shape 42"/>
          <p:cNvSpPr/>
          <p:nvPr/>
        </p:nvSpPr>
        <p:spPr>
          <a:xfrm>
            <a:off x="868680" y="2651760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5" name="Shape 43"/>
          <p:cNvSpPr/>
          <p:nvPr/>
        </p:nvSpPr>
        <p:spPr>
          <a:xfrm>
            <a:off x="987552" y="265176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6" name="Text 44"/>
          <p:cNvSpPr/>
          <p:nvPr/>
        </p:nvSpPr>
        <p:spPr>
          <a:xfrm>
            <a:off x="731520" y="2971800"/>
            <a:ext cx="137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68680" y="29718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31520" y="32918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add input validation to login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31520" y="36118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Reading login.ts...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31520" y="3813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Adding Zod schema...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31520" y="401421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Writing tests...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31520" y="421538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31520" y="441655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Updated login.ts (+12)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31520" y="46177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Added login.test.ts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046720" y="5486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8046720" y="5852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השלמה אוטומטית בתוך העורך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251960" y="5486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4251960" y="5852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צ׳אט בפאנל לצד הקוד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57200" y="5486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457200" y="5852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סוכן בטרמינל - מתכנן ומבצע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יסודות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מושג מרכזי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זה Harness?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השכבה שבין המשתמש למודל - ולמה היא זאת שקובעת איך הסוכן מתנהג.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14800" y="2240280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4114800" y="22402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משתמש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80760" y="2743200"/>
            <a:ext cx="0" cy="228600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10698480" cy="1645920"/>
          </a:xfrm>
          <a:prstGeom prst="rect">
            <a:avLst/>
          </a:prstGeom>
          <a:solidFill>
            <a:srgbClr val="1A1814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kern="0" spc="4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HARNESS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10896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שכבת הריצה - מה בעצם רץ סביב המודל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89720" y="3520440"/>
            <a:ext cx="1965960" cy="100584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9281160" y="3611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281160" y="38862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כלים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281160" y="41788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קבצים, shell, MCP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132320" y="3520440"/>
            <a:ext cx="1965960" cy="100584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7223760" y="3611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223760" y="38862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הקשר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223760" y="41788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נטען לפרומפט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74920" y="3520440"/>
            <a:ext cx="1965960" cy="100584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Text 18"/>
          <p:cNvSpPr/>
          <p:nvPr/>
        </p:nvSpPr>
        <p:spPr>
          <a:xfrm>
            <a:off x="5166360" y="3611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66360" y="38862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לולאה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66360" y="41788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מתי לעצור, להמשיך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017520" y="3520440"/>
            <a:ext cx="1965960" cy="100584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Text 22"/>
          <p:cNvSpPr/>
          <p:nvPr/>
        </p:nvSpPr>
        <p:spPr>
          <a:xfrm>
            <a:off x="3108960" y="3611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108960" y="38862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הרשאות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108960" y="41788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מותר לסוכן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60120" y="3520440"/>
            <a:ext cx="1965960" cy="100584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Text 26"/>
          <p:cNvSpPr/>
          <p:nvPr/>
        </p:nvSpPr>
        <p:spPr>
          <a:xfrm>
            <a:off x="1051560" y="3611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UX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51560" y="38862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חוויה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51560" y="41788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טרמינל / IDE / chat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80760" y="4663440"/>
            <a:ext cx="0" cy="228600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32" name="Shape 30"/>
          <p:cNvSpPr/>
          <p:nvPr/>
        </p:nvSpPr>
        <p:spPr>
          <a:xfrm>
            <a:off x="4114800" y="5029200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3" name="Text 31"/>
          <p:cNvSpPr/>
          <p:nvPr/>
        </p:nvSpPr>
        <p:spPr>
          <a:xfrm>
            <a:off x="4114800" y="50292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 מודל  ·  Claude Sonnet / Opus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5" name="Text 33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b="1" kern="0" spc="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אותו מוח. גוף אחר. תוצר אחר.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 ·  Harnesses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השוואה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אותו מודל, </a:t>
            </a:r>
            <a:r>
              <a:rPr lang="en-US" sz="38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שלושה</a:t>
            </a:r>
            <a:r>
              <a:rPr lang="he-IL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harnesses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הדגש לא על איכות. הדגש על התאמה לסוג העבודה - כל אחד חזק ב-form-factor אחר.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046720" y="2331720"/>
            <a:ext cx="3657600" cy="3931920"/>
          </a:xfrm>
          <a:prstGeom prst="rect">
            <a:avLst/>
          </a:prstGeom>
          <a:solidFill>
            <a:srgbClr val="1A1814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8321040" y="2606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Anthropic-native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321040" y="29260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8321040" y="3566160"/>
            <a:ext cx="3108960" cy="0"/>
          </a:xfrm>
          <a:prstGeom prst="line">
            <a:avLst/>
          </a:prstGeom>
          <a:noFill/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8321040" y="37033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 factor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321040" y="38862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טרמינל + IDE + Web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321040" y="42062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21040" y="43891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מערכת קבצים מלאה, shell, MCP, sub-agents, hooks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321040" y="47091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21040" y="48920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· Auto · Thinking · Fast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21040" y="52120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Autonomy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321040" y="53949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דקות עד שעות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21040" y="571500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Sweet spot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21040" y="58978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משימות שלמות, agentic, סגירת לולאות אוטונומיות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51960" y="2331720"/>
            <a:ext cx="36576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Shape 18"/>
          <p:cNvSpPr/>
          <p:nvPr/>
        </p:nvSpPr>
        <p:spPr>
          <a:xfrm>
            <a:off x="7818120" y="2331720"/>
            <a:ext cx="91440" cy="39319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4526280" y="2606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IDE-first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26280" y="29260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4526280" y="3566160"/>
            <a:ext cx="310896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Text 22"/>
          <p:cNvSpPr/>
          <p:nvPr/>
        </p:nvSpPr>
        <p:spPr>
          <a:xfrm>
            <a:off x="4526280" y="37033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 factor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26280" y="38862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 של VS Code · chat + composer + tab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26280" y="42062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26280" y="43891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תחומה ל-workspace · שילוב חיפוש + indexing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26280" y="47091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26280" y="48920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· Composer · Tab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26280" y="52120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Autonomy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26280" y="53949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שניות עד דקות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26280" y="571500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Sweet spot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26280" y="58978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עריכה תוך-זרימה, תיקונים מקומיים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2331720"/>
            <a:ext cx="36576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5" name="Shape 33"/>
          <p:cNvSpPr/>
          <p:nvPr/>
        </p:nvSpPr>
        <p:spPr>
          <a:xfrm>
            <a:off x="4023360" y="2331720"/>
            <a:ext cx="91440" cy="39319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6" name="Text 34"/>
          <p:cNvSpPr/>
          <p:nvPr/>
        </p:nvSpPr>
        <p:spPr>
          <a:xfrm>
            <a:off x="731520" y="2606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GitHub-native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1520" y="29260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</a:t>
            </a:r>
            <a:endParaRPr lang="en-US" sz="2600" dirty="0"/>
          </a:p>
        </p:txBody>
      </p:sp>
      <p:sp>
        <p:nvSpPr>
          <p:cNvPr id="38" name="Shape 36"/>
          <p:cNvSpPr/>
          <p:nvPr/>
        </p:nvSpPr>
        <p:spPr>
          <a:xfrm>
            <a:off x="731520" y="3566160"/>
            <a:ext cx="310896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9" name="Text 37"/>
          <p:cNvSpPr/>
          <p:nvPr/>
        </p:nvSpPr>
        <p:spPr>
          <a:xfrm>
            <a:off x="731520" y="37033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 factor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31520" y="38862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 text · chat · Workspace · agent mode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31520" y="42062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31520" y="43891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משתנה לפי מוצר · חזק ב-PR/issue flows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31520" y="47091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31520" y="48920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Inline · Chat · Agent · Workspace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31520" y="52120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Autonomy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31520" y="53949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מיידי עד דקות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31520" y="571500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Sweet spot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31520" y="58978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השלמה אינליין, code review וטריאז׳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b="1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הכלל: לא בוחרים harness לפי איכות, אלא לפי form-factor שמתאים למשימה.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 ·  Harnesses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01  ·  מתחילים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התקנה. הזדהות. הרצה.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846320" y="1828800"/>
            <a:ext cx="6858000" cy="182880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5120640" y="1965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95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(requires Node.js 18+)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120640" y="2286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@anthropic-ai/claude-code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20640" y="2788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95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in any project directory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120640" y="3108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claude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איפה הוא רץ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22402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טרמינל (עיקרי)  ●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5603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 extension  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8803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JetBrains plugin  ●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2004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claude.ai/code (web)  ●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5204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אפליקציית דסקטופ  ●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11247120" cy="155448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11594592" y="4114800"/>
            <a:ext cx="109728" cy="15544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777240" y="4251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הזדהות ראשונה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46177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שתי אפשרויות: להיכנס עם מנוי Claude.ai Pro/Max (הנפוץ), או להשתמש ב-API key של Anthropic לשימוש לפי תשלום. ה-CLI מעביר אותך תהליך OAuth בהרצה ראשונה.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יסודות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01  ·  סשנים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ההקשר הוא הכל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לכל סשן יש חלון הקשר. נהל אותו בכוונה - או שלם בעלות ובאיכות.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11247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9144000" y="26334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/clear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מנקה את ההקשר ופותח מחדש. בין משימות לא קשורות.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337560"/>
            <a:ext cx="11247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9144000" y="35021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/compact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מסכם את השיחה עד כה. כשהחלון מתמלא באמצע משימה.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206240"/>
            <a:ext cx="11247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9144000" y="43708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/cost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" y="4389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כמה טוקנים ו-$ נצרכו בסשן הזה.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5074920"/>
            <a:ext cx="11247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/>
          <p:nvPr/>
        </p:nvSpPr>
        <p:spPr>
          <a:xfrm>
            <a:off x="9144000" y="52395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/resume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0080" y="5257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להמשיך סשן קודם - Claude טוען מחדש את השיחה.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יסודות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01  ·  הרשאות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מצבי הרשאה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כמה אוטונומיה לתת ל-Claude? אתה בוחר, לכל סשן.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11247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1612880" y="2286000"/>
            <a:ext cx="91440" cy="7772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8686800" y="24505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שואל לפני כל עריכת קובץ ופקודה. הכי בטוח. למאגרים לא מוכרים.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11247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Shape 8"/>
          <p:cNvSpPr/>
          <p:nvPr/>
        </p:nvSpPr>
        <p:spPr>
          <a:xfrm>
            <a:off x="11612880" y="3200400"/>
            <a:ext cx="91440" cy="7772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8686800" y="33649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acceptEdits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מאשר עריכות אוטומטית, עדיין שואל על פקודות shell. אמצע טוב.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11247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Shape 12"/>
          <p:cNvSpPr/>
          <p:nvPr/>
        </p:nvSpPr>
        <p:spPr>
          <a:xfrm>
            <a:off x="11612880" y="4114800"/>
            <a:ext cx="91440" cy="7772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/>
          <p:nvPr/>
        </p:nvSpPr>
        <p:spPr>
          <a:xfrm>
            <a:off x="8686800" y="42793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42976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ללא עריכות - Claude מתכנן, אתה קורא ומאשר. לשינויים מורכבים.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5029200"/>
            <a:ext cx="11247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Shape 16"/>
          <p:cNvSpPr/>
          <p:nvPr/>
        </p:nvSpPr>
        <p:spPr>
          <a:xfrm>
            <a:off x="11612880" y="5029200"/>
            <a:ext cx="91440" cy="7772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8686800" y="51937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defTabSz="914400" rtl="0" eaLnBrk="1" latinLnBrk="0" hangingPunct="1">
              <a:buNone/>
            </a:pPr>
            <a:r>
              <a:rPr lang="en-US" sz="1600" b="1" dirty="0">
                <a:solidFill>
                  <a:srgbClr val="D97757"/>
                </a:solidFill>
                <a:latin typeface="Consolas" pitchFamily="34" charset="0"/>
                <a:cs typeface="Consolas" pitchFamily="34" charset="-120"/>
              </a:rPr>
              <a:t>auto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52120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400" dirty="0"/>
              <a:t>למידה של נקודות עצירה לפי </a:t>
            </a:r>
            <a:r>
              <a:rPr lang="he-IL" sz="1400" dirty="0" err="1"/>
              <a:t>היוזר</a:t>
            </a:r>
            <a:r>
              <a:rPr lang="he-IL" sz="1400" dirty="0"/>
              <a:t>, ממשיך עד לסיום ביצוע בדרך כלל. 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i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טיפ: Plan mode הוא חבר טוב לרפקטורים גדולים. עוברים בין מצבים עם Shift+Tab.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יסודות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01  ·  זיכרון הפרויקט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קובץ markdown במאגר ש-Claude קורא בכל פתיחת סשן. ההוראות הקבועות של הפרויקט.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846320" y="2468880"/>
            <a:ext cx="6858000" cy="365760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5074920" y="2606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CLAUDE.md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74920" y="2926080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Stack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74920" y="3172968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 15 (App Router), Prisma, Postgres,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74920" y="3419856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Tailwind, shadcn/ui, NextAuth.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74920" y="3666744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74920" y="391363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Conventions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74920" y="4160520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Server Actions over API routes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4920" y="4407408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Zod for all input validation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74920" y="4654296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Hebrew + English (RTL aware)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74920" y="4901184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74920" y="514807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Don't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74920" y="5394960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No global state libraries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74920" y="5641848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No CSS-in-JS - Tailwind only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24688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נכנס פנימה?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74320" y="28803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וגרסאות  ●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4320" y="32461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מוסכמות שמות  ●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36118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החלטות ארכיטקטורה  ●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74320" y="39776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דברים להימנע מהם  ●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74320" y="43434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מריצים בדיקות  ●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74320" y="47091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מאפיינים ייחודיים למאגר  ●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74320" y="53949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i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טיפ: בקש מ-Claude לכתוב לך CLAUDE.md בהרצה הראשונה.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יסודות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01  ·  פקודות SLASH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פקודות</a:t>
            </a:r>
            <a:r>
              <a:rPr lang="he-IL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slash</a:t>
            </a:r>
            <a:r>
              <a:rPr lang="he-IL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קיצורים מובנים - ושלך, כקבצי markdown ב-.claude/commands/.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0" y="23774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מובנות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058400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/help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0" y="2834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רשימת כל הפקודות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0" y="3291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/clear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3291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איפוס שיחה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0" y="3749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/compact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3749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סיכום הקשר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0" y="4206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4206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הצגת שימוש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0" y="4663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/init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4663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יצירת CLAUDE.md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0" y="5120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/review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5120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סקירת קוד של ה-diff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23774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מותאמות (שלך)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5303520" cy="274320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Text 18"/>
          <p:cNvSpPr/>
          <p:nvPr/>
        </p:nvSpPr>
        <p:spPr>
          <a:xfrm>
            <a:off x="685800" y="2971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95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.claude/commands/ship.md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338328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הרץ את כל הבדיקות, בדוק טיפוסים, צור PR עם הודעת commit נקייה שמתארת את השינויים מאז main.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" y="5029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עכשיו: /ship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יסודות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2743200"/>
            <a:ext cx="1371600" cy="1371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457200" y="2697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kern="0" spc="6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5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פרדיגמת עבודה חדשה - לא רק פיצ׳ר.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02  ·  מה זה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מודולי מומחיות לשימוש חוזר. תיקייה עם SKILL.md ש-Claude טוען כשרלוונטי.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0"/>
            <a:ext cx="3566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3291840" y="278892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329184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טעינה אוטומטית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מזהה מתי skill רלוונטי לפי התיאור וטוען אותו בעת הצורך.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06240" y="2560320"/>
            <a:ext cx="3566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7040880" y="278892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704088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8056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ניתן להרכבה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480560" y="33832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אפשר להשתמש בכמה skills יחד. כל אחד עצמאי - להתקין רק מה שצריך.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55280" y="2560320"/>
            <a:ext cx="3566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10789920" y="278892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1078992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ניתן לשיתוף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29600" y="33832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נמצא ב-.claude/skills/. Commit ל-git → הצוות מקבל אוטומטית.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937760"/>
            <a:ext cx="11247120" cy="109728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457200" y="493776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800" i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אם אתה כותב את אותה הנחיה שוב ושוב בכמה פרויקטים - הגיע הזמן לכתוב skill.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יסודות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02  ·  SKILL לדוגמה  ·  UI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shadcn/ui  -  ה-skill הרשמי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i="1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נותן ל-Claude ידע מודע-לפרויקט על כל רכיבי shadcn. הוא קורא את components.json ומייצר קוד נכון מהפעם הראשונה.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11247120" cy="91440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731520" y="2542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95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in your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npx shadcn@latest skill add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17920" y="3657600"/>
            <a:ext cx="5486400" cy="2468880"/>
          </a:xfrm>
          <a:prstGeom prst="rect">
            <a:avLst/>
          </a:prstGeom>
          <a:solidFill>
            <a:srgbClr val="26221C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5486400" cy="246888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6446520" y="37947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עם ה-skill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37947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בלי ה-skill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46520" y="41148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46520" y="440740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variant=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470001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"default" size="lg"&gt;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46520" y="499262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Click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46520" y="528523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&lt;/Button&gt;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41148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440740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className=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470001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"px-4 py-2 bg-blue-600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499262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text-white rounded"&gt;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528523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Click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55778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&lt;/button&gt;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יסודות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02  ·  SKILL לדוגמה  ·  CODE 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code-review-skill  -  ה-skill המוביל לסקירת קוד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i="1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9,500+ שורות הנחיות סקירה ל-11 שפות ופריימוורקים. מפריד בין מה שצריך עין אנושית למה ש-tools צריכים לעשות.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11247120" cy="91440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731520" y="2542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95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(one-time, global)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clone https://github.com/awesome-skills/code-review-skill ~/.claude/skills/code-review-skill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3657600"/>
            <a:ext cx="5486400" cy="2468880"/>
          </a:xfrm>
          <a:prstGeom prst="rect">
            <a:avLst/>
          </a:prstGeom>
          <a:solidFill>
            <a:srgbClr val="26221C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5486400" cy="246888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6446520" y="37947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ה-skill בודק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37947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לא צריך לבדוק ידנית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46520" y="41605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לוגיקה ו-edge cases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46520" y="447141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חולשות אבטחה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478231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השפעות ביצועים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46520" y="509320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כיסוי ואיכות בדיקות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46520" y="540410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error handling ו-API design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57150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התאמה ארכיטקטונית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41605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פורמט - Prettier / Black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447141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סדר imports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478231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חוקי linting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509320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typos פשוטים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540410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57150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i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כלים אוטומטיים, לא בני אדם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יסודות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02  ·  SKILL </a:t>
            </a:r>
            <a:r>
              <a:rPr lang="en-US" sz="1100" b="1" kern="0" spc="400" dirty="0" err="1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לדוגמה</a:t>
            </a: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SECURITY</a:t>
            </a:r>
            <a:endParaRPr lang="he-IL" sz="1100" b="1" kern="0" spc="400" dirty="0">
              <a:solidFill>
                <a:srgbClr val="D9775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audit-context-building  -  Trail of Bits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i="1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ה-skill המוביל לאודיט אבטחה. נכתב ע"י אחת מחברות הסקירה המובילות בעולם (לקוחות: Google, Ethereum Foundation). מצא CVEs אמיתיים ב-production.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11247120" cy="91440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731520" y="2542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95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(Claude Code plugin marketplace)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/plugin marketplace add trailofbits/skills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5486400" cy="246888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685800" y="37947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שלבים - בדיוק בסדר הזה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20640" y="42062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85800" y="42062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Orientation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449884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מיפוי מודולים, entry points, actors. בלי הנחות.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20640" y="48006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85800" y="480060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analysis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509320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פונקציה-פונקציה. First Principles, 5 Whys.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20640" y="53949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85800" y="539496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 understanding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568756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Invariants, trust boundaries, end-to-end flows.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3657600"/>
            <a:ext cx="5486400" cy="2468880"/>
          </a:xfrm>
          <a:prstGeom prst="rect">
            <a:avLst/>
          </a:prstGeom>
          <a:solidFill>
            <a:srgbClr val="26221C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Text 18"/>
          <p:cNvSpPr/>
          <p:nvPr/>
        </p:nvSpPr>
        <p:spPr>
          <a:xfrm>
            <a:off x="6446520" y="37947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החוק המפתיע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46520" y="4160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ה-skill אסור לו למצוא באגים.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46520" y="45720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להציע fixes. לא להעריך severity. לא לכתוב PoC. רק להבין את המערכת לעומק.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46520" y="5257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מינימום לכל פונקציה: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46520" y="55321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invariants  ·  5+ הנחות מפורשות  ·  3+ סיכוני קלט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יסודות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02  ·  SKILL משלך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אנטומיה של skill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תיקייה. שני קבצים. הרבה ערך.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217920" y="2240280"/>
            <a:ext cx="5486400" cy="365760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6355080" y="23774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מבנה הקבצים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55080" y="28346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.claude/skills/code-review/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55080" y="32004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SKILL.md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55080" y="35661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checklist.md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55080" y="39319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examples/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55080" y="42976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good-review.md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55080" y="46634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bad-review.md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54864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Shape 12"/>
          <p:cNvSpPr/>
          <p:nvPr/>
        </p:nvSpPr>
        <p:spPr>
          <a:xfrm>
            <a:off x="5852160" y="2240280"/>
            <a:ext cx="91440" cy="3657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/>
          <p:nvPr/>
        </p:nvSpPr>
        <p:spPr>
          <a:xfrm>
            <a:off x="640080" y="2377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ב-SKILL.md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023360" y="2880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2880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שם ה-skill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023360" y="3429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4290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מתי להפעיל אותו (קריטי לטעינה אוטומטית)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023360" y="3977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instructions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3977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הוראות מפורטות + checklist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023360" y="4526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5262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דוגמאות few-shot של פלט טוב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023360" y="5074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50749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מבנה הפלט הצפוי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7" name="Text 25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i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טיפ: בקש מ-Claude לכתוב לך SKILL.md ראשון. תן לו תיאור של המשימה, הוא יבנה את המבנה.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יסודות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1188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הפסקה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457200" y="4206240"/>
            <a:ext cx="1188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2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דקות  ·  חוזרים בתחילת השעה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2743200"/>
            <a:ext cx="1371600" cy="1371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457200" y="2697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kern="0" spc="6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5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הנחיה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מדברים עם המודל כדי שיעבוד בשבילכם.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03  ·  הדוגמה הקנונית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פרומפט טוב באמת מאפשר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דוגמה של Anthropic - אותה תמונה, שני פרומפטים, שני עולמות.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217920" y="2240280"/>
            <a:ext cx="54864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6355080" y="23317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b="1" kern="0" spc="1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פרומפט נאיבי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55080" y="267004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"Please analyze the images and tell me what happened"</a:t>
            </a:r>
            <a:endParaRPr lang="en-US" sz="1100" dirty="0"/>
          </a:p>
        </p:txBody>
      </p:sp>
      <p:pic>
        <p:nvPicPr>
          <p:cNvPr id="8" name="Image 0" descr="./anthropic-na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3108960"/>
            <a:ext cx="5212080" cy="23317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2240280"/>
            <a:ext cx="5486400" cy="3291840"/>
          </a:xfrm>
          <a:prstGeom prst="rect">
            <a:avLst/>
          </a:prstGeom>
          <a:solidFill>
            <a:srgbClr val="1A1814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7"/>
          <p:cNvSpPr/>
          <p:nvPr/>
        </p:nvSpPr>
        <p:spPr>
          <a:xfrm>
            <a:off x="594360" y="23317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b="1" kern="0" spc="1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פרומפט מובנה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4360" y="267004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i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הקשר עסקי + תפקיד + פורמט מובנה</a:t>
            </a:r>
            <a:endParaRPr lang="en-US" sz="1100" dirty="0"/>
          </a:p>
        </p:txBody>
      </p:sp>
      <p:pic>
        <p:nvPicPr>
          <p:cNvPr id="12" name="Image 1" descr="./anthropic-structu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108960"/>
            <a:ext cx="5212080" cy="23317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57200" y="5669280"/>
            <a:ext cx="11247120" cy="64008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0"/>
          <p:cNvSpPr/>
          <p:nvPr/>
        </p:nvSpPr>
        <p:spPr>
          <a:xfrm>
            <a:off x="457200" y="56692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i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נאיבי: "קרתה תאונה."   ·   מובנה: "רכב B אשם - ביצע פנייה ופגע ברכב חונה."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הדוגמה המקורית מ-Anthropic, לפני כשנה. המודלים השתפרו מאז - בהמשך נראה איך זה נראה היום.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03  ·  המסגרת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מבנה פרומפט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i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טען הקשר מוקדם  ·  בקש מאוחר  ·  הגדר פלט בסוף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11247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1612880" y="1965960"/>
            <a:ext cx="91440" cy="38404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10515600" y="200253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0" y="200253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הקשר וזהות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45920" y="200253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context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95728"/>
            <a:ext cx="11247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11612880" y="2395728"/>
            <a:ext cx="91440" cy="38404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10515600" y="243230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0" y="243230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טון ותקשורת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45920" y="243230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Tone context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825496"/>
            <a:ext cx="11247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11612880" y="2825496"/>
            <a:ext cx="91440" cy="38404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10515600" y="286207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29200" y="2862072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רקע: נתונים, מסמכים, תמונות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45920" y="286207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 data, docs, images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255264"/>
            <a:ext cx="11247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Shape 19"/>
          <p:cNvSpPr/>
          <p:nvPr/>
        </p:nvSpPr>
        <p:spPr>
          <a:xfrm>
            <a:off x="11612880" y="3255264"/>
            <a:ext cx="91440" cy="38404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Text 20"/>
          <p:cNvSpPr/>
          <p:nvPr/>
        </p:nvSpPr>
        <p:spPr>
          <a:xfrm>
            <a:off x="10515600" y="329184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029200" y="329184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תיאור מפורט וחוקים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645920" y="329184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Detailed task description &amp; rules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685032"/>
            <a:ext cx="11247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Shape 24"/>
          <p:cNvSpPr/>
          <p:nvPr/>
        </p:nvSpPr>
        <p:spPr>
          <a:xfrm>
            <a:off x="11612880" y="3685032"/>
            <a:ext cx="91440" cy="38404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7" name="Text 25"/>
          <p:cNvSpPr/>
          <p:nvPr/>
        </p:nvSpPr>
        <p:spPr>
          <a:xfrm>
            <a:off x="10515600" y="372160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029200" y="3721608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דוגמאות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645920" y="372160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Examples (few-shot)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114800"/>
            <a:ext cx="11247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2B5"/>
            </a:solidFill>
            <a:prstDash val="dash"/>
          </a:ln>
        </p:spPr>
        <p:txBody>
          <a:bodyPr/>
          <a:lstStyle/>
          <a:p>
            <a:endParaRPr lang="en-IL"/>
          </a:p>
        </p:txBody>
      </p:sp>
      <p:sp>
        <p:nvSpPr>
          <p:cNvPr id="31" name="Shape 29"/>
          <p:cNvSpPr/>
          <p:nvPr/>
        </p:nvSpPr>
        <p:spPr>
          <a:xfrm>
            <a:off x="11612880" y="4114800"/>
            <a:ext cx="91440" cy="384048"/>
          </a:xfrm>
          <a:prstGeom prst="rect">
            <a:avLst/>
          </a:prstGeom>
          <a:solidFill>
            <a:srgbClr val="C9C2B5"/>
          </a:solidFill>
          <a:ln w="12700">
            <a:solidFill>
              <a:srgbClr val="C9C2B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2" name="Text 30"/>
          <p:cNvSpPr/>
          <p:nvPr/>
        </p:nvSpPr>
        <p:spPr>
          <a:xfrm>
            <a:off x="10515600" y="415137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5C56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029200" y="415137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היסטוריית שיחה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645920" y="41513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Conversation history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4360" y="4151376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b="1" kern="0" spc="1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אופציונלי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4544568"/>
            <a:ext cx="11247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7" name="Shape 35"/>
          <p:cNvSpPr/>
          <p:nvPr/>
        </p:nvSpPr>
        <p:spPr>
          <a:xfrm>
            <a:off x="11612880" y="4544568"/>
            <a:ext cx="91440" cy="38404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8" name="Text 36"/>
          <p:cNvSpPr/>
          <p:nvPr/>
        </p:nvSpPr>
        <p:spPr>
          <a:xfrm>
            <a:off x="10515600" y="458114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029200" y="458114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המשימה המיידית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645920" y="458114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Immediate task / request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4974336"/>
            <a:ext cx="11247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2B5"/>
            </a:solidFill>
            <a:prstDash val="dash"/>
          </a:ln>
        </p:spPr>
        <p:txBody>
          <a:bodyPr/>
          <a:lstStyle/>
          <a:p>
            <a:endParaRPr lang="en-IL"/>
          </a:p>
        </p:txBody>
      </p:sp>
      <p:sp>
        <p:nvSpPr>
          <p:cNvPr id="42" name="Shape 40"/>
          <p:cNvSpPr/>
          <p:nvPr/>
        </p:nvSpPr>
        <p:spPr>
          <a:xfrm>
            <a:off x="11612880" y="4974336"/>
            <a:ext cx="91440" cy="384048"/>
          </a:xfrm>
          <a:prstGeom prst="rect">
            <a:avLst/>
          </a:prstGeom>
          <a:solidFill>
            <a:srgbClr val="C9C2B5"/>
          </a:solidFill>
          <a:ln w="12700">
            <a:solidFill>
              <a:srgbClr val="C9C2B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3" name="Text 41"/>
          <p:cNvSpPr/>
          <p:nvPr/>
        </p:nvSpPr>
        <p:spPr>
          <a:xfrm>
            <a:off x="10515600" y="501091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5C56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029200" y="5010912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חשיבה צעד-אחר-צעד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1645920" y="501091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Think step by step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94360" y="501091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b="1" kern="0" spc="1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אופציונלי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" y="5404104"/>
            <a:ext cx="11247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8" name="Shape 46"/>
          <p:cNvSpPr/>
          <p:nvPr/>
        </p:nvSpPr>
        <p:spPr>
          <a:xfrm>
            <a:off x="11612880" y="5404104"/>
            <a:ext cx="91440" cy="38404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9" name="Text 47"/>
          <p:cNvSpPr/>
          <p:nvPr/>
        </p:nvSpPr>
        <p:spPr>
          <a:xfrm>
            <a:off x="10515600" y="544068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5029200" y="544068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פורמט הפלט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1645920" y="544068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formatting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7200" y="5833872"/>
            <a:ext cx="11247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2B5"/>
            </a:solidFill>
            <a:prstDash val="dash"/>
          </a:ln>
        </p:spPr>
        <p:txBody>
          <a:bodyPr/>
          <a:lstStyle/>
          <a:p>
            <a:endParaRPr lang="en-IL"/>
          </a:p>
        </p:txBody>
      </p:sp>
      <p:sp>
        <p:nvSpPr>
          <p:cNvPr id="53" name="Shape 51"/>
          <p:cNvSpPr/>
          <p:nvPr/>
        </p:nvSpPr>
        <p:spPr>
          <a:xfrm>
            <a:off x="11612880" y="5833872"/>
            <a:ext cx="91440" cy="384048"/>
          </a:xfrm>
          <a:prstGeom prst="rect">
            <a:avLst/>
          </a:prstGeom>
          <a:solidFill>
            <a:srgbClr val="C9C2B5"/>
          </a:solidFill>
          <a:ln w="12700">
            <a:solidFill>
              <a:srgbClr val="C9C2B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4" name="Text 52"/>
          <p:cNvSpPr/>
          <p:nvPr/>
        </p:nvSpPr>
        <p:spPr>
          <a:xfrm>
            <a:off x="10515600" y="587044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5C56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5029200" y="5870448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תחילת תגובה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1645920" y="587044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Prefilled response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94360" y="587044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b="1" kern="0" spc="1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אופציונלי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יסודות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03  ·  בקוד  ·  פרומפט נאיבי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אותו קוד. שאלה רגילה.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217920" y="1691640"/>
            <a:ext cx="5486400" cy="4572000"/>
          </a:xfrm>
          <a:prstGeom prst="rect">
            <a:avLst/>
          </a:prstGeom>
          <a:solidFill>
            <a:srgbClr val="1A1814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6355080" y="17830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1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הפרומפט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355080" y="20574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"what does this code do?"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55080" y="26060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1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הקוד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55080" y="2926080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purchase_item(user_id, item_id):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355080" y="3172968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item = db.query(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355080" y="3419856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"SELECT * FROM items WHERE id=?",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55080" y="3666744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item_id)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355080" y="3913632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item.stock &gt; 0: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55080" y="4160520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db.execute(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55080" y="4407408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"UPDATE items SET stock=stock-1"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55080" y="4654296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 WHERE id=?", item_id)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55080" y="4901184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db.execute(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55080" y="5148072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"INSERT INTO orders ...")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55080" y="5394960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{"success": True}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55080" y="5641848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{"success": False}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1691640"/>
            <a:ext cx="5486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594360" y="17830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1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התשובה  ·  139 טוקנים</a:t>
            </a:r>
            <a:endParaRPr lang="en-US" sz="1100" dirty="0"/>
          </a:p>
        </p:txBody>
      </p:sp>
      <p:pic>
        <p:nvPicPr>
          <p:cNvPr id="22" name="Image 0" descr="./code-naive-respo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103120"/>
            <a:ext cx="5212080" cy="406908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יסודות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03  ·  בקוד  ·  פרומפט מובנה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אותו קוד. עבודה אחרת.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217920" y="1691640"/>
            <a:ext cx="5486400" cy="4572000"/>
          </a:xfrm>
          <a:prstGeom prst="rect">
            <a:avLst/>
          </a:prstGeom>
          <a:solidFill>
            <a:srgbClr val="26221C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6355080" y="17830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1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הפרומפט המובנה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355080" y="210312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תפקיד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355080" y="233172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application security engineer, 10+ years.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55080" y="265176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טון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355080" y="288036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Direct, decisive. Name it. Don't soften.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55080" y="320040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הקשר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55080" y="342900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Pre-merge review. Public-facing production.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55080" y="374904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חוקים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55080" y="397764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by exploitability. Don't manufacture findings. Don't describe.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55080" y="42976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דוגמה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55080" y="45262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Format: [VERDICT] / [FINDINGS] / [NOTES].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55080" y="484632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משימה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55080" y="507492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and produce the report.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55080" y="539496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 פלט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55080" y="562356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text, exactly as shown. Start with [VERDICT].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1691640"/>
            <a:ext cx="5486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594360" y="17830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1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התשובה  ·  675 טוקנים</a:t>
            </a:r>
            <a:endParaRPr lang="en-US" sz="1100" dirty="0"/>
          </a:p>
        </p:txBody>
      </p:sp>
      <p:pic>
        <p:nvPicPr>
          <p:cNvPr id="22" name="Image 0" descr="./code-structured-respo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103120"/>
            <a:ext cx="5212080" cy="406908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יסודות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03  ·  המסקנה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מידע מול החלטה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הלקח האמיתי - כי הבאג נמצא בשני המקרים.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5486400" cy="3108960"/>
          </a:xfrm>
          <a:prstGeom prst="rect">
            <a:avLst/>
          </a:prstGeom>
          <a:solidFill>
            <a:srgbClr val="1A1814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2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Verdict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החלטה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3429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פרומפט מובנה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[VERDICT] BLOCK MERGE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5993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27939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מספרי שורה. דירוג חומרה.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449884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תיאור התקיפה. תיקון בקוד מוכן.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71830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493776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אפשר להעתיק ל-PR review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515721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אפשר לפעול עליו עכשיו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2286000"/>
            <a:ext cx="54864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6492240" y="2560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Information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28346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מידע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492240" y="3429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פרומפט נאיבי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384048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"יש race condition פוטנציאלי..."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405993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427939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תיאור הבעיה. הצעות כלליות.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0" y="449884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"השתמש ב-transactions או locks."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92240" y="471830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92240" y="493776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הסטודנט עוד צריך לחקור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515721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עוד לא מוכן לעבודה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5623560"/>
            <a:ext cx="11247120" cy="77724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Text 26"/>
          <p:cNvSpPr/>
          <p:nvPr/>
        </p:nvSpPr>
        <p:spPr>
          <a:xfrm>
            <a:off x="640080" y="56875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המודל יודע. השאלה היא מה אתה יכול לעשות עם התשובה.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40080" y="6035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i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פרומפט הוא ההבדל בין AI שחושב איתך לבין AI שמספק עבודה. שניהם שימושיים. רק אחד דורש מבנה.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יסודות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03  ·  תרגול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התור שלכם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דקות. שני פרומפטים. דווחו על ההבדל.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0927080" y="2450592"/>
            <a:ext cx="411480" cy="41148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10927080" y="2450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0" y="24048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פתחו את Anthropic Console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67919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console.anthropic.com → Workbench. Sonnet 4. Temperature 0.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10927080" y="3227832"/>
            <a:ext cx="411480" cy="41148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10927080" y="3227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0" y="31821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השתמשו בקוד הזה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4564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אתם תקבלו קוד עם באג ב-Slack. אותו קוד לשתי הריצות.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10927080" y="4005072"/>
            <a:ext cx="411480" cy="41148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10927080" y="4005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0" y="39593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ריצה ראשונה - נאיבית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42336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פרומפט: "what does this code do?" - צילום מסך של הפלט.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617720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Shape 19"/>
          <p:cNvSpPr/>
          <p:nvPr/>
        </p:nvSpPr>
        <p:spPr>
          <a:xfrm>
            <a:off x="10927080" y="4782312"/>
            <a:ext cx="411480" cy="41148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Text 20"/>
          <p:cNvSpPr/>
          <p:nvPr/>
        </p:nvSpPr>
        <p:spPr>
          <a:xfrm>
            <a:off x="10927080" y="4782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0" y="47365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ריצה שנייה - מובנה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50109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השתמשו במסגרת בת 10 הרכיבים. תפקיד: code reviewer. פלט: VERDICT + FINDINGS.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5394960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Shape 24"/>
          <p:cNvSpPr/>
          <p:nvPr/>
        </p:nvSpPr>
        <p:spPr>
          <a:xfrm>
            <a:off x="10927080" y="5559552"/>
            <a:ext cx="411480" cy="41148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7" name="Text 25"/>
          <p:cNvSpPr/>
          <p:nvPr/>
        </p:nvSpPr>
        <p:spPr>
          <a:xfrm>
            <a:off x="10927080" y="5559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943600" y="55138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השוו וחזרו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" y="578815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ההבדל? איזה פלט אתם הייתם מדביקים ל-PR? נחזור על זה יחד.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יסודות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2743200"/>
            <a:ext cx="1371600" cy="1371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457200" y="2697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kern="0" spc="6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5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סיכום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הלאה.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04  ·  המפגש הבא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במפגש הבא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מההיסודות לבנייה. SaaS אמיתי, מ-/init ועד deploy.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217920" y="2377440"/>
            <a:ext cx="5486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1612880" y="2377440"/>
            <a:ext cx="91440" cy="15544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6446520" y="2606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המוצר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46520" y="31546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FixSlot - עמוד הזמנת תורים. נגדיר scope, נחליט מה לא בונים.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5486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Shape 8"/>
          <p:cNvSpPr/>
          <p:nvPr/>
        </p:nvSpPr>
        <p:spPr>
          <a:xfrm>
            <a:off x="5852160" y="2377440"/>
            <a:ext cx="91440" cy="15544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685800" y="2606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ארכיטקטורה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85800" y="31546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Next.js, Vercel, Supabase, PayPlus - ולמה דווקא הם.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4160520"/>
            <a:ext cx="5486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Shape 12"/>
          <p:cNvSpPr/>
          <p:nvPr/>
        </p:nvSpPr>
        <p:spPr>
          <a:xfrm>
            <a:off x="11612880" y="4160520"/>
            <a:ext cx="91440" cy="15544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/>
          <p:nvPr/>
        </p:nvSpPr>
        <p:spPr>
          <a:xfrm>
            <a:off x="6446520" y="4389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מודל וחשיבה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46520" y="49377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 vs Opus. think → ultrathink. plan mode מול thinking.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160520"/>
            <a:ext cx="5486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Shape 16"/>
          <p:cNvSpPr/>
          <p:nvPr/>
        </p:nvSpPr>
        <p:spPr>
          <a:xfrm>
            <a:off x="5852160" y="4160520"/>
            <a:ext cx="91440" cy="15544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685800" y="4389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בנייה חיה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5800" y="49377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 דקות של קוד אמיתי. מ-CLAUDE.md ועד deploy ב-Vercel.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יסודות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04  ·  לקחים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לקחת הביתה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11338560" y="1874520"/>
            <a:ext cx="365760" cy="36576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1133856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חי בטרמינל. הוא לא רק עוזר - הוא סוכן שמבצע.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1338560" y="2587752"/>
            <a:ext cx="365760" cy="36576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11338560" y="2587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58775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ראשון. הוא הבסיס לכל סשן - וההשקעה היחידה שמצטברת.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1338560" y="3300984"/>
            <a:ext cx="365760" cy="36576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11338560" y="3300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300984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הם פרדיגמת עבודה. UI, code review, security audit - והם משלכם.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1338560" y="4014216"/>
            <a:ext cx="365760" cy="36576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11338560" y="4014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014216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מבנה פרומפט יציב: הקשר → רקע → חוקים → דוגמאות → משימה → פורמט.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338560" y="4727448"/>
            <a:ext cx="365760" cy="36576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11338560" y="4727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727448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המודל יודע. השאלה היא איזה פלט אתה יכול להעתיק לעבודה אמיתית.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1338560" y="5440680"/>
            <a:ext cx="365760" cy="36576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Text 18"/>
          <p:cNvSpPr/>
          <p:nvPr/>
        </p:nvSpPr>
        <p:spPr>
          <a:xfrm>
            <a:off x="11338560" y="5440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54406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פרומפט הוא ההבדל בין מידע להחלטה.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יסודות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3657600"/>
            <a:ext cx="5486400" cy="54864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Shape 1"/>
          <p:cNvSpPr/>
          <p:nvPr/>
        </p:nvSpPr>
        <p:spPr>
          <a:xfrm>
            <a:off x="-914400" y="-1828800"/>
            <a:ext cx="3657600" cy="3657600"/>
          </a:xfrm>
          <a:prstGeom prst="ellipse">
            <a:avLst/>
          </a:prstGeom>
          <a:solidFill>
            <a:srgbClr val="B85F44"/>
          </a:solidFill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1887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שאלות?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457200" y="3931920"/>
            <a:ext cx="1188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4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בואו נדבר.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23560" y="5029200"/>
            <a:ext cx="914400" cy="0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457200" y="5212080"/>
            <a:ext cx="1188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טל גורביץ׳  ·  errn.io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2532</Words>
  <Application>Microsoft Macintosh PowerPoint</Application>
  <PresentationFormat>Widescreen</PresentationFormat>
  <Paragraphs>537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Aptos</vt:lpstr>
      <vt:lpstr>Aptos Display</vt:lpstr>
      <vt:lpstr>Arial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- יסודות</dc:title>
  <dc:subject>PptxGenJS Presentation</dc:subject>
  <dc:creator>טל גורביץ׳</dc:creator>
  <cp:lastModifiedBy>טל גורביץ - מנהל אדמניסטרטיבי, Ofektech</cp:lastModifiedBy>
  <cp:revision>10</cp:revision>
  <dcterms:created xsi:type="dcterms:W3CDTF">2026-05-03T12:13:43Z</dcterms:created>
  <dcterms:modified xsi:type="dcterms:W3CDTF">2026-05-07T11:40:54Z</dcterms:modified>
</cp:coreProperties>
</file>