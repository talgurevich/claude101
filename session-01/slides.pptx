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63" r:id="rId1"/>
  </p:sldMasterIdLst>
  <p:notesMasterIdLst>
    <p:notesMasterId r:id="rId34"/>
  </p:notesMasterIdLst>
  <p:sldIdLst>
    <p:sldId id="256" r:id="rId2"/>
    <p:sldId id="289" r:id="rId3"/>
    <p:sldId id="288" r:id="rId4"/>
    <p:sldId id="257" r:id="rId5"/>
    <p:sldId id="258" r:id="rId6"/>
    <p:sldId id="259" r:id="rId7"/>
    <p:sldId id="260" r:id="rId8"/>
    <p:sldId id="286" r:id="rId9"/>
    <p:sldId id="287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84" r:id="rId19"/>
    <p:sldId id="285" r:id="rId20"/>
    <p:sldId id="271" r:id="rId21"/>
    <p:sldId id="272" r:id="rId22"/>
    <p:sldId id="273" r:id="rId23"/>
    <p:sldId id="275" r:id="rId24"/>
    <p:sldId id="274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x="12192000" cy="6858000"/>
  <p:notesSz cx="6858000" cy="12192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69"/>
    <p:restoredTop sz="94610"/>
  </p:normalViewPr>
  <p:slideViewPr>
    <p:cSldViewPr snapToGrid="0" snapToObjects="1">
      <p:cViewPr varScale="1">
        <p:scale>
          <a:sx n="166" d="100"/>
          <a:sy n="166" d="100"/>
        </p:scale>
        <p:origin x="200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8801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DBEDC-90A1-9B41-0C51-64EDF9F73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21FA8B-6F34-D08D-046E-6E903DEAB1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C3BD2-EB39-291A-DEBF-F73B184F5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62AE0-6C92-FE9D-0A6B-E9F048640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D77D6-74C1-1851-E480-1DB62720A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66030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D0880-C1A6-D29B-3DC6-1E7A42724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C8AD0-0D3F-50EC-F690-76336EDB3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D7C8A-D9C4-9353-864D-60B29A67E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B6EA3-F076-1E5E-0456-C064B2789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5D24-79D6-2BB7-8CAB-DBE90D97F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90124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1340F-6F64-F7C5-9B94-C3D35CE33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4C884-8D0E-F377-555B-FB97591C9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79DEE-105C-66B5-F037-BF9E102DF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A5353-5DED-F416-3AFB-9768AA48E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02E2D-28C0-4B26-17D2-0D21DD9ED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38700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CDED-2150-B934-B52C-AC859184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B9D8F-C3EB-23CC-CB02-8AA0D8A3F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221313-1F95-A195-8C83-9E0ED49710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95136-C2CE-3F61-3921-1AAA43A4A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F7B5A-C285-CEC6-9DE9-3AC8C0B0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4C46D6-BA2F-6FDE-B520-8747703DF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100438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F803D-92B5-2AB6-D083-B6DD937D7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E4535-388C-F56A-5A00-26E2AFE98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3016B-9717-6712-418F-05180CF698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8BE39-99C2-AA33-1AD0-00E74F12B5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C24A14-E1FF-0EEC-D6A7-B675C8C40B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0C9AA2-97AE-E1F0-953D-AF84A3BA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30E73C-CA40-B3C7-2FF2-2FEB77264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E53F84-9311-F99B-5D95-33FE115AB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13181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E1CD0-FAA0-192A-A045-499309BB3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C2044A-5E92-8499-9485-9FA8CF824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3A7B4B-BF9B-C081-3B14-69B421D4A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51F545-6D20-6603-C744-696CA18B9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69590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B3E5D3-3764-F906-6C9E-EC6EC6CB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67D418-0F1E-455E-186A-5665EE9B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25D53-1096-3C64-3AD9-0F656599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87985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7752C-73B5-3BD3-41DE-FEFE592F6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65FA2-7842-2791-D3FE-7960E55D5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E72D9E-8EEE-AE53-2342-D2E307F343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1CE0B0-9C0A-075A-15C8-3F6780E1E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0C933B-7754-AA61-D61C-7C64ED14D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95EB3-AD53-DB05-9510-116DA4843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936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8F473-919B-B71E-B817-937D8B44F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48A286-5782-994C-10BD-F58C9642BA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B71FA-E8DE-A5B1-D969-E9381980D4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828C3-8037-E703-567C-B07D141E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57AD9B-E1B2-E9AC-FA25-7613848E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74D3D-363D-29D2-3DD2-AD3637FA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70387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E290B-0A8C-F553-DF61-DC9A370F5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6768A-400E-EFF8-3D53-BD1148379B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52344-6F82-5E68-831B-6EB66CFD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F1093-636F-D1CB-B1F6-939C65733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CC33F-F063-BF94-1B9B-5CA78F857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08405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BCE9BB-C2D1-2421-3C46-4F4FC1879C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D1B3CE-9B3B-FB9A-7545-992F4C1289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E7DA0C-1D58-9ED0-CBB3-12C393439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AF1D5-92FA-F6F4-AC7C-F7421000C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147CD-6613-33C7-A9B2-82D03901B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81319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9005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B6026-5410-A9BA-557A-24BA8A329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92064-E2C4-085D-E59B-B9FF18ADF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A5C48-A68D-4AC6-94C3-780E3E59CB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5/7/26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CCDE0-5F91-0E14-5440-4E799B5F4F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EB4D9-7C7B-319B-B92B-0710484AD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105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JP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91440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640080" y="4572000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114800" y="1463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8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371600" y="3383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יסודות, כלים, והנחיה.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607040" y="5029200"/>
            <a:ext cx="109728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43891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389120" y="5623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מוביל מוצר  ·  errn.io  ·  אופקטק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7405" y="802013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נעים מאוד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748334" y="50297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6000" dirty="0"/>
          </a:p>
        </p:txBody>
      </p:sp>
      <p:pic>
        <p:nvPicPr>
          <p:cNvPr id="7" name="Image 0" descr="logos/augu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52238" y="4840709"/>
            <a:ext cx="616804" cy="640080"/>
          </a:xfrm>
          <a:prstGeom prst="rect">
            <a:avLst/>
          </a:prstGeom>
        </p:spPr>
      </p:pic>
      <p:pic>
        <p:nvPicPr>
          <p:cNvPr id="12" name="Image 1" descr="logos/wewor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58549" y="5006548"/>
            <a:ext cx="1251065" cy="308402"/>
          </a:xfrm>
          <a:prstGeom prst="rect">
            <a:avLst/>
          </a:prstGeom>
        </p:spPr>
      </p:pic>
      <p:pic>
        <p:nvPicPr>
          <p:cNvPr id="17" name="Image 2" descr="logos/conduit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858549" y="4089959"/>
            <a:ext cx="1341372" cy="25033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" y="31089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defTabSz="914400" rtl="0" eaLnBrk="1" latinLnBrk="0" hangingPunct="1">
              <a:buNone/>
            </a:pPr>
            <a:endParaRPr lang="en-US" sz="3200" dirty="0"/>
          </a:p>
        </p:txBody>
      </p:sp>
      <p:sp>
        <p:nvSpPr>
          <p:cNvPr id="27" name="Text 22"/>
          <p:cNvSpPr/>
          <p:nvPr/>
        </p:nvSpPr>
        <p:spPr>
          <a:xfrm>
            <a:off x="10515600" y="58750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היום</a:t>
            </a:r>
            <a:endParaRPr lang="en-US" sz="1200" b="1" dirty="0"/>
          </a:p>
        </p:txBody>
      </p:sp>
      <p:sp>
        <p:nvSpPr>
          <p:cNvPr id="29" name="Text 24"/>
          <p:cNvSpPr/>
          <p:nvPr/>
        </p:nvSpPr>
        <p:spPr>
          <a:xfrm>
            <a:off x="457200" y="59893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tal.gurevich@gmail.com  ·  linkedin.com/in/talgurevich  ·  errn.io</a:t>
            </a:r>
            <a:endParaRPr lang="en-US" sz="1200" dirty="0"/>
          </a:p>
        </p:txBody>
      </p:sp>
      <p:pic>
        <p:nvPicPr>
          <p:cNvPr id="1026" name="Picture 2" descr="OfekTech">
            <a:extLst>
              <a:ext uri="{FF2B5EF4-FFF2-40B4-BE49-F238E27FC236}">
                <a16:creationId xmlns:a16="http://schemas.microsoft.com/office/drawing/2014/main" id="{B89F0856-55BD-CADF-915D-BE54CAFF8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640" y="2252163"/>
            <a:ext cx="2335792" cy="615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 22">
            <a:extLst>
              <a:ext uri="{FF2B5EF4-FFF2-40B4-BE49-F238E27FC236}">
                <a16:creationId xmlns:a16="http://schemas.microsoft.com/office/drawing/2014/main" id="{05DC013C-3205-CAC0-03BE-D0DB8B25F28C}"/>
              </a:ext>
            </a:extLst>
          </p:cNvPr>
          <p:cNvSpPr/>
          <p:nvPr/>
        </p:nvSpPr>
        <p:spPr>
          <a:xfrm>
            <a:off x="10088628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מוצר</a:t>
            </a:r>
            <a:endParaRPr lang="en-US" sz="1200" dirty="0"/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CA126DDB-5F8C-4341-F9C3-7886B53F95E7}"/>
              </a:ext>
            </a:extLst>
          </p:cNvPr>
          <p:cNvSpPr/>
          <p:nvPr/>
        </p:nvSpPr>
        <p:spPr>
          <a:xfrm>
            <a:off x="10088628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עסקי</a:t>
            </a:r>
            <a:endParaRPr lang="en-US" sz="1200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BE49B59F-1A9A-06A0-44DF-BF8B45B3AF28}"/>
              </a:ext>
            </a:extLst>
          </p:cNvPr>
          <p:cNvSpPr/>
          <p:nvPr/>
        </p:nvSpPr>
        <p:spPr>
          <a:xfrm>
            <a:off x="10112433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יזם</a:t>
            </a:r>
            <a:endParaRPr lang="en-US" sz="1200" dirty="0"/>
          </a:p>
        </p:txBody>
      </p:sp>
      <p:pic>
        <p:nvPicPr>
          <p:cNvPr id="1030" name="Picture 6" descr="Matomy Media Group 2026 Company Profile: Stock Performance &amp; Earnings |  PitchBook">
            <a:extLst>
              <a:ext uri="{FF2B5EF4-FFF2-40B4-BE49-F238E27FC236}">
                <a16:creationId xmlns:a16="http://schemas.microsoft.com/office/drawing/2014/main" id="{96414BEA-4789-EFAC-98A6-A561D540F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283" y="3663152"/>
            <a:ext cx="1132840" cy="113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 22">
            <a:extLst>
              <a:ext uri="{FF2B5EF4-FFF2-40B4-BE49-F238E27FC236}">
                <a16:creationId xmlns:a16="http://schemas.microsoft.com/office/drawing/2014/main" id="{500E6E37-09A9-27F2-F7FA-408087BE73A7}"/>
              </a:ext>
            </a:extLst>
          </p:cNvPr>
          <p:cNvSpPr/>
          <p:nvPr/>
        </p:nvSpPr>
        <p:spPr>
          <a:xfrm>
            <a:off x="5531742" y="2978356"/>
            <a:ext cx="36681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הרבה לוגואים של כישלונות נפלאים</a:t>
            </a:r>
            <a:endParaRPr lang="en-US" sz="1200" dirty="0"/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2B181159-D4B5-D088-4D35-E10920BA8282}"/>
              </a:ext>
            </a:extLst>
          </p:cNvPr>
          <p:cNvSpPr/>
          <p:nvPr/>
        </p:nvSpPr>
        <p:spPr>
          <a:xfrm>
            <a:off x="10112433" y="2249858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תכנית</a:t>
            </a:r>
            <a:endParaRPr lang="en-US" sz="1200" dirty="0"/>
          </a:p>
        </p:txBody>
      </p:sp>
      <p:sp>
        <p:nvSpPr>
          <p:cNvPr id="35" name="Text 22">
            <a:extLst>
              <a:ext uri="{FF2B5EF4-FFF2-40B4-BE49-F238E27FC236}">
                <a16:creationId xmlns:a16="http://schemas.microsoft.com/office/drawing/2014/main" id="{008C7008-32EB-FA9C-448E-351BA1FA029A}"/>
              </a:ext>
            </a:extLst>
          </p:cNvPr>
          <p:cNvSpPr/>
          <p:nvPr/>
        </p:nvSpPr>
        <p:spPr>
          <a:xfrm>
            <a:off x="3010114" y="2163147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אבא</a:t>
            </a:r>
            <a:endParaRPr lang="en-US" sz="1200" dirty="0"/>
          </a:p>
        </p:txBody>
      </p:sp>
      <p:pic>
        <p:nvPicPr>
          <p:cNvPr id="37" name="Picture 36" descr="A child with long hair&#10;&#10;AI-generated content may be incorrect.">
            <a:extLst>
              <a:ext uri="{FF2B5EF4-FFF2-40B4-BE49-F238E27FC236}">
                <a16:creationId xmlns:a16="http://schemas.microsoft.com/office/drawing/2014/main" id="{E16C23B0-5DB0-1234-D346-8D412A36125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1186" t="26609" r="24213"/>
          <a:stretch>
            <a:fillRect/>
          </a:stretch>
        </p:blipFill>
        <p:spPr>
          <a:xfrm>
            <a:off x="1535663" y="2163147"/>
            <a:ext cx="714290" cy="640080"/>
          </a:xfrm>
          <a:prstGeom prst="rect">
            <a:avLst/>
          </a:prstGeom>
          <a:solidFill>
            <a:schemeClr val="tx1">
              <a:alpha val="61639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9" name="Text 22">
            <a:extLst>
              <a:ext uri="{FF2B5EF4-FFF2-40B4-BE49-F238E27FC236}">
                <a16:creationId xmlns:a16="http://schemas.microsoft.com/office/drawing/2014/main" id="{619B0D46-5105-EF56-E738-08963B22BC8B}"/>
              </a:ext>
            </a:extLst>
          </p:cNvPr>
          <p:cNvSpPr/>
          <p:nvPr/>
        </p:nvSpPr>
        <p:spPr>
          <a:xfrm>
            <a:off x="2947130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ספורט</a:t>
            </a:r>
            <a:endParaRPr lang="en-US" sz="1200" dirty="0"/>
          </a:p>
        </p:txBody>
      </p:sp>
      <p:pic>
        <p:nvPicPr>
          <p:cNvPr id="1032" name="Picture 8" descr="Ironman Logo, symbol, meaning, history, PNG, brand">
            <a:extLst>
              <a:ext uri="{FF2B5EF4-FFF2-40B4-BE49-F238E27FC236}">
                <a16:creationId xmlns:a16="http://schemas.microsoft.com/office/drawing/2014/main" id="{F22961B9-FC7D-6913-25C8-EC33ADD19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92" y="2803227"/>
            <a:ext cx="1544318" cy="86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 22">
            <a:extLst>
              <a:ext uri="{FF2B5EF4-FFF2-40B4-BE49-F238E27FC236}">
                <a16:creationId xmlns:a16="http://schemas.microsoft.com/office/drawing/2014/main" id="{1DD60678-D838-7F15-5AA0-A13781C4782C}"/>
              </a:ext>
            </a:extLst>
          </p:cNvPr>
          <p:cNvSpPr/>
          <p:nvPr/>
        </p:nvSpPr>
        <p:spPr>
          <a:xfrm>
            <a:off x="2947130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צבא ומילואים</a:t>
            </a:r>
            <a:endParaRPr lang="en-US" sz="1200" dirty="0"/>
          </a:p>
        </p:txBody>
      </p:sp>
      <p:pic>
        <p:nvPicPr>
          <p:cNvPr id="48" name="Picture 47" descr="A metal bird with wings&#10;&#10;AI-generated content may be incorrect.">
            <a:extLst>
              <a:ext uri="{FF2B5EF4-FFF2-40B4-BE49-F238E27FC236}">
                <a16:creationId xmlns:a16="http://schemas.microsoft.com/office/drawing/2014/main" id="{BA75C48D-EF35-E443-018F-68807105F4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0703" y="3542133"/>
            <a:ext cx="1039430" cy="1385907"/>
          </a:xfrm>
          <a:prstGeom prst="rect">
            <a:avLst/>
          </a:prstGeom>
        </p:spPr>
      </p:pic>
      <p:pic>
        <p:nvPicPr>
          <p:cNvPr id="50" name="Picture 49" descr="A close-up of a bar&#10;&#10;AI-generated content may be incorrect.">
            <a:extLst>
              <a:ext uri="{FF2B5EF4-FFF2-40B4-BE49-F238E27FC236}">
                <a16:creationId xmlns:a16="http://schemas.microsoft.com/office/drawing/2014/main" id="{83F4D905-EA22-5C8F-2385-0B2F2BA414A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96830" y="3864507"/>
            <a:ext cx="1097279" cy="1463039"/>
          </a:xfrm>
          <a:prstGeom prst="rect">
            <a:avLst/>
          </a:prstGeom>
        </p:spPr>
      </p:pic>
      <p:pic>
        <p:nvPicPr>
          <p:cNvPr id="52" name="Picture 51" descr="A silver emblem with wings&#10;&#10;AI-generated content may be incorrect.">
            <a:extLst>
              <a:ext uri="{FF2B5EF4-FFF2-40B4-BE49-F238E27FC236}">
                <a16:creationId xmlns:a16="http://schemas.microsoft.com/office/drawing/2014/main" id="{C3BA6DE2-67FB-08A4-635E-19B8688903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64250" y="3525238"/>
            <a:ext cx="1009222" cy="1345630"/>
          </a:xfrm>
          <a:prstGeom prst="rect">
            <a:avLst/>
          </a:prstGeom>
        </p:spPr>
      </p:pic>
      <p:pic>
        <p:nvPicPr>
          <p:cNvPr id="54" name="Picture 53" descr="A paper with an ultrasound image&#10;&#10;AI-generated content may be incorrect.">
            <a:extLst>
              <a:ext uri="{FF2B5EF4-FFF2-40B4-BE49-F238E27FC236}">
                <a16:creationId xmlns:a16="http://schemas.microsoft.com/office/drawing/2014/main" id="{05EC7E0B-BE03-971B-C0FB-0E98169478A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20954" r="11302" b="17660"/>
          <a:stretch>
            <a:fillRect/>
          </a:stretch>
        </p:blipFill>
        <p:spPr>
          <a:xfrm>
            <a:off x="579415" y="2209007"/>
            <a:ext cx="717415" cy="606579"/>
          </a:xfrm>
          <a:prstGeom prst="rect">
            <a:avLst/>
          </a:prstGeom>
        </p:spPr>
      </p:pic>
      <p:sp>
        <p:nvSpPr>
          <p:cNvPr id="55" name="Text 22">
            <a:extLst>
              <a:ext uri="{FF2B5EF4-FFF2-40B4-BE49-F238E27FC236}">
                <a16:creationId xmlns:a16="http://schemas.microsoft.com/office/drawing/2014/main" id="{AA39C725-D074-FC88-34AE-9796A71EBB91}"/>
              </a:ext>
            </a:extLst>
          </p:cNvPr>
          <p:cNvSpPr/>
          <p:nvPr/>
        </p:nvSpPr>
        <p:spPr>
          <a:xfrm>
            <a:off x="2878034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לימודים</a:t>
            </a:r>
            <a:endParaRPr lang="en-US" sz="1200" dirty="0"/>
          </a:p>
        </p:txBody>
      </p:sp>
      <p:pic>
        <p:nvPicPr>
          <p:cNvPr id="1034" name="Picture 10" descr="Logo downloads and usage guidelines | University of Cambridge">
            <a:extLst>
              <a:ext uri="{FF2B5EF4-FFF2-40B4-BE49-F238E27FC236}">
                <a16:creationId xmlns:a16="http://schemas.microsoft.com/office/drawing/2014/main" id="{C9437301-729D-5AE2-78C8-66895040D0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606" y="4969891"/>
            <a:ext cx="575347" cy="575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ללמד את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Claude Code 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 לעניין </a:t>
            </a:r>
            <a:r>
              <a:rPr lang="he-IL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אתכם.ן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איום על המקצוע — שינוי במה שמייצר מהנדס מצוין.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97280" y="2331720"/>
            <a:ext cx="9692640" cy="3246120"/>
          </a:xfrm>
          <a:prstGeom prst="rect">
            <a:avLst/>
          </a:prstGeom>
          <a:solidFill>
            <a:srgbClr val="000000"/>
          </a:solidFill>
          <a:ln w="12700">
            <a:solidFill>
              <a:srgbClr val="2F333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716768" y="2331720"/>
            <a:ext cx="73152" cy="3246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463040" y="2743200"/>
            <a:ext cx="640080" cy="64008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4630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19456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Boris Cherny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29000" y="2834640"/>
            <a:ext cx="201168" cy="201168"/>
          </a:xfrm>
          <a:prstGeom prst="ellipse">
            <a:avLst/>
          </a:prstGeom>
          <a:solidFill>
            <a:srgbClr val="1D9BF0"/>
          </a:solidFill>
          <a:ln w="12700">
            <a:solidFill>
              <a:srgbClr val="1D9B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3429000" y="28163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3063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@bcherny  ·  אחד מבוני Claude Code ב-Anthropic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509760" y="2743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3611880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has to prompt the Claudes, talk to customers, coordinate with other teams, decide what to build next. Engineering is changing and great engineers are more important than ever.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507492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11:58 AM  ·  Feb 14, 2026  ·  801K Views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בוריס הוא מהמהנדסים שבונים את Claude Code עצמו. כשמי שבונה את הכלי אומר שמהנדסים מצוינים חשובים יותר מתמיד — זאת לא נחמה. זאת מפת דרכים: פחות הקלדת קוד, יותר שיפוט, ארכיטקטורה, מוצר, ותקשורת. בדיוק מה שצריך ללמד היום.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 ·  טל גורביץ׳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היום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607040" y="18288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114800" y="1874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דק׳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התקנה, סשנים, הרשאות, CLAUDE.md, פקודות slash.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07040" y="28803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1148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דק׳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UI, code review, security audit.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0" y="39319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114800" y="3977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דק׳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בת 10 רכיבים. דוגמה ויזואלית מ-Anthropic. תרגול עצמאי בקוד.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607040" y="49834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4114800" y="5029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ושאלות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5486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קורה במפגש הבא, takeaways, Q&amp;A.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 ותפעול בסיסי.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Claude Code?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קידוד אגנטי שחי בטרמינל - קורא את הקוד, עורך קבצים, מריץ פקודות ומשחרר פיצ׳רים.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743200"/>
            <a:ext cx="3566160" cy="3017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743200"/>
            <a:ext cx="109728" cy="3017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לולאת סוכן. מתכנן, עורך, מריץ, בודק. אתה סוקר.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0624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448056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/ Windsurf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ועריכות בתוך IDE. אתה עדיין מנהל.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3152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3152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בעורך. אתה מוביל כל שורה.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שלוש חוויות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נראה בפועל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רעיון - AI עוזר לקודד. שלושה form-factors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שונים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לחלוטין</a:t>
            </a:r>
            <a:r>
              <a:rPr lang="he-IL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מה שנקרא - 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822960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822960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33932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845820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857707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32104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calculateTotal(items) {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3264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total = 0;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21040" y="35570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(const item of items) {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+= item.price * item.qty;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21040" y="41788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44714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total;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21040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0749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to accept ↹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5196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443484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43484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454456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466344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478231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6126480" y="2834640"/>
            <a:ext cx="0" cy="2286000"/>
          </a:xfrm>
          <a:prstGeom prst="line">
            <a:avLst/>
          </a:prstGeom>
          <a:noFill/>
          <a:ln w="12700">
            <a:solidFill>
              <a:srgbClr val="3E3E4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526280" y="2971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login(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26280" y="3246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user, pass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26280" y="35204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26280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auth(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26280" y="40690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user,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26280" y="43434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pass);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26280" y="46177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17920" y="2880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63640" y="3154680"/>
            <a:ext cx="1463040" cy="502920"/>
          </a:xfrm>
          <a:prstGeom prst="rect">
            <a:avLst/>
          </a:prstGeom>
          <a:solidFill>
            <a:srgbClr val="37373D"/>
          </a:solidFill>
          <a:ln w="12700">
            <a:solidFill>
              <a:srgbClr val="37373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30936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input validation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263640" y="3749040"/>
            <a:ext cx="1463040" cy="91440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6309360" y="37947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I'll add Zod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 to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login...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263640" y="4800600"/>
            <a:ext cx="1463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309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⌘K  ask anything...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57200" y="2377440"/>
            <a:ext cx="365760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Shape 39"/>
          <p:cNvSpPr/>
          <p:nvPr/>
        </p:nvSpPr>
        <p:spPr>
          <a:xfrm>
            <a:off x="640080" y="2560320"/>
            <a:ext cx="3291840" cy="2560320"/>
          </a:xfrm>
          <a:prstGeom prst="rect">
            <a:avLst/>
          </a:prstGeom>
          <a:solidFill>
            <a:srgbClr val="0C0C0C"/>
          </a:solidFill>
          <a:ln w="12700">
            <a:solidFill>
              <a:srgbClr val="0C0C0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640080" y="2560320"/>
            <a:ext cx="3291840" cy="274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74980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Shape 42"/>
          <p:cNvSpPr/>
          <p:nvPr/>
        </p:nvSpPr>
        <p:spPr>
          <a:xfrm>
            <a:off x="86868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5" name="Shape 43"/>
          <p:cNvSpPr/>
          <p:nvPr/>
        </p:nvSpPr>
        <p:spPr>
          <a:xfrm>
            <a:off x="98755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731520" y="297180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68680" y="2971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1520" y="32918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add input validation to login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" y="36118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Reading login.ts...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1520" y="38130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Adding Zod schema...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31520" y="40142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Writing tests...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520" y="421538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31520" y="44165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Updated login.ts (+12)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31520" y="46177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Added login.test.ts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0467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804672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בתוך העורך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25196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425196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בפאנל לצד הקוד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572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45720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בטרמינל - מתכנן ומבצע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מושג מרכזי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Harness?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השכבה שבין המשתמש למודל - ולמה היא זאת שקובעת איך הסוכן מתנהג.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 משתמש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74320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10698480" cy="1645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kern="0" spc="4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 הריצה - מה בעצם רץ סביב המודל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897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2811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811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811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קבצים, shell, MCP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323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2237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237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237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נטען לפרומפט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749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51663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לולאה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לעצור, להמשיך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175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31089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1089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הרשאות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089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מותר לסוכן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01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10515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UX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515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515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/ IDE / chat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80760" y="466344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מודל  ·  Claude Sonnet / Opus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מוח. גוף אחר. תוצר אחר.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Harnesses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מודל,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הדגש לא על איכות. הדגש על התאמה לסוג העבודה - כל אחד חזק ב-form-factor אחר.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31720"/>
            <a:ext cx="3657600" cy="3931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832104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Anthropic-native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32104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321040" y="3566160"/>
            <a:ext cx="310896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32104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32104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+ IDE + Web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2104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קבצים מלאה, shell, MCP, sub-agents, hooks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· Auto · Thinking · Fast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 עד שעות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שלמות, agentic, סגירת לולאות אוטונומיות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781812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IDE-first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452628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452628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2628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של VS Code · chat + composer + tab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2628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2628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תחומה ל-workspace · שילוב חיפוש + indexing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2628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2628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· Composer · Tab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2628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2628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שניות עד דקות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2628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2628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עריכה תוך-זרימה, תיקונים מקומיים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402336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GitHub-native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73152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73152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text · chat · Workspace · agent mode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152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152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משתנה לפי מוצר · חזק ב-PR/issue flows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152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· Chat · Agent · Workspace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152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מיידי עד דקות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152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3152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אינליין, code review וטריאז׳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לא בוחרים harness לפי איכות, אלא לפי form-factor שמתאים למשימה.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Harnesses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מתחילים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התקנה. הזדהות. הרצה.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846320" y="1828800"/>
            <a:ext cx="6858000" cy="18288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120640" y="1965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(requires Node.js 18+)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2064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@anthropic-ai/claude-code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0" y="2788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in any project directory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הוא רץ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22402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(עיקרי)  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5603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extension  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JetBrains plugin  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claude.ai/code (web)  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204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דסקטופ  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11247120" cy="15544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594592" y="4114800"/>
            <a:ext cx="109728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הזדהות ראשונה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4617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אפשרויות: להיכנס עם מנוי Claude.ai Pro/Max (הנפוץ), או להשתמש ב-API key של Anthropic לשימוש לפי תשלום. ה-CLI מעביר אותך תהליך OAuth בהרצה ראשונה.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סשנים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ההקשר הוא הכל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סשן יש חלון הקשר. נהל אותו בכוונה - או שלם בעלות ובאיכות.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9144000" y="26334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מנקה את ההקשר ופותח מחדש. בין משימות לא קשורות.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0" y="3502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מסכם את השיחה עד כה. כשהחלון מתמלא באמצע משימה.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20624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טוקנים ו-$ נצרכו בסשן הזה.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9144000" y="52395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להמשיך סשן קודם - Claude טוען מחדש את השיחה.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הרשאות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הרשאה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אוטונומיה לתת ל-Claude? אתה בוחר, לכל סשן.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860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לפני כל עריכת קובץ ופקודה. הכי בטוח. למאגרים לא מוכרים.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32004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686800" y="33649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acceptEdits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מאשר עריכות אוטומטית, עדיין שואל על פקודות shell. אמצע טוב.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148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8686800" y="4279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עריכות - Claude מתכנן, אתה קורא ומאשר. לשינויים מורכבים.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50292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11612880" y="50292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8686800" y="5193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0" eaLnBrk="1" latinLnBrk="0" hangingPunct="1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auto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400" dirty="0"/>
              <a:t>למידה של נקודות עצירה לפי </a:t>
            </a:r>
            <a:r>
              <a:rPr lang="he-IL" sz="1400" dirty="0" err="1"/>
              <a:t>היוזר</a:t>
            </a:r>
            <a:r>
              <a:rPr lang="he-IL" sz="1400" dirty="0"/>
              <a:t>, ממשיך עד לסיום ביצוע בדרך כלל.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Plan mode הוא חבר טוב לרפקטורים גדולים. עוברים בין מצבים עם Shift+Tab.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זיכרון הפרויקט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markdown במאגר ש-Claude קורא בכל פתיחת סשן. ההוראות הקבועות של הפרויקט.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846320" y="2468880"/>
            <a:ext cx="6858000" cy="36576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5074920" y="2606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CLAUDE.md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4920" y="292608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4920" y="317296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15 (App Router), Prisma, Postgres,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4920" y="341985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Tailwind, shadcn/ui, NextAuth.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4920" y="366674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4920" y="391363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Conventions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4920" y="416052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Server Actions over API routes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440740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Zod for all input validation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4920" y="465429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Hebrew + English (RTL aware)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4920" y="490118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51480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Don't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4920" y="539496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global state libraries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64184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CSS-in-JS - Tailwind only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2468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 פנימה?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וגרסאות  ●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3246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מוסכמות שמות  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36118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 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" y="3977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דברים להימנע מהם  ●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מריצים בדיקות  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מאפיינים ייחודיים למאגר  ●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53949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CLAUDE.md בהרצה הראשונה.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פקודות SLASH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פקודות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slash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קיצורים מובנים - ושלך, כקבצי markdown ב-.claude/commands/.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מובנות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05840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2834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כל הפקודות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איפוס שיחה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749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הקשר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הצגת שימוש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0" y="4663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יצירת CLAUDE.md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0" y="5120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5120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קוד של ה-diff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מותאמות (שלך)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5303520" cy="2743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85800" y="2971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.claude/commands/ship.md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3383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הרץ את כל הבדיקות, בדוק טיפוסים, צור PR עם הודעת commit נקייה שמתארת את השינויים מאז main.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עכשיו: /ship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פרדיגמת עבודה חדשה - לא רק פיצ׳ר.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תיקייה עם SKILL.md ש-Claude טוען כשרלוונטי.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329184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32918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טעינה אוטומטית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מזהה מתי skill רלוונטי לפי התיאור וטוען אותו בעת הצורך.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704088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0408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להרכבה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8056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להשתמש בכמה skills יחד. כל אחד עצמאי - להתקין רק מה שצריך.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78992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7899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לשיתוף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נמצא ב-.claude/skills/. Commit ל-git → הצוות מקבל אוטומטית.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8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אתה כותב את אותה הנחיה שוב ושוב בכמה פרויקטים - הגיע הזמן לכתוב skill.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לדוגמה  · 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shadcn/ui  -  ה-skill הרשמי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נותן ל-Claude ידע מודע-לפרויקט על כל רכיבי shadcn. הוא קורא את components.json ומייצר קוד נכון מהפעם הראשונה.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in your project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npx shadcn@latest skill add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ה-skill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ה-skill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variant=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"default" size="lg"&gt;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className=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"px-4 py-2 bg-blue-600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text-white rounded"&gt;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5778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לדוגמה  ·  CODE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code-review-skill  -  ה-skill המוביל לסקירת קוד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9,500+ שורות הנחיות סקירה ל-11 שפות ופריימוורקים. מפריד בין מה שצריך עין אנושית למה ש-tools צריכים לעשות.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(one-time, global)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https://github.com/awesome-skills/code-review-skill ~/.claude/skills/code-review-skill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ה-skill בודק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צריך לבדוק ידנית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לוגיקה ו-edge cases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חולשות אבטחה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השפעות ביצועים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כיסוי ואיכות בדיקות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error handling ו-API design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התאמה ארכיטקטונית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פורמט - Prettier / Black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סדר imports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חוקי linting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typos פשוטים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כלים אוטומטיים, לא בני אדם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</a:t>
            </a: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</a:t>
            </a: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SECURITY</a:t>
            </a:r>
            <a:endParaRPr lang="he-IL" sz="1100" b="1" kern="0" spc="400" dirty="0">
              <a:solidFill>
                <a:srgbClr val="D977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audit-context-building  -  Trail of Bits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המוביל לאודיט אבטחה. נכתב ע"י אחת מחברות הסקירה המובילות בעולם (לקוחות: Google, Ethereum Foundation). מצא CVEs אמיתיים ב-production.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(Claude Code plugin marketplace)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marketplace add trailofbits/skills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שלבים - בדיוק בסדר הזה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4206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85800" y="4206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Orientation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44988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מודולים, entry points, actors. בלי הנחות.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20640" y="48006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85800" y="4800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analysis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093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פונקציה-פונקציה. First Principles, 5 Whys.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5394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" y="53949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 understanding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6875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Invariants, trust boundaries, end-to-end flows.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החוק המפתיע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אסור לו למצוא באגים.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4572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להציע fixes. לא להעריך severity. לא לכתוב PoC. רק להבין את המערכת לעומק.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מינימום לכל פונקציה: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55321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invariants  ·  5+ הנחות מפורשות  ·  3+ סיכוני קלט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משלך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אנטומיה של skill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תיקייה. שני קבצים. הרבה ערך.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657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77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הקבצים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55080" y="2834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.claude/skills/code-review/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55080" y="3200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55080" y="35661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checklist.md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55080" y="39319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examples/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good-review.md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4663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bad-review.md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5852160" y="224028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" y="2377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ב-SKILL.md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2336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2880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שם ה-skill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2336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להפעיל אותו (קריטי לטעינה אוטומטית)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23360" y="3977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977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הוראות מפורטות + checklist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23360" y="4526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few-shot של פלט טוב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2336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הפלט הצפוי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SKILL.md ראשון. תן לו תיאור של המשימה, הוא יבנה את המבנה.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דקות  ·  חוזרים בתחילת השעה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מדברים עם המודל כדי שיעבוד בשבילכם.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הדוגמה הקנונית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פרומפט טוב באמת מאפשר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של Anthropic - אותה תמונה, שני פרומפטים, שני עולמות.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"Please analyze the images and tell me what happened"</a:t>
            </a:r>
            <a:endParaRPr lang="en-US" sz="1100" dirty="0"/>
          </a:p>
        </p:txBody>
      </p:sp>
      <p:pic>
        <p:nvPicPr>
          <p:cNvPr id="8" name="Image 0" descr="./anthropic-naiv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6355080" y="3108960"/>
            <a:ext cx="5212080" cy="2331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240280"/>
            <a:ext cx="548640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59436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עסקי + תפקיד + פורמט מובנה</a:t>
            </a:r>
            <a:endParaRPr lang="en-US" sz="1100" dirty="0"/>
          </a:p>
        </p:txBody>
      </p:sp>
      <p:pic>
        <p:nvPicPr>
          <p:cNvPr id="12" name="Image 1" descr="./anthropic-structured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594360" y="3108960"/>
            <a:ext cx="5212080" cy="23317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0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נאיבי: "קרתה תאונה."   ·   מובנה: "רכב B אשם - ביצע פנייה ופגע ברכב חונה."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הדוגמה המקורית מ-Anthropic, לפני כשנה. המודלים השתפרו מאז - בהמשך נראה איך זה נראה היום.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המסגרת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טען הקשר מוקדם  ·  בקש מאוחר  ·  הגדר פלט בסוף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1965960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15600" y="20025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0" y="200253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וזהות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45920" y="20025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context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39572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515600" y="243230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0" y="243230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טון ותקשורת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45920" y="24323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Tone context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2825496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15600" y="28620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86207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רקע: נתונים, מסמכים, תמונות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45920" y="28620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 data, docs, images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5526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325526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51560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29200" y="329184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מפורט וחוקים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45920" y="329184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Detailed task description &amp; rules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8503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3685032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515600" y="37216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29200" y="372160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645920" y="37216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 (few-shot)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4114800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10515600" y="4151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029200" y="415137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היסטוריית שיחה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645920" y="41513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history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" y="41513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454456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Shape 35"/>
          <p:cNvSpPr/>
          <p:nvPr/>
        </p:nvSpPr>
        <p:spPr>
          <a:xfrm>
            <a:off x="11612880" y="454456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Text 36"/>
          <p:cNvSpPr/>
          <p:nvPr/>
        </p:nvSpPr>
        <p:spPr>
          <a:xfrm>
            <a:off x="10515600" y="45811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029200" y="45811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המיידית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645920" y="45811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Immediate task / request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97433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1612880" y="4974336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10515600" y="501091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5029200" y="501091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חשיבה צעד-אחר-צעד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645920" y="50109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step by step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0109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540410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11612880" y="540410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10515600" y="54406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5029200" y="544068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פורמט הפלט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645920" y="54406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formatting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583387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53" name="Shape 51"/>
          <p:cNvSpPr/>
          <p:nvPr/>
        </p:nvSpPr>
        <p:spPr>
          <a:xfrm>
            <a:off x="11612880" y="5833872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4" name="Text 52"/>
          <p:cNvSpPr/>
          <p:nvPr/>
        </p:nvSpPr>
        <p:spPr>
          <a:xfrm>
            <a:off x="10515600" y="5870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5029200" y="587044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תחילת תגובה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645920" y="587044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Prefilled response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94360" y="587044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בקוד  ·  פרומפט נאיבי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שאלה רגילה.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1A1814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057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does this code do?"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55080" y="2606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92608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purchase_item(user_id, item_id):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317296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item = db.query(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55080" y="341985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items WHERE id=?",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66674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item_id)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55080" y="391363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item.stock &gt; 0: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416052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55080" y="440740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"UPDATE items SET stock=stock-1"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65429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 WHERE id=?", item_id)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490118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14807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"INSERT INTO orders ...")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{"success": True}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4184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{"success": False}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139 טוקנים</a:t>
            </a:r>
            <a:endParaRPr lang="en-US" sz="1100" dirty="0"/>
          </a:p>
        </p:txBody>
      </p:sp>
      <p:pic>
        <p:nvPicPr>
          <p:cNvPr id="22" name="Image 0" descr="./code-naive-respons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594360" y="2103120"/>
            <a:ext cx="5212080" cy="406908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בקוד  ·  פרומפט מובנה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עבודה אחרת.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המובנה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תפקיד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application security engineer, 10+ years.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6517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טון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28803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decisive. Name it. Don't soften.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55080" y="320040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הקשר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429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Pre-merge review. Public-facing production.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374904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חוקים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39776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by exploitability. Don't manufacture findings. Don't describe.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080" y="429768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דוגמה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5262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Format: [VERDICT] / [FINDINGS] / [NOTES].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48463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משימה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0749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produce the report.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פלט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235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text, exactly as shown. Start with [VERDICT].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675 טוקנים</a:t>
            </a:r>
            <a:endParaRPr lang="en-US" sz="1100" dirty="0"/>
          </a:p>
        </p:txBody>
      </p:sp>
      <p:pic>
        <p:nvPicPr>
          <p:cNvPr id="22" name="Image 0" descr="./code-structured-respons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594360" y="2103120"/>
            <a:ext cx="5212080" cy="406908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המסקנה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מול החלטה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הלקח האמיתי - כי הבאג נמצא בשני המקרים.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5486400" cy="310896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Verdict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החלטה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[VERDICT] BLOCK MERGE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מספרי שורה. דירוג חומרה.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התקיפה. תיקון בקוד מוכן.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להעתיק ל-PR review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לפעול עליו עכשיו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2860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Information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מידע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49224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"יש race condition פוטנציאלי..."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הבעיה. הצעות כלליות.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"השתמש ב-transactions או locks."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הסטודנט עוד צריך לחקור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עוד לא מוכן לעבודה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687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מה אתה יכול לעשות עם התשובה.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AI שחושב איתך לבין AI שמספק עבודה. שניהם שימושיים. רק אחד דורש מבנה.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תרגול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התור שלכם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שני פרומפטים. דווחו על ההבדל.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927080" y="245059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927080" y="2450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פתחו את Anthropic Console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791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console.anthropic.com → Workbench. Sonnet 4. Temperature 0.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0927080" y="322783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927080" y="3227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0" y="31821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בקוד הזה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4564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תקבלו קוד עם באג ב-Slack. אותו קוד לשתי הריצות.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927080" y="400507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927080" y="4005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0" y="39593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ראשונה - נאיבית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פרומפט: "what does this code do?" - צילום מסך של הפלט.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61772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0927080" y="478231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927080" y="4782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0" y="47365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שנייה - מובנה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0109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במסגרת בת 10 הרכיבים. תפקיד: code reviewer. פלט: VERDICT + FINDINGS.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39496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0927080" y="555955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927080" y="55595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0" y="55138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 וחזרו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57881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ההבדל? איזה פלט אתם הייתם מדביקים ל-PR? נחזור על זה יחד.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הלאה.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המפגש הבא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במפגש הבא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מההיסודות לבנייה. SaaS אמיתי, מ-/init ועד deploy.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4652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4652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FixSlot - עמוד הזמנת תורים. נגדיר scope, נחליט מה לא בונים.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85216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8580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580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Next.js, Vercel, Supabase, PayPlus - ולמה דווקא הם.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4652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4652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vs Opus. think → ultrathink. plan mode מול thinking.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85216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דקות של קוד אמיתי. מ-CLAUDE.md ועד deploy ב-Vercel.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לקחים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לקחת הביתה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1338560" y="187452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113385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חי בטרמינל. הוא לא רק עוזר - הוא סוכן שמבצע.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338560" y="258775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133856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877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ראשון. הוא הבסיס לכל סשן - וההשקעה היחידה שמצטברת.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1338560" y="330098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33856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009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הם פרדיגמת עבודה. UI, code review, security audit - והם משלכם.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338560" y="401421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338560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01421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 יציב: הקשר → רקע → חוקים → דוגמאות → משימה → פורמט.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338560" y="472744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1338560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איזה פלט אתה יכול להעתיק לעבודה אמיתית.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338560" y="544068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133856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מידע להחלטה.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36576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-914400" y="-1828800"/>
            <a:ext cx="3657600" cy="3657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188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נדבר.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23560" y="5029200"/>
            <a:ext cx="91440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457200" y="5212080"/>
            <a:ext cx="1188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 ·  errn.io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</TotalTime>
  <Words>2711</Words>
  <Application>Microsoft Macintosh PowerPoint</Application>
  <PresentationFormat>Widescreen</PresentationFormat>
  <Paragraphs>565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Aptos Display</vt:lpstr>
      <vt:lpstr>Arial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- יסודות</dc:title>
  <dc:subject>PptxGenJS Presentation</dc:subject>
  <dc:creator>טל גורביץ׳</dc:creator>
  <cp:lastModifiedBy>טל גורביץ - מנהל אדמניסטרטיבי, Ofektech</cp:lastModifiedBy>
  <cp:revision>11</cp:revision>
  <dcterms:created xsi:type="dcterms:W3CDTF">2026-05-03T12:13:43Z</dcterms:created>
  <dcterms:modified xsi:type="dcterms:W3CDTF">2026-05-07T13:19:14Z</dcterms:modified>
</cp:coreProperties>
</file>