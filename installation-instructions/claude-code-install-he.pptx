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7"/>
  </p:normalViewPr>
  <p:slideViewPr>
    <p:cSldViewPr snapToGrid="0" snapToObjects="1">
      <p:cViewPr varScale="1">
        <p:scale>
          <a:sx n="168" d="100"/>
          <a:sy n="168" d="100"/>
        </p:scale>
        <p:origin x="2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quickstart" TargetMode="External"/><Relationship Id="rId7" Type="http://schemas.openxmlformats.org/officeDocument/2006/relationships/hyperlink" Target="https://code.claude.com/docs/llms.txt" TargetMode="External"/><Relationship Id="rId2" Type="http://schemas.openxmlformats.org/officeDocument/2006/relationships/hyperlink" Target="https://code.claude.com/docs/en/setu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de.claude.com/docs/en/authentication" TargetMode="External"/><Relationship Id="rId5" Type="http://schemas.openxmlformats.org/officeDocument/2006/relationships/hyperlink" Target="https://code.claude.com/docs/en/terminal-guide" TargetMode="External"/><Relationship Id="rId4" Type="http://schemas.openxmlformats.org/officeDocument/2006/relationships/hyperlink" Target="https://code.claude.com/docs/en/troubleshoot-inst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86000" y="-914400"/>
            <a:ext cx="4572000" cy="457200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07040" y="502920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1" spc="300">
                <a:solidFill>
                  <a:srgbClr val="D97757"/>
                </a:solidFill>
                <a:latin typeface="Arial"/>
                <a:cs typeface="Arial"/>
              </a:rPr>
              <a:t>מדריך התקנה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7200" b="1">
                <a:solidFill>
                  <a:srgbClr val="F5F1EB"/>
                </a:solidFill>
                <a:latin typeface="Arial"/>
                <a:cs typeface="Arial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2600" b="0">
                <a:solidFill>
                  <a:srgbClr val="C9C2B5"/>
                </a:solidFill>
                <a:latin typeface="Arial"/>
                <a:cs typeface="Arial"/>
              </a:rPr>
              <a:t>התקנה בטרמינל  ·  macOS · Windows ·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F5F1EB"/>
                </a:solidFill>
                <a:latin typeface="Arial"/>
                <a:cs typeface="Arial"/>
              </a:rPr>
              <a:t>טל גורביץ׳ Tal Gurevich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המכללה האקדמית תל-חי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לפני שמתחילים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דרישות מערכת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בדקו את ארבעת אלה לפני שאתם מריצים פקודה כלשהי. רוב תקלות ההתקנה מתחילות כאן.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2148840"/>
            <a:ext cx="5501487" cy="15544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7327" y="2404872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7327" y="2386584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מערכת הפעלה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2862072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macOS 13+  ·  Windows 10 1809+  ·  Ubuntu 20.04+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3200400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Debian 10+  ·  Alpine Linux 3.19+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501487" cy="15544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86584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חומרה ורשת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‏4GB RAM ומעלה  ·  מעבד x64 או ARM64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חיבור אינטרנט פעיל, ממדינה נתמכת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3977639"/>
            <a:ext cx="5501487" cy="15544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7327" y="4233672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4215383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חשבון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4690872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‏Pro · Max · Team · Enterprise ·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5029200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התוכנית החינמית של Claude.ai לא כוללת גישה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5501487" cy="15544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33672"/>
            <a:ext cx="49528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15383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טרמינל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90872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‏Bash · Zsh · PowerShell · CMD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‏ripgrep מגיע מובנה עם Claude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למה זה חשוב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התוכנית החינמית של Claude.ai לא כוללת Claude Code. אם ההתחברות נכשלת — זו הסיבה הראשונה לבדוק.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מערכת הפעלה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macOS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פותחים את Terminal (או iTerm) ומדביקים שורה אחת. אין צורך ב-sudo.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16002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40863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ההתקנה המומלצת  ·  NATIVE INSTALLER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D97757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</a:rPr>
              <a:t>curl -fsSL https://claude.ai/install.sh | 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6440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C9C2B5"/>
                </a:solidFill>
                <a:latin typeface="Arial"/>
                <a:cs typeface="Arial"/>
              </a:rPr>
              <a:t>מתעדכן אוטומטית ברקע. זו הדרך שאנחנו ממליצים עליה בקורס.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886200"/>
            <a:ext cx="5501487" cy="18288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4123944"/>
            <a:ext cx="49528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חלופה  ·  HOMEBREW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4453128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brew install --cask claude-code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276088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לא מתעדכן לבד. שדרוג ידני:  brew upgrade claude-code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501487" cy="18288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4"/>
            <a:ext cx="49528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הפעלה ראשונה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53128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76088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נפתח דפדפן להתחברות, ואז נפתח סשן בתיקייה הנוכחית.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טיפ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‏claude רץ בתיקייה שאתם נמצאים בה. תמיד cd לתוך הפרויקט לפני שמפעילים — זה מה שהוא יראה.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מערכת הפעלה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שתי פקודות שונות — תלוי אם אתם ב-PowerShell או ב-CMD. אם השורה מתחילה ב-‎PS C:\‎ אתם ב-PowerShell.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277295" cy="12344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86584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1576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D97757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</a:rPr>
              <a:t>irm https://claude.ai/install.ps1 | iex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11277295" cy="12344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58184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CMD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8736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D97757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</a:rPr>
              <a:t>curl -fsSL https://claude.ai/install.cmd -o install.cmd &amp;&amp; install.cmd &amp;&amp; del install.cmd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4892040"/>
            <a:ext cx="5501487" cy="9144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7327" y="5129783"/>
            <a:ext cx="49528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חלופה  ·  WINGET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5458968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winget install Anthropic.ClaudeCode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5501487" cy="9144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129783"/>
            <a:ext cx="49528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‏WSL — מריצים את פקודת ה-LINUX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58968"/>
            <a:ext cx="49528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curl -fsSL https://claude.ai/install.sh | bash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89320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5989320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71616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שווה לדעת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התקינו Git for Windows כדי ש-Claude Code ישתמש ב-Bash. בלעדיו הוא נופל ל-PowerShell. סנדבוקסינג עובד רק ב-WSL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מערכת הפעלה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אותה פקודה כמו ב-macOS. למי שרוצה שהעדכונים יגיעו דרך מנהל החבילות — יש ריפוזיטוריז חתומים.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40863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ההתקנה המומלצת  ·  NATIVE INSTALLER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D97757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</a:rPr>
              <a:t>curl -fsSL https://claude.ai/install.sh | bash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8276" y="3657600"/>
            <a:ext cx="3576218" cy="16002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2596" y="3895344"/>
            <a:ext cx="30275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DEBIAN / UBUNTU  ·  APT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2596" y="4224528"/>
            <a:ext cx="302757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sudo apt install claude-code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596" y="4818888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אחרי רישום המפתח והריפו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3657600"/>
            <a:ext cx="3576218" cy="16002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2058" y="3895344"/>
            <a:ext cx="30275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FEDORA / RHEL  ·  DNF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4224528"/>
            <a:ext cx="302757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sudo dnf install claude-code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4818888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אחרי יצירת claude-code.repo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576218" cy="1600200"/>
          </a:xfrm>
          <a:prstGeom prst="rect">
            <a:avLst/>
          </a:prstGeom>
          <a:solidFill>
            <a:srgbClr val="F5F1EB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895344"/>
            <a:ext cx="30275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ALPINE  ·  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302757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50" b="0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350" b="0">
                <a:solidFill>
                  <a:srgbClr val="1A1814"/>
                </a:solidFill>
                <a:latin typeface="Consolas"/>
                <a:cs typeface="Consolas"/>
              </a:rPr>
              <a:t>apk add claude-code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18888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דורש bash curl libgcc libstdc++ ripgrep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97919" y="5486400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568696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שימו לב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60720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התקנה דרך מנהל חבילות לא מתעדכנת אוטומטית — העדכון מגיע עם עדכוני המערכת הרגילים שלכם.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950" b="0">
                <a:solidFill>
                  <a:srgbClr val="5C564D"/>
                </a:solidFill>
                <a:latin typeface="Consolas"/>
                <a:cs typeface="Consolas"/>
              </a:rPr>
              <a:t>מפתח החתימה: 31DD DE24 DDFA B679 F42D 7BD2 BAA9 29FF 1A7E CACE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אחרי ההתקנה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אימות והתחברות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שלוש פקודות שאומרות לכם אם ההתקנה באמת הצליחה — לפני שאתם מתחילים לעבוד.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277295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148840"/>
            <a:ext cx="36576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350008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500" b="1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500" b="1">
                <a:solidFill>
                  <a:srgbClr val="1A1814"/>
                </a:solidFill>
                <a:latin typeface="Consolas"/>
                <a:cs typeface="Consolas"/>
              </a:rPr>
              <a:t>claude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5234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מדפיס מספר גרסה, למשל 2.1.211 (Claude Code). אם אתם מקבלים command not found — ההתקנה לא נכנסה ל-PATH.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55848"/>
            <a:ext cx="11277295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697919" y="3355848"/>
            <a:ext cx="36576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557016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500" b="1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500" b="1">
                <a:solidFill>
                  <a:srgbClr val="1A1814"/>
                </a:solidFill>
                <a:latin typeface="Consolas"/>
                <a:cs typeface="Consolas"/>
              </a:rPr>
              <a:t>claude doctor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אבחון קריאה-בלבד: תקינות ההתקנה, שגיאות בקובצי ההגדרות, ואזהרות עם הצעות תיקון. לא פותח סשן.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62856"/>
            <a:ext cx="11277295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97919" y="4562856"/>
            <a:ext cx="36576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76402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500" b="1">
                <a:solidFill>
                  <a:srgbClr val="B85F44"/>
                </a:solidFill>
                <a:latin typeface="Consolas"/>
                <a:cs typeface="Consolas"/>
              </a:rPr>
              <a:t>$ </a:t>
            </a:r>
            <a:r>
              <a:rPr sz="1500" b="1">
                <a:solidFill>
                  <a:srgbClr val="1A1814"/>
                </a:solidFill>
                <a:latin typeface="Consolas"/>
                <a:cs typeface="Consolas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6636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מפעיל סשן אינטראקטיבי. בהרצה הראשונה נפתח דפדפן להתחברות לחשבון Anthropic שלכם.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אם claude doctor מתלונן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אל תתחילו לנחש. קחו את ההודעה המדויקת לדף troubleshoot-install — הוא בנוי כטבלת שגיאה ← תיקון.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התחברות ראשונה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איך מתחברים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260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 dirty="0" err="1">
                <a:solidFill>
                  <a:srgbClr val="5C564D"/>
                </a:solidFill>
                <a:latin typeface="Arial"/>
                <a:cs typeface="Arial"/>
              </a:rPr>
              <a:t>בהרצה</a:t>
            </a:r>
            <a:r>
              <a:rPr sz="1500" b="0" dirty="0">
                <a:solidFill>
                  <a:srgbClr val="5C564D"/>
                </a:solidFill>
                <a:latin typeface="Arial"/>
                <a:cs typeface="Arial"/>
              </a:rPr>
              <a:t> </a:t>
            </a:r>
            <a:r>
              <a:rPr sz="1500" b="0" dirty="0" err="1">
                <a:solidFill>
                  <a:srgbClr val="5C564D"/>
                </a:solidFill>
                <a:latin typeface="Arial"/>
                <a:cs typeface="Arial"/>
              </a:rPr>
              <a:t>הראשונה</a:t>
            </a:r>
            <a:r>
              <a:rPr sz="1500" b="0" dirty="0">
                <a:solidFill>
                  <a:srgbClr val="5C564D"/>
                </a:solidFill>
                <a:latin typeface="Arial"/>
                <a:cs typeface="Arial"/>
              </a:rPr>
              <a:t> </a:t>
            </a:r>
            <a:r>
              <a:rPr sz="1500" b="0" dirty="0" err="1">
                <a:solidFill>
                  <a:srgbClr val="5C564D"/>
                </a:solidFill>
                <a:latin typeface="Arial"/>
                <a:cs typeface="Arial"/>
              </a:rPr>
              <a:t>של</a:t>
            </a:r>
            <a:r>
              <a:rPr sz="1500" b="0" dirty="0">
                <a:solidFill>
                  <a:srgbClr val="5C564D"/>
                </a:solidFill>
                <a:latin typeface="Arial"/>
                <a:cs typeface="Arial"/>
              </a:rPr>
              <a:t> </a:t>
            </a:r>
            <a:r>
              <a:rPr sz="1500" b="0" dirty="0" err="1">
                <a:solidFill>
                  <a:srgbClr val="5C564D"/>
                </a:solidFill>
                <a:latin typeface="Arial"/>
                <a:cs typeface="Arial"/>
              </a:rPr>
              <a:t>claude</a:t>
            </a:r>
            <a:r>
              <a:rPr sz="1500" b="0" dirty="0">
                <a:solidFill>
                  <a:srgbClr val="5C564D"/>
                </a:solidFill>
                <a:latin typeface="Arial"/>
                <a:cs typeface="Arial"/>
              </a:rPr>
              <a:t> </a:t>
            </a:r>
            <a:r>
              <a:rPr sz="1500" b="0" dirty="0" err="1">
                <a:solidFill>
                  <a:srgbClr val="5C564D"/>
                </a:solidFill>
                <a:latin typeface="Arial"/>
                <a:cs typeface="Arial"/>
              </a:rPr>
              <a:t>נפ</a:t>
            </a:r>
            <a:r>
              <a:rPr lang="he-IL" sz="1500" b="0" dirty="0" err="1">
                <a:solidFill>
                  <a:srgbClr val="5C564D"/>
                </a:solidFill>
                <a:latin typeface="Arial"/>
                <a:cs typeface="Arial"/>
              </a:rPr>
              <a:t>תח</a:t>
            </a:r>
            <a:r>
              <a:rPr lang="he-IL" sz="1500" b="0" dirty="0">
                <a:solidFill>
                  <a:srgbClr val="5C564D"/>
                </a:solidFill>
                <a:latin typeface="Arial"/>
                <a:cs typeface="Arial"/>
              </a:rPr>
              <a:t> דיאלוג חיבור בדרך כלל.</a:t>
            </a:r>
            <a:r>
              <a:rPr sz="1500" b="0" dirty="0">
                <a:solidFill>
                  <a:srgbClr val="5C564D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2212848"/>
            <a:ext cx="5501487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12848"/>
            <a:ext cx="36576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7327" y="24505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2432304"/>
            <a:ext cx="49071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900" b="1">
                <a:solidFill>
                  <a:srgbClr val="1A1814"/>
                </a:solidFill>
                <a:latin typeface="Arial"/>
                <a:cs typeface="Arial"/>
              </a:rPr>
              <a:t>מנוי Claude.ai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2907792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B85F44"/>
                </a:solidFill>
                <a:latin typeface="Consolas"/>
                <a:cs typeface="Consolas"/>
              </a:rPr>
              <a:t>Pro  ·  Max  ·  Team  · 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3291840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מתחברים עם חשבון claude.ai הרגיל. זו האפשרות של רוב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3566160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הסטודנטים: משלמים מנוי חודשי קבוע, בלי חיוב לפי שימוש.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5501487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22111" y="2212848"/>
            <a:ext cx="36576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50592"/>
            <a:ext cx="490712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32304"/>
            <a:ext cx="49071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900" b="1">
                <a:solidFill>
                  <a:srgbClr val="1A1814"/>
                </a:solidFill>
                <a:latin typeface="Arial"/>
                <a:cs typeface="Arial"/>
              </a:rPr>
              <a:t>חשבון Claude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2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B85F44"/>
                </a:solidFill>
                <a:latin typeface="Consolas"/>
                <a:cs typeface="Consolas"/>
              </a:rPr>
              <a:t>חיוב לפי שימוש  · 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מתחברים עם פרטי ה-Console. מנהל הארגון צריך להזמין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אתכם קודם. החיוב הוא לפי טוקנים שנצרכו בפועל.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6443"/>
            <a:ext cx="11277295" cy="863011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83956" y="4689897"/>
            <a:ext cx="3393338" cy="30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D97757"/>
                </a:solidFill>
                <a:latin typeface="Consolas"/>
                <a:cs typeface="Consolas"/>
              </a:rPr>
              <a:t>/login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3956" y="4956993"/>
            <a:ext cx="3393338" cy="287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1"/>
            <a:r>
              <a:rPr sz="1050" b="0">
                <a:solidFill>
                  <a:srgbClr val="C9C2B5"/>
                </a:solidFill>
                <a:latin typeface="Arial"/>
                <a:cs typeface="Arial"/>
              </a:rPr>
              <a:t>התחברות או החלפת חשבון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7738" y="4689897"/>
            <a:ext cx="3393338" cy="30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D97757"/>
                </a:solidFill>
                <a:latin typeface="Consolas"/>
                <a:cs typeface="Consolas"/>
              </a:rPr>
              <a:t>/logout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7738" y="4956993"/>
            <a:ext cx="3393338" cy="287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1"/>
            <a:r>
              <a:rPr sz="1050" b="0">
                <a:solidFill>
                  <a:srgbClr val="C9C2B5"/>
                </a:solidFill>
                <a:latin typeface="Arial"/>
                <a:cs typeface="Arial"/>
              </a:rPr>
              <a:t>התנתקות ואיפוס ההגדרה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89897"/>
            <a:ext cx="3393338" cy="30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D97757"/>
                </a:solidFill>
                <a:latin typeface="Consolas"/>
                <a:cs typeface="Consolas"/>
              </a:rPr>
              <a:t>/status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56993"/>
            <a:ext cx="3393338" cy="287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1"/>
            <a:r>
              <a:rPr sz="1050" b="0">
                <a:solidFill>
                  <a:srgbClr val="C9C2B5"/>
                </a:solidFill>
                <a:latin typeface="Arial"/>
                <a:cs typeface="Arial"/>
              </a:rPr>
              <a:t>מי מחובר ובאיזו שיטה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43053"/>
            <a:ext cx="11277295" cy="685983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697919" y="5343053"/>
            <a:ext cx="36576" cy="685983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465674"/>
            <a:ext cx="10728655" cy="221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המלכודת הנפוצה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51937"/>
            <a:ext cx="10728655" cy="287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אם ANTHROPIC_API_KEY מוגדר בסביבה — הוא גובר על המנוי שלכם. לחזרה למנוי: unset ANTHROPIC_API_KEY, ואז /status לאימות.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כשזה לא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400" b="1">
                <a:solidFill>
                  <a:srgbClr val="1A1814"/>
                </a:solidFill>
                <a:latin typeface="Arial"/>
                <a:cs typeface="Arial"/>
              </a:rPr>
              <a:t>תקלות נפוצות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</a:rPr>
              <a:t>ארבע השגיאות שרוב הכיתה נתקלת בהן. אל תאבדו שעה על התקנה — זה לא הנושא של הקורס.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1">
                <a:solidFill>
                  <a:srgbClr val="B85F44"/>
                </a:solidFill>
                <a:latin typeface="Arial"/>
                <a:cs typeface="Arial"/>
              </a:rPr>
              <a:t>command not found: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1518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ה-PATH לא עודכן בטרמינל הפתוח. פתחו חלון טרמינל חדש, או הריצו source ~/.zshrc (Mac) / source ~/.bashrc (Linux).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77295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27355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1">
                <a:solidFill>
                  <a:srgbClr val="B85F44"/>
                </a:solidFill>
                <a:latin typeface="Arial"/>
                <a:cs typeface="Arial"/>
              </a:rPr>
              <a:t>‏403 או syntax error near unexpected token '&lt;'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2102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ה-curl קיבל דף שגיאה במקום סקריפט. בדקו רשת/פרוקסי, ואז עברו לדף troubleshoot-install לשיטת התקנה חלופית.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27939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1">
                <a:solidFill>
                  <a:srgbClr val="B85F44"/>
                </a:solidFill>
                <a:latin typeface="Arial"/>
                <a:cs typeface="Arial"/>
              </a:rPr>
              <a:t>‏The token '&amp;&amp;' is not a valid statement separator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2686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הרצתם את פקודת ה-CMD בתוך PowerShell. אלה שתי פקודות שונות — בדקו אם השורה מתחילה ב-‎PS C:\‎.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0640"/>
            <a:ext cx="11277295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5285231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1">
                <a:solidFill>
                  <a:srgbClr val="B85F44"/>
                </a:solidFill>
                <a:latin typeface="Arial"/>
                <a:cs typeface="Arial"/>
              </a:rPr>
              <a:t>עברית מוצגת כריבועים או כסימני שאלה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3270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פונט הטרמינל לא תומך בעברית. ב-Mac: Terminal ← Settings ← Profiles ← Text, ובחרו Menlo או SF Mono.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כלל אצבע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אף פעם לא sudo npm install -g. זה מייצר בעיות הרשאות ומסכן אבטחה — וזו סיבה שכיחה להתקנה שבורה.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משאבים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F5F1EB"/>
                </a:solidFill>
                <a:latin typeface="Arial"/>
                <a:cs typeface="Arial"/>
              </a:rPr>
              <a:t>כל הקישורים הרשמיים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0">
                <a:solidFill>
                  <a:srgbClr val="C9C2B5"/>
                </a:solidFill>
                <a:latin typeface="Arial"/>
                <a:cs typeface="Arial"/>
              </a:rPr>
              <a:t>התיעוד הרשמי של Anthropic הוא מקור האמת. הוא משתנה — תמיד עדיף עליו מאשר על סלייד.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התקנה מלאה — דרישות, כל שיטות ההתקנה, הסרה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4755" y="2286000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2"/>
              </a:rPr>
              <a:t>code.claude.com/docs/en/setup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33472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816352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התחלה מהירה — הסשן הראשון שלכם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4755" y="2816352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3"/>
              </a:rPr>
              <a:t>code.claude.com/docs/en/quickstart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63824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346704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פתרון בעיות התקנה והתחברות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755" y="3346704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4"/>
              </a:rPr>
              <a:t>code.claude.com/docs/en/troubleshoot-install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94176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77056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מדריך טרמינל — למי שלא עבד בטרמינל קודם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4755" y="3877056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5"/>
              </a:rPr>
              <a:t>code.claude.com/docs/en/terminal-guide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528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אימות וחשבונות — כולל Bedrock ו-Vertex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4755" y="4407408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6"/>
              </a:rPr>
              <a:t>code.claude.com/docs/en/authentication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49620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אינדקס כל התיעוד (קובץ אחד, נוח לסוכן)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4755" y="4937760"/>
            <a:ext cx="60897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D97757"/>
                </a:solidFill>
                <a:latin typeface="Consolas"/>
                <a:hlinkClick r:id="rId7"/>
              </a:rPr>
              <a:t>code.claude.com/docs/llms.txt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85232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קישורים ישנים מסוג docs.claude.com/en/docs/claude-code/... עדיין עובדים, אבל מבצעים הפניה (301) אל code.claude.com/docs/en/...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1054</Words>
  <Application>Microsoft Macintosh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טל גורביץ - מנהל אדמניסטרטיבי, Ofektech</cp:lastModifiedBy>
  <cp:revision>3</cp:revision>
  <dcterms:created xsi:type="dcterms:W3CDTF">2013-01-27T09:14:16Z</dcterms:created>
  <dcterms:modified xsi:type="dcterms:W3CDTF">2026-07-29T08:37:38Z</dcterms:modified>
  <cp:category/>
</cp:coreProperties>
</file>