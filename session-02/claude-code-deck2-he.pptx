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314" r:id="rId3"/>
    <p:sldId id="313" r:id="rId4"/>
    <p:sldId id="257" r:id="rId5"/>
    <p:sldId id="282" r:id="rId6"/>
    <p:sldId id="283" r:id="rId7"/>
    <p:sldId id="305" r:id="rId8"/>
    <p:sldId id="312" r:id="rId9"/>
    <p:sldId id="259" r:id="rId10"/>
    <p:sldId id="260" r:id="rId11"/>
    <p:sldId id="286" r:id="rId12"/>
    <p:sldId id="303" r:id="rId13"/>
    <p:sldId id="284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261" r:id="rId22"/>
    <p:sldId id="258" r:id="rId23"/>
    <p:sldId id="287" r:id="rId24"/>
    <p:sldId id="285" r:id="rId25"/>
    <p:sldId id="304" r:id="rId26"/>
    <p:sldId id="311" r:id="rId27"/>
    <p:sldId id="319" r:id="rId28"/>
    <p:sldId id="262" r:id="rId29"/>
    <p:sldId id="318" r:id="rId30"/>
    <p:sldId id="263" r:id="rId31"/>
    <p:sldId id="316" r:id="rId32"/>
    <p:sldId id="315" r:id="rId33"/>
    <p:sldId id="264" r:id="rId34"/>
    <p:sldId id="317" r:id="rId35"/>
    <p:sldId id="308" r:id="rId36"/>
    <p:sldId id="265" r:id="rId37"/>
    <p:sldId id="309" r:id="rId38"/>
    <p:sldId id="266" r:id="rId39"/>
    <p:sldId id="267" r:id="rId40"/>
    <p:sldId id="306" r:id="rId41"/>
    <p:sldId id="310" r:id="rId42"/>
    <p:sldId id="268" r:id="rId43"/>
    <p:sldId id="269" r:id="rId44"/>
    <p:sldId id="270" r:id="rId45"/>
    <p:sldId id="271" r:id="rId46"/>
    <p:sldId id="272" r:id="rId47"/>
    <p:sldId id="273" r:id="rId48"/>
    <p:sldId id="276" r:id="rId49"/>
    <p:sldId id="277" r:id="rId50"/>
    <p:sldId id="278" r:id="rId51"/>
    <p:sldId id="307" r:id="rId52"/>
    <p:sldId id="279" r:id="rId53"/>
    <p:sldId id="280" r:id="rId54"/>
    <p:sldId id="281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34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21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651760"/>
            <a:ext cx="4572000" cy="4572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640080" y="4572000"/>
            <a:ext cx="1371600" cy="1371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מהפרומפט עד פרודקשן - </a:t>
            </a:r>
            <a:r>
              <a:rPr lang="en-US" sz="2600" i="1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בונים</a:t>
            </a:r>
            <a:r>
              <a:rPr lang="en-US" sz="26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SaaS 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607040" y="5029200"/>
            <a:ext cx="109728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3891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 Tal Gurevich </a:t>
            </a:r>
            <a:endParaRPr lang="en-US" sz="1800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9CDA39-F18F-4844-E729-EC14730E8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2" y="2216075"/>
            <a:ext cx="5114392" cy="3614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l-st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9446741" y="1803598"/>
            <a:ext cx="2934306" cy="51299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18731" y="365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נעים מאוד  ·  ABOUT ME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318731" y="777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9902411" y="187452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מהנדס מוצר, יזם, ומלמד — שעובד היום עם הכלים שאני מלמד עליהם.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288036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8138160" y="288036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שנה במוצר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2735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 ·  AI  ·  STARTUPS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8138160" y="374904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6858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בונה היום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4142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ERRN.IO  ·  SAAS WITH CLAUDE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61772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5"/>
          <p:cNvSpPr/>
          <p:nvPr/>
        </p:nvSpPr>
        <p:spPr>
          <a:xfrm>
            <a:off x="8138160" y="461772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6"/>
          <p:cNvSpPr/>
          <p:nvPr/>
        </p:nvSpPr>
        <p:spPr>
          <a:xfrm>
            <a:off x="6858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מלמד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" y="5010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OFEKTECH  ·  MENTORING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5532120"/>
            <a:ext cx="777240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0"/>
          <p:cNvSpPr/>
          <p:nvPr/>
        </p:nvSpPr>
        <p:spPr>
          <a:xfrm>
            <a:off x="7223760" y="5532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kern="0" spc="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היום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5532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בונה SaaS · מלמד · עוטה כובע PM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217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tal.gurevich@gmail.com  ·  linkedin.com/in/talgurevich  ·  errn.io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עדכוני CLAUDE CODE  ·  שבועיים אחרונים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חדש - </a:t>
            </a:r>
            <a:r>
              <a:rPr lang="en-US" sz="3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13–27.5.2026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שינויים שכדאי להכיר - והקשר שלהם למה שאנחנו מלמדים.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49340" y="2240280"/>
            <a:ext cx="5554980" cy="18288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6332220" y="242316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332220" y="2423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v2.1.152  ·  27.5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77940" y="2423160"/>
            <a:ext cx="3314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/reload-skills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32220" y="2834640"/>
            <a:ext cx="5189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בלי restart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32220" y="3200400"/>
            <a:ext cx="5189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טוענים מחדש skills בלי לפתוח טרמינל חדש. hook חדש: SessionStart עם reloadSkills: true טוען skills שהותקנו תוך כדי סשן.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32220" y="3776472"/>
            <a:ext cx="51892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332220" y="3794760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מפגש 1  ·  Skills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55549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5920740" y="2240280"/>
            <a:ext cx="91440" cy="1828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EFE9E3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0080" y="2423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v2.1.152  ·  27.5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09745" y="2423160"/>
            <a:ext cx="3314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/code-review --fix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5189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מתקן, לא רק מוצא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5189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/simplify הוסר. /code-review --fix סוקר ומחיל תיקונים ישירות על הקוד. --comment כותב הערות inline ל-PR ב-GitHub.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776472"/>
            <a:ext cx="51892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מפגש 1  ·  Code Review Skill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9340" y="4206240"/>
            <a:ext cx="55549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11612880" y="4206240"/>
            <a:ext cx="91440" cy="1828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6332220" y="438912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EFE9E3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6332220" y="4389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v2.1.149  ·  23.5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77940" y="4389120"/>
            <a:ext cx="3314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32220" y="4800600"/>
            <a:ext cx="5189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פירוט לפי קטגוריה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32220" y="5166360"/>
            <a:ext cx="5189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רואים בדיוק מי צרך את הטוקנים: Skills, subagents, plugins, MCP servers. שווה זהב למי שמנהל סשנים ארוכים.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32220" y="5742432"/>
            <a:ext cx="51892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332220" y="5760720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מפגש 1  ·  סשנים וטוקנים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55549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Shape 31"/>
          <p:cNvSpPr/>
          <p:nvPr/>
        </p:nvSpPr>
        <p:spPr>
          <a:xfrm>
            <a:off x="5920740" y="4206240"/>
            <a:ext cx="91440" cy="1828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640080" y="438912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EFE9E3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40080" y="4389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v2.1.147  ·  21.5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20967" y="4389120"/>
            <a:ext cx="3314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Ctrl+T  ·  Background pinning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4800600"/>
            <a:ext cx="5189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סשנים שלא מתים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40080" y="5166360"/>
            <a:ext cx="5189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Ctrl+T ב-claude agents נועל סשנים ברקע - הם שורדים idle ועוברים auto-restart בעדכון. /resume תופס אותם גם אחרי --bg.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742432"/>
            <a:ext cx="51892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640080" y="5760720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מפגש 1  ·  ניהול סשנים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080760"/>
            <a:ext cx="1124712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1612880" y="6080760"/>
            <a:ext cx="91440" cy="640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גם:  </a:t>
            </a: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/agents עם JSON output  ·  plugin discovery לפני התקנה  ·  Auto Mode בלי opt-in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מעקב:  </a:t>
            </a:r>
            <a:r>
              <a:rPr lang="en-US" sz="11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code.claude.com/docs/changelog</a:t>
            </a: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github.com/anthropics/claude-code/releases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היום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607040" y="1691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המוצר שנבנה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FixSlot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0" y="2560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0" y="2606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וstack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דק׳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Vercel,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ולמה דווקא הם.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07040" y="34290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114800" y="3474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וחשיבה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מודל, מצבי חשיבה, ההבדל בין thinking ל-plan mode.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0" y="4297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114800" y="4343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חיה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דק׳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מ-/init ועד deploy ב-Vercel - צופים, מבצעים, מתקנים יחד.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0" y="5166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4114800" y="5338361"/>
            <a:ext cx="6400800" cy="374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ושאלות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  ·  מפגש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לקחנו ממפגש 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חמש אמיתות שצריך לשמור איתנו לכל מה שבונים מכאן.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03120"/>
            <a:ext cx="91440" cy="74980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561320" y="22402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6656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= לולאת סוכן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צ'אט. לא autocomplete. סוכן שקורא, עורך, מריץ, ובודק קוד — אוטונומית. אתם סוקרים.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926080"/>
            <a:ext cx="91440" cy="74980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561320" y="30632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6656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= זיכרון הפרויקט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הקובץ שמלמד את הסוכן על המאגר. בלעדיו — כל סשן מתחיל מאפס.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3749040"/>
            <a:ext cx="91440" cy="74980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561320" y="38862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3858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מומחיות לשימוש חוזר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18795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מודולים שמפעילים את הסוכן עם הנחיה ספציפית: code review, security, UI, ועוד.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4572000"/>
            <a:ext cx="91440" cy="74980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561320" y="47091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4681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מובנה &gt; פרומפט נאיבי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0109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הפער הוא לא 10% איכות. לעיתים זה ההבדל בין תשובה שימושית לתשובה ש-trash.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1612880" y="5394960"/>
            <a:ext cx="91440" cy="74980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561320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66560" y="5504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נכון = פחות Tokens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8338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 תזרקו את כל הריפו על הסוכן — תנו רק את מה שצריך. /clear ו-/compact הם החברים שלכם.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היום: מ-spec ועד deploy. עם כל זה ביד.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  ·  מפגש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הפקודות שצריך לזכור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 ומצבים שצריך להחזיק ביד — חלקם הוצגו במפגש 1, חלק נשתמש היום.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03120"/>
            <a:ext cx="91440" cy="5303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מאפס את ההקשר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תוקעים כפתור reset על השיחה. שימושי כשעוברים לנושא חדש.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679192"/>
            <a:ext cx="91440" cy="5303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772400" y="26791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6791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מסכם ומכווץ הקשר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/clear — שומר את החשוב, זורק את השאר. עדין יותר.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3255264"/>
            <a:ext cx="91440" cy="5303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772400" y="325526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2552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מציג שימוש בטוקנים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552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נשאר בחלון 5 השעות, ובמכסה השבועית. הצליל היחיד שאומר 'די'.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31336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3831336"/>
            <a:ext cx="91440" cy="5303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7772400" y="383133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8313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מחליף מודל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83133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/ Opus / Haiku. Sonnet ברירת מחדל, Opus לדברים כבדים, Haiku לזריזים.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1612880" y="4407408"/>
            <a:ext cx="91440" cy="5303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7772400" y="440740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/effort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440740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מכוון רמת חשיבה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4074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זמן הסוכן 'יחשוב' לפני שהוא עונה. יותר effort = יותר tokens, יותר דיוק.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83480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4983480"/>
            <a:ext cx="91440" cy="5303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7772400" y="49834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37760" y="49834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מייצר CLAUDE.md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498348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סורק את הריפו, כותב לסוכן זיכרון התחלתי על המבנה והקוד.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559552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11612880" y="5559552"/>
            <a:ext cx="91440" cy="5303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7772400" y="555955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Mode  (Shift+Tab)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37760" y="555955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לפני ביצוע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555955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יציג תוכנית קודם — אישור שלכם, ורק אז מתחיל לעבוד. מציל קוד.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הקלידו / בטרמינל לראות את הרשימה המלאה — יש עוד הרבה.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1  ·  סיכום ממוקד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נשאר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</a:t>
            </a:r>
          </a:p>
          <a:p>
            <a:pPr marL="0" indent="0" algn="r" rtl="1">
              <a:buNone/>
            </a:pP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Harness-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ההבדל.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בכלי שנוח לכם — וזכרו ש-skill הוא רק פרומפט מורחב.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2514600"/>
            <a:ext cx="3703320" cy="23774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36676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6676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YOUR FORM-FACTOR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6676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איפה שנוח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366760" y="3728543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טרמינל, extension ב-VS Code, אפליקציית דסקטופ, web. כולם תקפים, כולם עובדים.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79608" y="4434840"/>
            <a:ext cx="1078992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625328" y="44348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528048" y="4434840"/>
            <a:ext cx="978408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573768" y="4434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92094" y="4434840"/>
            <a:ext cx="1255222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233658" y="4434840"/>
            <a:ext cx="117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24928" y="4434840"/>
            <a:ext cx="576072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7470648" y="443484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90956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2628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2628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≠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Harness-</a:t>
            </a: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</a:t>
            </a: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ההבדל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26280" y="3783362"/>
            <a:ext cx="3246120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משתנה: איך הסוכן ניגש לכלים, ל-Skills, לקבצים, ולפקודות. מה לא משתנה: ה-Claude שמאחורי הקלעים.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41464" y="4434840"/>
            <a:ext cx="676656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7187184" y="4434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0488" y="4434840"/>
            <a:ext cx="877824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236208" y="4434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0096" y="4434840"/>
            <a:ext cx="77724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5385816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4434840"/>
            <a:ext cx="877824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434840" y="4434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פקודות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406908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8580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580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WHEN NEEDED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Skill </a:t>
            </a: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</a:t>
            </a: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מורחב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85800" y="3752189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הוא לא קסם — הוא הוראות שכתב מישהו פעם אחת. הפעילו אותו רק כשהמשימה מצדיקה זאת.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97480" y="4434840"/>
            <a:ext cx="128016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274320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לכל דבר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755648" y="4434840"/>
            <a:ext cx="86868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1755648" y="4434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כשחוזר על עצמו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555" y="4448083"/>
            <a:ext cx="1169607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489791" y="4434840"/>
            <a:ext cx="1112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כשצריך checklist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Shape 44"/>
          <p:cNvSpPr/>
          <p:nvPr/>
        </p:nvSpPr>
        <p:spPr>
          <a:xfrm>
            <a:off x="11612880" y="5212080"/>
            <a:ext cx="91440" cy="1143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777240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הראשונה  ›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5596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את הפרומפט הראשון לפרויקט שלכם.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ב-skill לחשיבה </a:t>
            </a:r>
            <a:r>
              <a:rPr lang="en-US" sz="1200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ולסיעור</a:t>
            </a: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מוחות</a:t>
            </a: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:  </a:t>
            </a:r>
            <a:r>
              <a:rPr lang="en-US" sz="1300" b="1" dirty="0" err="1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superpowers:brainstorming</a:t>
            </a: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לקראת מפגש 2  ·  השדרה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18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ה-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18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הוא השדרה.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B85F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ה-spec לא מת. הוא חזר חיוני מתמיד - כי עכשיו גם AI קורא אותו.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01584" y="2377440"/>
            <a:ext cx="3602736" cy="2788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30184" y="2560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30184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BACKBONE OF THE BUILD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30184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השדרה של הפרויקט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30184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Stack. Scope. Conventions. החלטות ארכיטקטורה. מה לא בונים.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30184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נכתב פעם, נקרא בכל סשן. הוא לא קובץ עזר - הוא ההקשר שבלעדיו ה-AI לא יודע איך פרויקט בכלל נראה.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30184" y="475488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30184" y="4800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"ההשקעה היחידה שמצטברת."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79392" y="2377440"/>
            <a:ext cx="37033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91272" y="2377440"/>
            <a:ext cx="91440" cy="2788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2560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07992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5C564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PM WORK, NOW EVERYONE'S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07992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8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תפקיד ה-PM - לכולם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07992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8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פעם PM כתב את ה-functional spec. היום כל מהנדס עם Claude הוא ה-PM של עצמו.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07992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564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Spec הוא לא נספח לקוד יותר - הוא תוצר הנדסי בפני עצמו. מי שלא יודע לכתוב spec, לא יודע לעבוד עם AI.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07992" y="475488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07992" y="4800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"כל מהנדס -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גם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PM 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37033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69080" y="2377440"/>
            <a:ext cx="91440" cy="2788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" y="2560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5C564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TWO READERS, ONE FILE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8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שני קוראים, אותו מסמך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580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8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פעם: spec → מפתח קורא → קוד → spec נשכח.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564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היום: CLAUDE.md → גם מפתח, גם Claude. בכל סשן. שוב ושוב. ה-spec לא מסמך-של-פעם - הוא קובץ פעיל.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5800" y="475488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" y="4800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"ה-spec רץ עכשיו."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5349240"/>
            <a:ext cx="11247120" cy="9601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1612880" y="5349240"/>
            <a:ext cx="91440" cy="9601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008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B958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פעם: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ה-spec היה למישהו לקרוא פעם.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היום: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הוא קובץ שמופעל בכל סשן.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008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המשימה שלכם לבית  ·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ה-CLAUDE.md הראשון שלכם - לפרויקט אמיתי. דרך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B8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/superpowers:brainstorming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564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המוצר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אנחנו בונים, ולמי.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המוצר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FixSlot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הזמנת תורים לספקי שירות עצמאיים.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5528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46888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ספרים, מטפלים, מאמנים, מורים פרטיים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3712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מנהלים תורים ב-WhatsApp מסביב לשעון.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4041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Double-bookings, no-shows,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תזכורות ידניות, רדיפה אחרי תשלום.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5029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53583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יקרות שיכלו ללכת ללקוחות.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7662672" y="246888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48056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קהל היעד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ספקי שירות עצמאיים בישראל.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712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041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כ-50,000 בעלי עסק יחיד -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ספרים, פיזיותרפיסטים,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מאמנים, יועצים, מורים פרטיים.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53583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כבר על WhatsApp ו-Instagram -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56875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צריכים רק לינק להזמנה.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3913632" y="246888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הזמנה ציבורי לכל ספק: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712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book.fixslot.io/yossi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041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 בוחר זמן 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משלם פיקדון 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029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 אישור באימייל.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3583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6875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הספק רואה את היום בעמוד אחד.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B654EBD-1558-A93E-9374-C96899823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406" y="803515"/>
            <a:ext cx="8997184" cy="547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B47F7AF-C037-AB8E-47BA-7A5796B266F4}"/>
              </a:ext>
            </a:extLst>
          </p:cNvPr>
          <p:cNvSpPr/>
          <p:nvPr/>
        </p:nvSpPr>
        <p:spPr>
          <a:xfrm>
            <a:off x="-1337249" y="-1651462"/>
            <a:ext cx="3366655" cy="330292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EAFF809C-53D5-A40B-8E1D-519BEE855CDA}"/>
              </a:ext>
            </a:extLst>
          </p:cNvPr>
          <p:cNvSpPr/>
          <p:nvPr/>
        </p:nvSpPr>
        <p:spPr>
          <a:xfrm>
            <a:off x="10889673" y="4885112"/>
            <a:ext cx="3366655" cy="330292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958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מוצר נבנה  ·  התפקידים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 נבנה ע״י צוות — שלושה כובעים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בחברה רגילה — שלושה אנשים. במפגש הזה — אדם אחד וסוכן AI. הכובע מתחלף לפי השלב.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38160" y="1783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38160" y="2194560"/>
            <a:ext cx="3611880" cy="388620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36676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6676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מוצר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36676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1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&amp; Why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3703320"/>
            <a:ext cx="3154680" cy="0"/>
          </a:xfrm>
          <a:prstGeom prst="line">
            <a:avLst/>
          </a:prstGeom>
          <a:noFill/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366760" y="3886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בעיה, מטרות, קהל יעד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42702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הקשר עסקי ואסטרטגי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46542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buy vs 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6760" y="50383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stories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54223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מרחב פתרון (עד נקודת ההחלטה)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0540" y="2194560"/>
            <a:ext cx="3611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7840980" y="2194560"/>
            <a:ext cx="91440" cy="3886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54914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Designer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4914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מעצב חוויה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4914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feels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9140" y="3703320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549140" y="3886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זרימות וארכיטקטורת מידע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49140" y="42702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UI ועיצוב ויזואלי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49140" y="46542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אינטראקציה ו-accessibility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9140" y="50383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בדיקות משתמשים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2194560"/>
            <a:ext cx="3611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4023360" y="2194560"/>
            <a:ext cx="91440" cy="3886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3152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מפתח/ת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152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703320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731520" y="3886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ארכיטקטורה ובחירות טכנולוגיות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2702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מימוש ה-spec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46542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בדיקות, ביצועים, deploy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0383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תחזוקה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הקוד  ·  בעיה מול פתרון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רגע לפני שמתחילים לבנות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ירוץ ברגע שאומרים לו. השאלה היא לאן.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2240280"/>
            <a:ext cx="5532120" cy="338328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46520" y="2468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Space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46520" y="2788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הבעיה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46520" y="3291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למי, למה, ומתי זה כואב.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37033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מי המשתמש? תאר אותו ספציפית.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40873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הוא עושה היום בלי המוצר?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447141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איפה הוא נתקע — מה הכאב?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48554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הצלחה בשבילו?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52395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לא מעניין לפתור?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5532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5897880" y="2240280"/>
            <a:ext cx="91440" cy="3383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הפתרון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איך, במה, ובאיזה סדר.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אילו 2-3 גישות שונות נשקלו?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0873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stories - כל אחת בעצמה ברורה?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7141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Stack? Frontend? DB?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8554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ב-MVP — ומה מחוץ?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2395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סיכונים, השערות, מה לבדוק קודם?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90150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01  ·  מטרות  ·  Targets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כל דבר אחר — מי המשתמש שלנו? איך נראית הצלחה מבחינתו? מה לא רלוונטי? בלי תשובות חדות פה, כל מה שאחרי זה יתפזר.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33894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</a:t>
            </a:r>
            <a:r>
              <a:rPr lang="he-IL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דקות</a:t>
            </a: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של חשיבה. </a:t>
            </a:r>
            <a:endParaRPr lang="he-IL" sz="1300" b="1" dirty="0">
              <a:solidFill>
                <a:srgbClr val="F5F1E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 rtl="1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57032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02  ·  הקשר הבעיה  ·  Problem Context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הבעיה כואבת? מתי? למה זה לא נפתר עד היום? המטרה היא להבין את העולם של המשתמש — לא להמציא פתרון. נשארים עם הכאב, עוד לא קופצים לפתרון.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3914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03  ·  תחרות  ·  Competition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אנשים פותרים את זה היום — בלי המוצר שלנו? Excel? WhatsApp? כלי קיים שלא מתאים? התשובה כאן מספרת לנו איפה הפער האמיתי, ומה אסור לבנות (כי כבר קיים).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90795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04  ·  מרחב פתרון  ·  Solution Space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קופצים לרעיון הראשון. מציעים 2-3 גישות שונות — כל אחת עם trade-offs ברורים. רק כשיש אלטרנטיבות, יש שפיות לבחור. הקפיצה לרעיון יחיד היא הסיבה השכיחה לבזבוז זמן.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57677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05  ·  פונקציונלי מינימלי  ·  MFP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Feasible/Functional Product — הגרסה הכי קטנה שעובדת מקצה לקצה. לא מוצר אמיתי עדיין, אבל הוכחה שזה בכלל אפשרי. הצרה החשובה: סוגרים את הלולאה לפני שמשפרים שום חלק שלה.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24558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06  ·  Viable מינימלי  ·  MVP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 Product — מה שמשתמש אמיתי יוכל להפעיל, להפיק ערך, ולא ינטוש בגועל. ההבדל מ-MFP: זה כבר ראוי לאדם. כל החלטה כאן היא בין 'יספיק' ל-'מבייש'.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07  ·  פרומפט קצר  ·  Brainstorm Prompt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מה שלמעלה — נדחס ל-1-2 משפטים שנותנים ל-brainstorming skill. לא spec, לא feature list — פתח שיחה. ה-Skill יסחט מאיתנו את שאר ההחלטות, צעד-צעד.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גבולות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בונים היום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discipline - הסיבה שבאמת נסיים ב-55 דקות.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1556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ספקים בעסק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ספק יחיד בלבד. צוות → אפשר לעשות, אבל לא היום.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3949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 יומן (Google/iCal)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המוצר עצמאי. אינטגרציה כן - בעדכון הבא.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11556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3685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תזכורות SMS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אימייל בלבד דרך Resend. SMS דורש ספק נוסף ועלויות שונות.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539496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3685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החזרים וביטולים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הזמנה היא final. flow ביטולים = עוד 4-5 שעות עבודה.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80060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11556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4965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תורים חוזרים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הזמנה היא יחידה. recurring = גרף שאילתות אחר לגמרי.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539496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" y="4965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אדמין/ניהול לקוחות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לא נשמרים - רק email לכל הזמנה.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הקוד  ·  brainstorming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/superpowers: brainstorming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 › brainstorming  →  writing-plans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לא נותן לסוכן לכתוב קוד עד שהבעיה ברורה. זאת הסיבה שמשתמשים בו.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77440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0835640" y="251460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0835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377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סורק את הריפו, קורא CLAUDE.md, מבין הקיים.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11612880" y="3035808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0835640" y="317296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083564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035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הבהרה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03580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שאלה אחת בכל פעם. מטרה, אילוצים, קריטריוני הצלחה.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612880" y="3694176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0835640" y="3831336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083564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6941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+ טרייד-אופים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69417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מציע אלטרנטיבות אמיתיות. ממליץ — לא בוחר לבד.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612880" y="4352544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835640" y="4489704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83564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43525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doc + User Stories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35254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 spec ל-docs/superpowers/specs/, ממתין לאישור.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5010912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10835640" y="5148072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1083564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50109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writing-plans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501091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נפרד — הופך spec ל-tasks קונקרטיות לביצוע.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הפעלה: השאלה הראשונה — "תעזור לי לחשוב על X" — וה-Skill נכנס לעבודה אוטומטית.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</a:t>
            </a: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הראשון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כותבים כשמתחילים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 הראשון מציב את הנושא. ה-Skill מוביל את שאר השיחה.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72200" y="21945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המבנה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2514600"/>
            <a:ext cx="5532120" cy="1371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6309360" y="263347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6455664" y="263347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6601968" y="263347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355080" y="2880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/superpowers:brainstorming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32004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i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[1-2 משפטים: מי הבעיה, מה הכאב]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3520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בוא נחשוב יחד  /  בוא נסקור אפשרויות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5321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355080" y="40965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E9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טוב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3891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רוצה לבנות משהו שיעזור לסטודנטים לעקוב אחרי deadlines. לא בטוח מה ייכנס. בוא נחשוב יחד."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4983480"/>
            <a:ext cx="55321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355080" y="5056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גרוע — פתרון מוכן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53492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"בנה todo app ב-React + Supabase, עם dark mode, תזכורות, שיתוף, ו-PWA."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1945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מה </a:t>
            </a:r>
            <a:r>
              <a:rPr lang="he-IL" sz="1200" i="1" kern="0" spc="200" dirty="0" err="1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הסקיל</a:t>
            </a:r>
            <a:r>
              <a:rPr lang="he-IL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עושה בפועל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5897880" y="25146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319660" y="2715768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531966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25146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סורק את CLAUDE.md ואת הריפו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5897880" y="3364992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5298144" y="3566160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531966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33649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 שאלה אחת בכל פעם — בכוונה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215384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5897880" y="4215384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5298144" y="441655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319660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" y="421538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מציע 2-3 גישות עם טרייד-אופים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065776"/>
            <a:ext cx="5532120" cy="7772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5362692" y="5288460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5384208" y="5266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" y="506577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 design doc ל-docs/superpowers/specs/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55686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ואז: writing-plans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הקוד  ·  CLAUDE.md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/init — נותנים לסוכן מוח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הפקודה הראשונה בכל פרויקט חדש. סורקת את הריפו וכותבת CLAUDE.md ראשוני.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1247120" cy="10058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804672" y="2359152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69264" y="2359152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/init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3429000"/>
            <a:ext cx="5532120" cy="10744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1612880" y="3429000"/>
            <a:ext cx="91440" cy="10744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400800" y="3566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המוצר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9319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של המוצר ושל מי שמשתמש בו. שורה-שתיים, לא יותר.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532120" cy="10744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5897880" y="3429000"/>
            <a:ext cx="91440" cy="10744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Supabase · Tailwind — כל מה שצריך לזהות מיד.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686300"/>
            <a:ext cx="5532120" cy="10744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612880" y="4686300"/>
            <a:ext cx="91440" cy="10744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400800" y="48234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51892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תיקיות, naming, איך מטפלים בשגיאות, איפה הטסטים.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86300"/>
            <a:ext cx="5532120" cy="10744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5897880" y="4686300"/>
            <a:ext cx="91440" cy="10744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685800" y="48234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/ DON'T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51892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אסור לגעת ב-prod DB. אל תכניס secrets. השתמש ב-pnpm לא npm.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/init הוא נקודת התחלה. CLAUDE.md הוא תחזוקה - עורכים אותו ידנית לאורך הזמן.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 ·  משמעת השימוש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 זה כלי כבד — תשמור אותו לרגע הנכון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Skill מוסיף 5-50K טוקנים להקשר. שווה כשזה משנה. מיותר כשלא.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05840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מחיר ההקשר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2468880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רגילה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2468880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91740"/>
            <a:ext cx="36576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8686800" y="2587752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Skill אחד (brainstorming)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258775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10612"/>
            <a:ext cx="146304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686800" y="2706624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עוד Skill (ui-ux-pro-max)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2706624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729484"/>
            <a:ext cx="36576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686800" y="2825496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הכל ביחד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282549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100K+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848356"/>
            <a:ext cx="68580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55321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0080" y="33375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לא לשגרה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the Skill — naked Claude is enough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תיקון bug עם stack trace ברור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"עוד פיצ'ר אחד מהסוג שכבר בנינו"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typo / rename / refactor קצר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שינוי style קטן, console.log שכחת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כל מה שעשית כבר עשרות פעמים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3154680"/>
            <a:ext cx="55321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355080" y="33375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6E9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כשזה משנה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3703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 the Skill — the cost is worth 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1148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בעיה חדשה — brainstorming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4805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פיצ'ר חדש עם complexity או scope משמעותי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48463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code review לפני merge קריטי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5212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אבטחה — auth, payments, סודות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55778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עיצוב מסך / חוויה מאפס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אצבע: אם הטעות פה תעלה יותר מ-30K טוקנים — שווה להפעיל Skill.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  ·  ניהול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להשבית skill - הדרך הקלה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</a:t>
            </a:r>
            <a:r>
              <a:rPr lang="en-US" sz="18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Space  ·  Enter.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6766560" cy="3200400"/>
          </a:xfrm>
          <a:prstGeom prst="rect">
            <a:avLst/>
          </a:prstGeom>
          <a:solidFill>
            <a:srgbClr val="0F0D0A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6766560" cy="320040"/>
          </a:xfrm>
          <a:prstGeom prst="rect">
            <a:avLst/>
          </a:prstGeom>
          <a:solidFill>
            <a:srgbClr val="26221C"/>
          </a:solidFill>
          <a:ln w="12700">
            <a:solidFill>
              <a:srgbClr val="26221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146304" cy="14630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795528" y="2377440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996696" y="2377440"/>
            <a:ext cx="146304" cy="14630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1546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superpowers:brainstorming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78808" y="31546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447288"/>
            <a:ext cx="6492240" cy="292608"/>
          </a:xfrm>
          <a:prstGeom prst="rect">
            <a:avLst/>
          </a:prstGeom>
          <a:solidFill>
            <a:srgbClr val="26221C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766560" y="34472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44728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shadcn-ui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78808" y="344728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3989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78808" y="3739896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8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03250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78808" y="4032504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32511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78808" y="432511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name-only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legacy-context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78808" y="461772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user-invocable-only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120640"/>
            <a:ext cx="64922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85800" y="51937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cycle   </a:t>
            </a: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↵ Enter</a:t>
            </a: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save   </a:t>
            </a: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close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בארבעה צעדים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247120" y="2697480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112471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הקלידו /skills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התפריט נפתח עם רשימת כל ה-skills והמצב הנוכחי של כל אחד.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247120" y="3410712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1124712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נווטו ↑ 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6640" y="3685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סמנו את ה-skill שאתם רוצים להשבית.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247120" y="4123944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1124712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4123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- מחזור מצבים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0" y="43982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לחיצה מעבירה למצב הבא: on ← off ← name-only ← user-invocable-only.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1247120" y="4837176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1124712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06640" y="4837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- שומר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06640" y="51114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נשמר אוטומטית ל-.claude/settings.local.json (אישי, לא נכנס ל-git).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6112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Shape 45"/>
          <p:cNvSpPr/>
          <p:nvPr/>
        </p:nvSpPr>
        <p:spPr>
          <a:xfrm>
            <a:off x="8961120" y="5669280"/>
            <a:ext cx="91440" cy="640080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914400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גלוי וזמין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Shape 49"/>
          <p:cNvSpPr/>
          <p:nvPr/>
        </p:nvSpPr>
        <p:spPr>
          <a:xfrm>
            <a:off x="6126480" y="5669280"/>
            <a:ext cx="91440" cy="640080"/>
          </a:xfrm>
          <a:prstGeom prst="rect">
            <a:avLst/>
          </a:prstGeom>
          <a:solidFill>
            <a:srgbClr val="D98873"/>
          </a:solidFill>
          <a:ln w="12700">
            <a:solidFill>
              <a:srgbClr val="D9887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2" name="Text 50"/>
          <p:cNvSpPr/>
          <p:nvPr/>
        </p:nvSpPr>
        <p:spPr>
          <a:xfrm>
            <a:off x="630936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8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0936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מוסתר לחלוטין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9184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3291840" y="5669280"/>
            <a:ext cx="91440" cy="6400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347472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name-only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47472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בתפריט, בלי תיאור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457200" y="5669280"/>
            <a:ext cx="91440" cy="6400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64008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user-invocable-only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008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</a:t>
            </a:r>
            <a:r>
              <a:rPr lang="en-US" sz="1100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קורא</a:t>
            </a: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</a:t>
            </a: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לא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27432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C04032"/>
          </a:solidFill>
          <a:ln w="127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784080" y="274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kern="0" spc="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אבטחה  ·  מקרה בוחן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 · 2025  ·  Axios / Cato Networks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</a:t>
            </a:r>
            <a:r>
              <a:rPr lang="en-US" sz="3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הריץ </a:t>
            </a:r>
            <a:r>
              <a:rPr lang="en-US" sz="3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ransomware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חוקרת ב-Cato Networks הוכיחה: skill תמים-למראית-עין יכול להוריד קוד זדוני ולהריץ אותו.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01000" y="2286000"/>
            <a:ext cx="3703320" cy="3017520"/>
          </a:xfrm>
          <a:prstGeom prst="rect">
            <a:avLst/>
          </a:prstGeom>
          <a:solidFill>
            <a:srgbClr val="1A1814"/>
          </a:solidFill>
          <a:ln w="254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2296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040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קרה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0" y="3566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133856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החוקרת Inga Cherny לקחה skill פתוח של Anthropic ("GIF Creator")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338560" y="40233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הוסיפה פונקציה למראית עין תמימה - שמורידה ומריצה קוד מבחוץ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338560" y="4389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סקר את הקוד הגלוי. הקוד שהורד מרחוק - לא נראה.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38560" y="4754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MedusaLocker ransomware רץ בפועל.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4709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229600" y="483018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C04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can do it. You don't even have to write the code."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5029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Inga Cherny  ·  Cato Networks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29100" y="228600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7840980" y="2286000"/>
            <a:ext cx="91440" cy="3017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4577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45770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WORKED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5770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עבד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457700" y="3566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756666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5770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= הוראות + קוד שהסוכן מריץ עבורכם.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66660" y="40233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577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יכול לסקור את הקוד הסטטי בלבד.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66660" y="4389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5770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fetch(url) → exec()  הוא overhead שלכם, לא של Claude.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66660" y="4754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577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החתימה של ה-skill לא משתנה - רק מה שהוא מוריד.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57700" y="4709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4457700" y="487321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"Trust boundary: ה-skill חוצה אותה כל פעם שהוא מוריד."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57700" y="5029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השורה התחתונה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228600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4069080" y="2286000"/>
            <a:ext cx="91440" cy="3017520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858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F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580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לעשות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685800" y="3566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379476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תתייחסו ל-skill כמו ל-npm install: זה קוד של מישהו אחר על המכונה שלכם.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794760" y="40233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8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לקרוא את הקוד, לא רק את SKILL.md.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794760" y="4389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להישמר במיוחד מ-fetch, curl, exec בתוך skills.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794760" y="4754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858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מאומת &gt; GitHub repo רנדומלי. /plugin install עדיף.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5800" y="4709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685800" y="50023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"Skill חדש? Plan mode + permissions מקסימליות בהתחלה."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5800" y="5029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מדיניות מומלצת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1612880" y="5440680"/>
            <a:ext cx="91440" cy="960120"/>
          </a:xfrm>
          <a:prstGeom prst="rect">
            <a:avLst/>
          </a:prstGeom>
          <a:solidFill>
            <a:srgbClr val="C04032"/>
          </a:solidFill>
          <a:ln w="127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640080" y="55504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=Skill </a:t>
            </a:r>
          </a:p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הרשאה להריץ קוד אצלכם.  </a:t>
            </a:r>
            <a:r>
              <a:rPr lang="en-US" sz="1600" b="1" dirty="0">
                <a:solidFill>
                  <a:srgbClr val="C04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תתייחסו לזה ככה.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 ·  </a:t>
            </a: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"משתמשים אחראים לאמת skills שהם מתקינים. ה-warning הקיים מתריע ש-Claude עלול להשתמש בהוראות, קוד וקבצים מה-skill."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" y="615391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מקור: axios.com/2025/12/02/anthropic-claude-skills-medusalocker-ransomware  ·  גילוי 30.10.2025  ·  פרסום 2.12.2025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אנחנו בונים - ולמה ה-stack הזה.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 ·  פילוסופיית ה-STACK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stack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strike="sngStrike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stack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אופטימיזציה לעבודה עם סוכן - לא לתפעול בקנה מידה. אם תצליחו, ה-scale יבוא ויחליף את ה-stack.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0" y="2286000"/>
            <a:ext cx="3703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286000"/>
            <a:ext cx="91440" cy="2514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יודע את זה לעומק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3657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Next.js, Postgres, TypeScript - בכל training set שיש. פחות הזיות, יותר קוד נכון מהפעם הראשונה.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434340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22960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"ראיתי את זה אלף פעם."  ·  Claude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29100" y="2286000"/>
            <a:ext cx="3703320" cy="25146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45770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577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ACTIONABLE  ·  MCP-NATIVE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5770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שכבה - חיה לסוכן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57700" y="3657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רק "Claude מציע" - Claude מבצע. Supabase, Vercel, GitHub - כולן עם שרת MCP רשמי.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7700" y="434340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445770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יכול לעשות את זה. לא רק להגיד איך."  ·  Claude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703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069080" y="2286000"/>
            <a:ext cx="91440" cy="2514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8580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OPERABLE  ·  SOLO-BUILDER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בונה יחיד מסוגל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" y="3657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אחד. שפה אחת. Deploy בקליק. בלי DevOps, בלי SRE, בלי שלושה שירותים לחבר.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34340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8580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"אדם אחד, מסוף אחד, מוצר חי."  ·  Claude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מה ויתרנו  ·  לעת עתה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465308" y="5230368"/>
            <a:ext cx="1239012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10465308" y="5230368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08592" y="5230368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9308592" y="5230368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sharding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74152" y="5230368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8074152" y="523036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multi-region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39228" y="5230368"/>
            <a:ext cx="461772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7539228" y="5230368"/>
            <a:ext cx="461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4788" y="5230368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6304788" y="523036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infra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9452" y="5230368"/>
            <a:ext cx="1472184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4759452" y="523036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Rust-tight types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715000"/>
            <a:ext cx="11247120" cy="713232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11612880" y="5715000"/>
            <a:ext cx="91440" cy="7132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תצליחו — </a:t>
            </a: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תחליפו את ה-stack.    </a:t>
            </a: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לא — </a:t>
            </a: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הפסדתם 3 חודשי DevOps.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ה-stack הוא החלטת זמן, לא החלטה לכל החיים.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ה-STACK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ה-stack שנשתמש בו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96112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(App Router) + React + Tailwind + shadcn/ui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96112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/ Server Actions, NextAuth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961120" y="3319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192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(Supabase), Prisma ORM, migrations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96112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חיצוניים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005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PayPlus</a:t>
            </a: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400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תשלומים</a:t>
            </a: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Resend (אימייל), אחסון קבצים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961120" y="4690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אירוח</a:t>
            </a: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6908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- push to deploy, preview URL לכל branch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8961120" y="5376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</a:t>
            </a:r>
            <a:r>
              <a:rPr lang="he-IL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</a:t>
            </a:r>
            <a:r>
              <a:rPr lang="en-US" sz="1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</a:t>
            </a: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עזר</a:t>
            </a: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376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Supabase, Vercel, GitHub  ·  PayPlus דרך REST + docs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ELI5  ·  </a:t>
            </a:r>
            <a:r>
              <a:rPr lang="en-US" sz="1100" b="1" kern="0" spc="400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פשוט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תארו לעצמכם בית מלון.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</a:t>
            </a:r>
            <a:r>
              <a:rPr lang="en-US" sz="1700" i="1" dirty="0" err="1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</a:t>
            </a:r>
            <a:r>
              <a:rPr lang="en-US" sz="17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משהו מהמלון. יש שלוש דרכים לבקש.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001000" y="2286000"/>
            <a:ext cx="37033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7" name="Shape 5"/>
          <p:cNvSpPr/>
          <p:nvPr/>
        </p:nvSpPr>
        <p:spPr>
          <a:xfrm>
            <a:off x="8001000" y="2286000"/>
            <a:ext cx="3703320" cy="1280160"/>
          </a:xfrm>
          <a:prstGeom prst="rect">
            <a:avLst/>
          </a:prstGeom>
          <a:solidFill>
            <a:srgbClr val="F5D9CC"/>
          </a:solidFill>
          <a:ln w="12700">
            <a:solidFill>
              <a:srgbClr val="F5D9C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001000" y="24231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dirty="0">
                <a:solidFill>
                  <a:srgbClr val="1A1814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🛎️</a:t>
            </a:r>
            <a:endParaRPr lang="en-US" sz="7800" dirty="0"/>
          </a:p>
        </p:txBody>
      </p:sp>
      <p:sp>
        <p:nvSpPr>
          <p:cNvPr id="9" name="Shape 7"/>
          <p:cNvSpPr/>
          <p:nvPr/>
        </p:nvSpPr>
        <p:spPr>
          <a:xfrm>
            <a:off x="8001000" y="3566160"/>
            <a:ext cx="370332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81838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הקונסיירז׳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83880" y="4206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האדם שמכיר את המלון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526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מישהו ייעודי עם תפריט מסודר. הוא מסביר מה אפשר, איך, ובאיזה מחיר. הוא זוכר מה ביקשתם.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4596203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14" name="Text 12"/>
          <p:cNvSpPr/>
          <p:nvPr/>
        </p:nvSpPr>
        <p:spPr>
          <a:xfrm>
            <a:off x="818388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במציאות</a:t>
            </a: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MCP=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9100" y="2286000"/>
            <a:ext cx="37033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16" name="Shape 14"/>
          <p:cNvSpPr/>
          <p:nvPr/>
        </p:nvSpPr>
        <p:spPr>
          <a:xfrm>
            <a:off x="4229100" y="2272352"/>
            <a:ext cx="3703320" cy="1280160"/>
          </a:xfrm>
          <a:prstGeom prst="rect">
            <a:avLst/>
          </a:prstGeom>
          <a:solidFill>
            <a:srgbClr val="D9E8C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229100" y="24231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dirty="0">
                <a:solidFill>
                  <a:srgbClr val="1A1814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📞</a:t>
            </a:r>
            <a:endParaRPr lang="en-US" sz="7800" dirty="0"/>
          </a:p>
        </p:txBody>
      </p:sp>
      <p:sp>
        <p:nvSpPr>
          <p:cNvPr id="18" name="Shape 16"/>
          <p:cNvSpPr/>
          <p:nvPr/>
        </p:nvSpPr>
        <p:spPr>
          <a:xfrm>
            <a:off x="4229100" y="3566160"/>
            <a:ext cx="3703320" cy="54864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4119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הטלפון בחדר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411980" y="4206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מרימים שפופרת, מדברים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57700" y="4526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והצוות יודעים את הקודים. מהיר, ישיר, אין צורך בתפריט. אבל הוא לא זוכר מה אמרתם אתמול.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03420" y="4596201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41198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במציאות</a:t>
            </a: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37033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3703320" cy="1280160"/>
          </a:xfrm>
          <a:prstGeom prst="rect">
            <a:avLst/>
          </a:prstGeom>
          <a:solidFill>
            <a:srgbClr val="F5E5C2"/>
          </a:solidFill>
          <a:ln w="12700">
            <a:solidFill>
              <a:srgbClr val="F5E5C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57200" y="24231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dirty="0">
                <a:solidFill>
                  <a:srgbClr val="1A1814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📱</a:t>
            </a:r>
            <a:endParaRPr lang="en-US" sz="78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3703320" cy="54864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400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E5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עם שדות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526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פותחים, בוחרים מהרשימה, ממלאים, שולחים. מקבלים תשובה מסודרת. כל בקשה עומדת בפני עצמה.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617717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64008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במציאות</a:t>
            </a: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API=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11612880" y="5623560"/>
            <a:ext cx="91440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40080" y="57332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אותו מלון. רק הדרך לבקש משתנה.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לא משתנה (Supabase, GitHub, PayPlus). רק איך הסוכן מדבר איתו.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ה-HARNESS  ·  שיחה עם כלים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r>
              <a:rPr lang="en-US" sz="36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36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</a:t>
            </a:r>
            <a:r>
              <a:rPr lang="en-US" sz="36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36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שלוש דרכים לדבר עם כלים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מטרה - לבצע פעולה בכלי חיצוני. שלוש מעטפות שונות. הסוכן בוחר.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0" y="228600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286000"/>
            <a:ext cx="91440" cy="33375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23957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PROTOCOL-FIRST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עם schema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ה-tool מפרסם את ה-API שלו. הסוכן מגלה את הפעולות והפרמטרים אוטומטית - בלי לנחש flags.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393192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0037826" y="402336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מעטפת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402336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JSON-RPC קבוע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37826" y="429768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פלט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typed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37826" y="45720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הקצאה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57200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דורש שרת רץ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489204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229600" y="4983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מתי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5193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בשימוש חוזר. output מובנה חשוב.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488168" y="5212080"/>
            <a:ext cx="1033272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10533888" y="5212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82912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9628632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77656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8723376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29100" y="228600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7840980" y="2286000"/>
            <a:ext cx="91440" cy="3337560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44577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F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457700" y="23957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45770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SHELL-FIRST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577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פקודה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57700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תוכנת CLI שקיימת. הסוכן כבר מכיר את git, gh, psql, npm - אין מה ללמד.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57700" y="393192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265926" y="402336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מעטפת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57700" y="402336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subprocess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5926" y="429768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פלט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57700" y="429768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טקסט חופשי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5926" y="45720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הקצאה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57700" y="457200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 כבר מותקן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57700" y="489204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4457700" y="4983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מתי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57700" y="5193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דברים מקומיים. one-shot. system work.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19188" y="52120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7264908" y="5212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16268" y="5212080"/>
            <a:ext cx="429768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6761988" y="52120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12180" y="5212080"/>
            <a:ext cx="630936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6057900" y="5212080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06924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5152644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228600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4069080" y="2286000"/>
            <a:ext cx="91440" cy="333756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6858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5B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85800" y="23957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68580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HTTP-FIRST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58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E5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HTTP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85800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שירות יש API. הסוכן קורא docs ומרכיב requests - השירות לא צריך לדעת על Claude.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5800" y="393192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2" name="Text 60"/>
          <p:cNvSpPr/>
          <p:nvPr/>
        </p:nvSpPr>
        <p:spPr>
          <a:xfrm>
            <a:off x="2494026" y="402336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מעטפת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" y="402336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494026" y="429768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פלט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5800" y="429768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(בד״כ)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494026" y="45720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הקצאה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85800" y="457200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 יש docs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5800" y="489204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9" name="Text 67"/>
          <p:cNvSpPr/>
          <p:nvPr/>
        </p:nvSpPr>
        <p:spPr>
          <a:xfrm>
            <a:off x="685800" y="4983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מתי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5800" y="5193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מרוחק בלי MCP. SDK חסר.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044952" y="5212080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2" name="Text 70"/>
          <p:cNvSpPr/>
          <p:nvPr/>
        </p:nvSpPr>
        <p:spPr>
          <a:xfrm>
            <a:off x="3090672" y="52120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PayPlus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139696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4" name="Text 72"/>
          <p:cNvSpPr/>
          <p:nvPr/>
        </p:nvSpPr>
        <p:spPr>
          <a:xfrm>
            <a:off x="2185416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234440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6" name="Text 74"/>
          <p:cNvSpPr/>
          <p:nvPr/>
        </p:nvSpPr>
        <p:spPr>
          <a:xfrm>
            <a:off x="1280160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8" name="Shape 76"/>
          <p:cNvSpPr/>
          <p:nvPr/>
        </p:nvSpPr>
        <p:spPr>
          <a:xfrm>
            <a:off x="11612880" y="5760720"/>
            <a:ext cx="91440" cy="731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9" name="Text 77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ה-STACK של FIXSLOT  ·  שלוש הגישות יחד  ›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[MCP]</a:t>
            </a: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Supabase · Vercel · GitHub</a:t>
            </a:r>
            <a:r>
              <a:rPr lang="en-US" sz="12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[CLI]</a:t>
            </a: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git · gh</a:t>
            </a:r>
            <a:r>
              <a:rPr lang="en-US" sz="12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[API]</a:t>
            </a: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PayPlus · Resend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למה NEXT.JS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</a:t>
            </a:r>
            <a:r>
              <a:rPr lang="he-IL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Next.js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217920" y="17830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11612880" y="178308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במאגר אחד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API, לוגיקת שרת - אותו פרויקט. בלי backend נפרד.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852160" y="178308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&amp; Actions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שאילתות DB בשרת, בלי קוד glue. פחות טקס.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11612880" y="320040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מכיר אותו לעומק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ה-framework המאומן הכי טוב → פחות הזיות, קוד טוב יותר מהפעם הראשונה.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5852160" y="320040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אקוסיסטם ענק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תשלומים, ORMs, ספריות UI - כולם מניחים ש-Next.js בשימוש.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461772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+ routing + SEO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 מובנה. אופטימיזציית תמונות, metadata, streaming - מהקופסה.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852160" y="461772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לגייס לזה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מיומנויות React בכל מקום - הצוות או שכיר עתידי יוכלו ללמוד.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 ·  מה זה NEXT.JS?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מתכון, לא מסתורין.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מה שצריך לאתר אמיתי. שכבה אחר שכבה. בלי להלחים ידנית.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0" y="2331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עם טקסט ותמונות.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70632"/>
            <a:ext cx="11247120" cy="43891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7589520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7706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צבעים, גופנים, פריסה.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32095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JavaScript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20954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לחיצות, אנימציות, אינטראקציה.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095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11247120" cy="43891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589520" y="36484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4845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רכיבים לשימוש חוזר, ניהול state.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484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4087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 (Node)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0873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נתונים, login, API endpoints.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0873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1247120" cy="43891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589520" y="4526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Routing  /  Build / Deploy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45262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עמודים, URLs יפים, build, פרודקשן.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5056632"/>
            <a:ext cx="1033272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457200" y="5193792"/>
            <a:ext cx="11247120" cy="7772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11612880" y="5193792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7589520" y="51937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</a:t>
            </a:r>
            <a:r>
              <a:rPr lang="en-US" sz="26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1520" y="5193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זה. בקופסה אחת. בלי לחבר ידנית.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אלטרנטיבות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גם שקלנו - ולמה Next.js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היא לא 'מה הכי טוב'. היא 'מה הכי מתאים לפרויקט הזה, עם Claude, היום'.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נשקלו ונדחו  ·  CONSIDERED &amp; RULED 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28048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665208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66520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8524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10928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React, server-first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10928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710928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10928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JSX, גישה server-first נקייה.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10928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10928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אקוסיסטם קטן יותר, פחות Claude training data, פחות auth/payments מוכנים.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7397496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9749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1753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SvelteKit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43216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 full-stack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43216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443216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43216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אלגנטי, runtime קל ומהיר.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43216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יודע React הרבה יותר טוב, פחות ספריות auth/payments בישראל.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92624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5129784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1297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982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Astro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75504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+ islands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75504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175504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504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מצוין ל-content sites ולנחיתה. SEO מובנה.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FixSlot כבד באינטראקציה - לא היתרון של Astro.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24912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2862072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286207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Nuxt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907792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full-stack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07792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2907792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07792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אקוסיסטם Vue בוגר, DX נעים.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07792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07792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גדול פי כמה - יותר ספריות, יותר training data ל-Claude.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594360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+ Hono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0080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DIY full-stack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640080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מקסימום שליטה. בלי opinionated framework.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projects לתחזק, glue code ידני, פחות מתאים לבונה יחיד.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Shape 56"/>
          <p:cNvSpPr/>
          <p:nvPr/>
        </p:nvSpPr>
        <p:spPr>
          <a:xfrm>
            <a:off x="1161288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0927080" y="5239512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10927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ה-PICK שלנו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3000" dirty="0"/>
          </a:p>
        </p:txBody>
      </p:sp>
      <p:sp>
        <p:nvSpPr>
          <p:cNvPr id="63" name="Shape 61"/>
          <p:cNvSpPr/>
          <p:nvPr/>
        </p:nvSpPr>
        <p:spPr>
          <a:xfrm>
            <a:off x="7589520" y="5303520"/>
            <a:ext cx="0" cy="96012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Text 62"/>
          <p:cNvSpPr/>
          <p:nvPr/>
        </p:nvSpPr>
        <p:spPr>
          <a:xfrm>
            <a:off x="534924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4924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יודע אותו הכי טוב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4924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ה-framework המאומן ביותר - פחות הזיות, קוד נכון מהפעם הראשונה.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92608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92608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בפרויקט אחד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92608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API + DB באותו repo. בלי שני deploys, בלי glue.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292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אקוסיסטם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0292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payments, ORMs - כולם מניחים Next.js. Deploy בקליק.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למה VERCEL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</a:t>
            </a:r>
            <a:r>
              <a:rPr lang="en-US" sz="4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r>
              <a:rPr lang="en-US" sz="4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11155680" y="202996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15568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נבנה על ידי צוות Next.js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בלי הגדרות. הבית הטבעי של ה-framework.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155680" y="289864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15568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ל-deploy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push מקבל preview URL - לשתף עם לקוחות לפני merge.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1155680" y="376732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115568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מספיק ל-MVP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פרויקטי SaaS בתחילת הדרך לא משלמים עד שיש משתמשים.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155680" y="463600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115568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עבודת DevOps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vars, logs, analytics, CDN, edge functions - הכל מובנה.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155680" y="550468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11155680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5394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Vercel MCP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יכול לעשות deploy, לקרוא build logs, לתקן שגיאות בלי לצאת מהטרמינל.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אלטרנטיבות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גם שקלנו - ולמה Vercel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+ deploy זה לא רק 'איפה זה רץ'. זה איך ה-PR נסקר, איך ה-build נכשל, ואיך Claude מתקן.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נשקלו ונדחו  ·  CONSIDERED &amp; RULED 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28048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665208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66520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8524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Netlify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10928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Jamstack PaaS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10928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710928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10928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ותיק, יציב, חוויית deploy דומה מאוד.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10928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10928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ב-Next.js App Router תמיד צעד מאחור - הם לא בעלי ה-framework.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7397496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9749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1753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Cloudflare Pages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43216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Edge-first hosting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43216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443216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43216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runtime מהיר, free tier נדיב, רשת CDN ענקית.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43216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ב-Server Components ו-Server Actions עדיין מוגבלת. workarounds רבים.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92624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5129784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1297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982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75504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+ DB platform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75504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175504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504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- app, DB, services באותו dashboard.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Next.js-optimized. Preview URLs פחות מלוטשים, build slower.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24912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2862072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286207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907792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Heroku-style PaaS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07792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2907792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07792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פשוט, ידידותי, deploy מ-git, free tier סביר.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07792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07792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edge runtime, פחות Next.js-tuned, פחות features ל-MCP / preview workflow.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594360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VPS + Docker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0080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Self-hosted (Fly, DO)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640080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מקסימום שליטה, ללא vendor lock-in, עלות צפויה.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לבונה יחיד = יותר זמן על תשתית מאשר על מוצר. ללא MCP.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Shape 56"/>
          <p:cNvSpPr/>
          <p:nvPr/>
        </p:nvSpPr>
        <p:spPr>
          <a:xfrm>
            <a:off x="1161288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0927080" y="5239512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10927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ה-PICK שלנו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3000" dirty="0"/>
          </a:p>
        </p:txBody>
      </p:sp>
      <p:sp>
        <p:nvSpPr>
          <p:cNvPr id="63" name="Shape 61"/>
          <p:cNvSpPr/>
          <p:nvPr/>
        </p:nvSpPr>
        <p:spPr>
          <a:xfrm>
            <a:off x="7589520" y="5303520"/>
            <a:ext cx="0" cy="96012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Text 62"/>
          <p:cNvSpPr/>
          <p:nvPr/>
        </p:nvSpPr>
        <p:spPr>
          <a:xfrm>
            <a:off x="534924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4924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הבית של Next.js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4924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נבנה על ידי אותו צוות. כל פיצ׳ר חדש ב-Next.js עובד ביום הראשון.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92608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92608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MCP מובנה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92608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מבצע deploy, קורא build logs, ומתקן שגיאות - בלי לצאת מהטרמינל.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292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URL לכל push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0292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ה-Workflow לסקירת PRs - שיתוף עם לקוחות לפני merge.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חלופות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לבחור אחרת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ה-stack הזה הוא לא דוֹגמה. שלושה מקרים שכדאי לשקול חלופות.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Background jobs כבדים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ארוכות, queues, schedulers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הוסף worker (Render, Railway, Heroku)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data residency נוקשות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מידע אירופי / ישראלי חייב להישאר באזור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בדוק Vercel regions, או self-host על Hetzner / AWS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שלא על React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הצוות הקיים על Vue / Svelte / Rails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SvelteKit, Nuxt או Rails סבירים בהחלט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מודל הנתונים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הנתונים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ישויות, יחסים פשוטים. הזה ה-schema שיוצא מ-Plan mode.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46920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9646920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646920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0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0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0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0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82328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482328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24344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7324344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24344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61504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61504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61504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61504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61504" y="433425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59752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159752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01768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001768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5001768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38928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endsAt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37176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837176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79192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2679192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2679192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16352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slotId  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16352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customerEmail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16352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2514600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6616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356616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356616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3776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payplusId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0" name="Shape 48"/>
          <p:cNvSpPr/>
          <p:nvPr/>
        </p:nvSpPr>
        <p:spPr>
          <a:xfrm>
            <a:off x="11612880" y="5212080"/>
            <a:ext cx="91440" cy="9144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10881360" y="5349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315200" y="5303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האילוץ הקריטי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0080" y="56509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על Booking.slotId - מבטיח אין double-booking ברמת ה-DB. לא מסתמכים על הקליינט.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 ·  בחירת DB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</a:t>
            </a:r>
            <a:r>
              <a:rPr lang="en-US" sz="4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ל-FixSlot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אמיתי, MCP server, ומסלול לכל מה שנצטרך אחר כך.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0" y="2514600"/>
            <a:ext cx="2743200" cy="28346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14400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POSTGRES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אמיתי, בלי DevOps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RDS-quality DB. Supavisor pooler מובנה. Migrations עם Prisma. בלי lock-in למודל NoSQL.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14400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על slots → בלי double-booking. transactions ל"לתפוס slot + ליצור תשלום" אטומי.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8778240" y="2514600"/>
            <a:ext cx="91440" cy="2834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30936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מדבר עם ה-DB ישירות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MCP רשמי של Supabase. הסוכן יוצר טבלאות, מריץ migrations, כותב queries - בלי לעזוב את הטרמינל.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30936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חיה ב-55 דק׳ - הסוכן בונה את הסכמה תוך כדי שיחה.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51460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943600" y="2514600"/>
            <a:ext cx="91440" cy="2834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347472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7472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RUNWAY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שלא נצטרך היום - מחכה למחר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7472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לתמונות. Realtime ללוח חי. Auth כש-NextAuth יפסיק להספיק. Edge Functions ל-cron.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347472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שלם של פיצ׳רים - בלי לעבור ספק.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51460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3108960" y="2514600"/>
            <a:ext cx="91440" cy="2834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4008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BUILDER-FRIENDLY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free tier, אפס DevOps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editor, table editor, logs בדפדפן. 500MB DB + 1GB storage חינם.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64008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שעוד לא הוכיח PMF - אפס עלות התחלה.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11612880" y="5623560"/>
            <a:ext cx="91440" cy="73152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 אחת </a:t>
            </a:r>
            <a:r>
              <a:rPr lang="en-US" sz="1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17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החלטות, סטאק מתועד היטב, Claude יודע אותו - ויש לאן לגדול.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אלטרנטיבות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גם שקלנו - ולמה Supabase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ה-DB היא ההחלטה הכי קשה להחליף אחר כך. שווה לעצור ולהשוות.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נשקלו ונדחו  ·  CONSIDERED &amp; RULED 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28048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665208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66520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8524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10928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NoSQL BaaS (Google)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10928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710928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10928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DB, Storage, push notifications - הכל בחבילה בוגרת.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10928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10928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ללא constraints relational ו-transactions אטומיות - double-booking ב-FixSlot זה bug שמחכה.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7397496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9749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1753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43216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serverless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43216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443216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43216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טהור, branching מצוין, scale-to-zero.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43216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DB. Auth, Storage, Realtime - צריך לחבר בעצמך מספקים נפרדים.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92624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5129784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1297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982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PlanetScale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75504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MySQL/Postgres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75504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175504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504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ל-schema, scaling לכמויות גדולות.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הסירו את ה-free tier. אקוסיסטם קטן יותר ל-Next.js + Prisma + MCP.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24912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2862072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286207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Stack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907792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RDS + Cognito + S3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07792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2907792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07792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Enterprise-grade, scale ללא תקרה, שליטה מלאה.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07792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07792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IAM, VPC, configs - שלושה שירותים לחבר. לבונה יחיד = שבוע על תשתית.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594360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Convex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0080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 full-stack DB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640080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out-of-the-box, type-safe end-to-end, DX יוצא דופן.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פרדיגמה ייחודית, לא Postgres, פחות Claude training data, vendor lock-in.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Shape 56"/>
          <p:cNvSpPr/>
          <p:nvPr/>
        </p:nvSpPr>
        <p:spPr>
          <a:xfrm>
            <a:off x="11612880" y="5074920"/>
            <a:ext cx="91440" cy="141732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0927080" y="5239512"/>
            <a:ext cx="292608" cy="2926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10927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ה-PICK שלנו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3000" dirty="0"/>
          </a:p>
        </p:txBody>
      </p:sp>
      <p:sp>
        <p:nvSpPr>
          <p:cNvPr id="63" name="Shape 61"/>
          <p:cNvSpPr/>
          <p:nvPr/>
        </p:nvSpPr>
        <p:spPr>
          <a:xfrm>
            <a:off x="7589520" y="5303520"/>
            <a:ext cx="0" cy="96012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Text 62"/>
          <p:cNvSpPr/>
          <p:nvPr/>
        </p:nvSpPr>
        <p:spPr>
          <a:xfrm>
            <a:off x="534924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C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4924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אמיתי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4924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Constraints, transactions, foreign keys - אי-אפשר לקבוע שני תורים על אותו slot.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92608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C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92608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MCP מובנה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92608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יוצר טבלאות, מריץ migrations, queries - בלי לעזוב את הטרמינל.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292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C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מוכן לעתיד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0292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Realtime, Auth, Edge Functions - מחכים אם נצטרך. אין מעבר ספק.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וחשיבה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להתאים את הכלי לעבודה.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בחירת מודל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איזה מודל לבחור?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תפיסה הנדסית כמו בכל משאב אחר - להתאים עלות לחומרה.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העבודה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חשיבה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612880" y="2697480"/>
            <a:ext cx="91440" cy="868680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59536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שגרתית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עריכות קטנות, באגים פשוטים, refactor מקומי, כתיבת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ללא thinking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3657600"/>
            <a:ext cx="91440" cy="86868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59536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מורכבת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חוצה-קבצים, תכנון refactor בינוני, בעיות ביצועים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hard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11612880" y="4617720"/>
            <a:ext cx="91440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859536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בעלות סיכון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754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ארכיטקטורה, schema design, security review, קוד שיגיע ל-production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ultrathink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התאם עלות לחומרה.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מלכודות: לבחור הכי חזק לכל דבר (איטי ויקר), או לעולם לא להפעיל thinking (תשובות בינוניות לבעיות קשות).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THINKING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חשיבה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מילות מפתח בפרומפט שמרחיבות את הזמן ש-Claude חושב לפני שהוא עונה. קטנות, חזקות.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331720"/>
            <a:ext cx="91440" cy="731520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0" y="2496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~4K טוקנים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 קטנה אבל לא טריוויאלית - מבנה לפונקציה, החלטה בין שתי גישות.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200400"/>
            <a:ext cx="91440" cy="73152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686800" y="3364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hard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~10K טוקנים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באג חוצה-קבצים, refactor מורכב, אלגוריתם לא-טריוויאלי.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4069080"/>
            <a:ext cx="91440" cy="73152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686800" y="4233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harder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~20K טוקנים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336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מערכתי שדורש לבחון trade-offs, race conditions עדינים.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4937760"/>
            <a:ext cx="91440" cy="731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686800" y="5102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ultrathink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~32K טוקנים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1023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ארכיטקטורה כבדות, security review מקיף, בעיות שכבר ניסיתם בלי thinking ונכשלתם.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לב: thinking עולה טוקנים ומאט תגובה. לא להפעיל על משימות פשוטות.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THINKING מול PLAN MODE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סוגי תכנון - לא לבלבל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אחד פנימי. אחד חיצוני. עובדים מצוין יחד.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194560"/>
            <a:ext cx="54864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94560"/>
            <a:ext cx="91440" cy="333756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92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פנימי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חושב בשקט לפני שהוא עונה.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3657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טריגר: מילת מפתח בפרומפט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877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(think / think hard / ultrathink)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40965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43159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פלט: התשובה הסופית בלבד.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45354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רואים את ההיגיון - רק את התוצאה.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49743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משפיע: על איכות התשובה.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51937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מתי: בעיה קשה שצריכה reasoning עמוק.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54864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5852160" y="2194560"/>
            <a:ext cx="91440" cy="33375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73152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חיצוני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mode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מציג תוכנית - ואתם מאשרים.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טריגר: Shift+Tab עד שמופיע plan 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77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0965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פלט: התוכנית עצמה.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3159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Claude יעשה, באיזה סדר, באילו קבצים.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5354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7548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משפיע: על שליטה ובטיחות.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9743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מתי: לפני שינויים שלא רוצים לטעות בהם.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40080" y="56509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הם מתחברים.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+ ultrathink = התוכנית הכי שקולה שתקבלו. שמורים לרגעים שזה באמת חשוב.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88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הפסקה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דקות  ·  חוזרים בתחילת השעה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חיה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ממאגר ריק ל-SaaS פרוס.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88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8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עכשיו בונים.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עוברים לטרמינל. צופים בשינויים. עוצרים, שואלים, מתקנים.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כשנשבר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ה-debug loop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כשהקוד לא רץ, הקפיץ אדום בטרמינל, או ש-Vercel מחזיר build error.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40280"/>
            <a:ext cx="91440" cy="822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698480" y="24048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הדבק את כל השגיאה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להסתפק ב-"זה לא עובד". העתק את ה-stack trace המלא, את ה-build log מ-Vercel, את ה-error הספציפי.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200400"/>
            <a:ext cx="91440" cy="822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698480" y="33649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הקשר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ניסית לעשות? איזה קובץ נגעת לאחרונה? אם יש צילום מסך - הדבק. Claude קורא תמונות.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4160520"/>
            <a:ext cx="91440" cy="822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698480" y="43251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436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ל-Claude לחקור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לתקן מיד - "תאתר את שורש הבעיה לפני שאתה כותב fix". Plan mode כאן עוזר מאוד.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5120640"/>
            <a:ext cx="91440" cy="822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698480" y="52852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4360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אמת לפני שאתה מאשר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תיקון לא נגמר עד שהבדיקה עוברת. תריץ tests, תבדוק שה-feature עובדת, ורק אז commit.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לקחת הביתה.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מפגש 2  ·  ה-HANDOFF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</a:t>
            </a:r>
            <a:r>
              <a:rPr lang="en-US" sz="3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committed.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עכשיו לכו תקודדו.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703320"/>
          </a:xfrm>
          <a:prstGeom prst="rect">
            <a:avLst/>
          </a:prstGeom>
          <a:solidFill>
            <a:srgbClr val="1F1B16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#fixslot-engineering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0" y="2194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עכשיו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06984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10927080" y="283464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0927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45368" y="3154680"/>
            <a:ext cx="146304" cy="146304"/>
          </a:xfrm>
          <a:prstGeom prst="ellipse">
            <a:avLst/>
          </a:prstGeom>
          <a:solidFill>
            <a:srgbClr val="3ECF8E"/>
          </a:solidFill>
          <a:ln w="25400">
            <a:solidFill>
              <a:srgbClr val="1F1B1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</a:t>
            </a: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14:55  ·  מפגש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שלום צוות 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ה-CLAUDE.md committed. הוא מכיל את ה-stack, את ה-conventions, ואת מה שאנחנו *לא* בונים.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ל-Claude יש עכשיו את ההקשר שצריך - בלי להסביר שוב כל סשן.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ה-PM שלכם. אתם המהנדסים. לכל אחד יש branch. לכל אחד יש PR.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לכו תקודדו.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98480" y="5394960"/>
            <a:ext cx="640080" cy="292608"/>
          </a:xfrm>
          <a:prstGeom prst="roundRect">
            <a:avLst>
              <a:gd name="adj" fmla="val 31250"/>
            </a:avLst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0698480" y="5394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985248" y="5394960"/>
            <a:ext cx="640080" cy="292608"/>
          </a:xfrm>
          <a:prstGeom prst="roundRect">
            <a:avLst>
              <a:gd name="adj" fmla="val 31250"/>
            </a:avLst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9985248" y="5394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 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72016" y="5394960"/>
            <a:ext cx="640080" cy="292608"/>
          </a:xfrm>
          <a:prstGeom prst="roundRect">
            <a:avLst>
              <a:gd name="adj" fmla="val 31250"/>
            </a:avLst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9272016" y="5394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1612880" y="5989320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9601200" y="5989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השלב הבא  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feature/your-name &amp;&amp; claude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05  ·  מלכודות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לא להשתמש ב-Claude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11612880" y="1691640"/>
            <a:ext cx="91440" cy="9601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927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בלי tests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 אפשר לאמת את התוצאה. תסמוך על ה-diff - ולא צריך.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612880" y="2788920"/>
            <a:ext cx="91440" cy="9601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0927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29535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סקריפטים חד-פעמיים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אפשר לכתוב ב-30 שניות, פשוט תכתוב. אל תשלם טוקנים על עבודה טריוויאלית.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1612880" y="3886200"/>
            <a:ext cx="91440" cy="9601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0927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כשצריך לחשוב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ארכיטקטורה, שמות, trade-offs מוצריים. Claude הוא הידיים שלך, לא המוח.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612880" y="4983480"/>
            <a:ext cx="91440" cy="9601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0927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0080" y="51480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של production תחת לחץ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לרעיונות - כן. ההחלטה - שלך. פלט גרוע בזמן outage כואב.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05  ·  לקחים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לקחת הביתה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1338560" y="187452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3385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לפני שינויים גדולים. ultrathink כשזה באמת חשוב.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338560" y="2587752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133856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התאם מודל לעבודה - Sonnet ל-90% מהזמן, Opus כשיש החלטה כבדה.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338560" y="3300984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33856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כתוב CLAUDE.md ראשון. הוא משלם את עצמו בכל סשן הבא.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338560" y="4014216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13385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1421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תכנן את ה-schema לפני קוד. constraints ב-DB, לא בקליינט.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338560" y="472744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133856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274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diff אחרי כל שינוי. אתם ה-QA, גם כשממהרים.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338560" y="544068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13385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כשנשבר - הדבק את כל השגיאה. לא לתקן ראשון - לחקור ראשון.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6576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88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נדבר.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23560" y="5029200"/>
            <a:ext cx="91440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5212080"/>
            <a:ext cx="1188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  ·  errn.io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19174</TotalTime>
  <Words>6617</Words>
  <Application>Microsoft Macintosh PowerPoint</Application>
  <PresentationFormat>Widescreen</PresentationFormat>
  <Paragraphs>1301</Paragraphs>
  <Slides>54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Apple Color Emoji</vt:lpstr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- בנייה</dc:title>
  <dc:subject>PptxGenJS Presentation</dc:subject>
  <dc:creator>טל גורביץ׳</dc:creator>
  <cp:lastModifiedBy>טל גורביץ - מנהל אדמניסטרטיבי, Ofektech</cp:lastModifiedBy>
  <cp:revision>54</cp:revision>
  <dcterms:created xsi:type="dcterms:W3CDTF">2026-05-03T12:13:43Z</dcterms:created>
  <dcterms:modified xsi:type="dcterms:W3CDTF">2026-05-28T15:01:45Z</dcterms:modified>
</cp:coreProperties>
</file>