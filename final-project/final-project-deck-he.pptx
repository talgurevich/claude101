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algurevich/claude101/tree/main/final-project" TargetMode="External"/><Relationship Id="rId3" Type="http://schemas.openxmlformats.org/officeDocument/2006/relationships/hyperlink" Target="https://github.com/talgurevich/claude101" TargetMode="External"/><Relationship Id="rId4" Type="http://schemas.openxmlformats.org/officeDocument/2006/relationships/hyperlink" Target="mailto:tal.gurevich@gmail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377440" y="-1097280"/>
            <a:ext cx="4754880" cy="4754880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0637215" y="4224528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פרויקט גמר  ·  עבודת צוות  ·  2–3 ימי עבודה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55648"/>
            <a:ext cx="112772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58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צ׳אט מעל מסמכי החוג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24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מערכת שעונה רק ממה שכתוב — ומודה כשאין לה תשובה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Agentic Retrieval  ·  Claude SDK  ·  SQLite FTS5  · 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9B9588"/>
                </a:solidFill>
                <a:latin typeface="Arial"/>
                <a:cs typeface="Arial"/>
                <a:ea typeface="Arial"/>
              </a:rPr>
              <a:t>הגשה: ריפו ציבורי ב-GitHub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8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טל גורביץ׳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63056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9B9588"/>
                </a:solidFill>
                <a:latin typeface="Arial"/>
                <a:cs typeface="Arial"/>
                <a:ea typeface="Arial"/>
              </a:rPr>
              <a:t>המכללה האקדמית תל-חי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הפרויקט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מה בונים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ממשק צ׳אט בעברית שעונה על שאלות אמיתיות של סטודנטים מתוך שני מסמכים רשמיים של המכללה — השנתון של החוג למדעי המחשב, ותקנון הלימודים לתואר ראשון.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31720"/>
            <a:ext cx="11277295" cy="178308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החוזה של המערכת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271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עונה רק ממה שכתוב במסמכים — לא מידע כללי, לא ניחוש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7567" y="2944368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8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10271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מציינת בכל תשובה מאיפה היא לקחה אותה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7567" y="3328416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8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94176"/>
            <a:ext cx="10271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אומרת בפירוש ״לא מופיע במסמכים״ כשהתשובה לא שם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7567" y="3712463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8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זה לא chatbot כללי.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64608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השורה השלישית היא החלק הכי חשוב בפרויקט. מערכת שממציאה תשובה על תקנון לימודים גרועה בהרבה ממערכת שפשוט לא עונה.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למה זה מעניין הנדסית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הקורפוס קטן, המסמכים מובנים, והשפה עברית. שלושת אלה משנים לגמרי איזו ארכיטקטורה נכונה כאן.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חומרי הגלם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מה אתם מקבלים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שני PDF-ים אמיתיים בתיקייה final-project/pdfs/ — טקסט אמיתי, לא סריקות.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55867" y="2286000"/>
            <a:ext cx="5478627" cy="14173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697919" y="2286000"/>
            <a:ext cx="36576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30187" y="2505456"/>
            <a:ext cx="49299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שנתון תשפ״ז — מדעי המחשב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187" y="2907792"/>
            <a:ext cx="4929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1">
                <a:solidFill>
                  <a:srgbClr val="B85F44"/>
                </a:solidFill>
                <a:latin typeface="Arial"/>
                <a:cs typeface="Arial"/>
                <a:ea typeface="Arial"/>
              </a:rPr>
              <a:t>45 עמודים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0187" y="3246120"/>
            <a:ext cx="4929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טבלאות קורסים, נ״ז, דרישות קדם, מסלולים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5478627" cy="14173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99251" y="2286000"/>
            <a:ext cx="36576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2505456"/>
            <a:ext cx="49299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תקנון לתואר ראשון — תשפ״ו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4929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1">
                <a:solidFill>
                  <a:srgbClr val="B85F44"/>
                </a:solidFill>
                <a:latin typeface="Arial"/>
                <a:cs typeface="Arial"/>
                <a:ea typeface="Arial"/>
              </a:rPr>
              <a:t>13 עמודים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4929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סעיפים ממוספרים: משך לימודים, פריסה, תנאים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8756" y="3931920"/>
            <a:ext cx="3545738" cy="10058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63076" y="4114800"/>
            <a:ext cx="29970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2800" b="1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4553712"/>
            <a:ext cx="29970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עמודים בסך הכל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2978" y="3931920"/>
            <a:ext cx="3545738" cy="10058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97298" y="4114800"/>
            <a:ext cx="29970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2800" b="1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233K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7298" y="4553712"/>
            <a:ext cx="29970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תווים של טקסט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3545738" cy="10058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29970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2800" b="1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53712"/>
            <a:ext cx="29970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צורך ב-OCR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6636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חילוץ נאיבי של הטקסט לא יעבוד. תגלו את זה בעצמכם בשלב 1 — אל תבנו שכבה שלמה מעל פלט שלא הסתכלתם עליו.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שער מעבר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לפני שממשיכים משלב החילוץ: פותחים את הטקסט שיצא, וקוראים אותו בעיניים. לא מדגם — באמת קוראים.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החלטות שכבר קיבלנו בשבילכם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הסטאק המומלץ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המסלול הזה נבדק והוא עובד. אתם לא חייבים אותו — אבל אם בחרתם אחרת, תכתבו ב-README משפט שמסביר למה.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0559" y="2313432"/>
            <a:ext cx="1627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200">
                <a:solidFill>
                  <a:srgbClr val="B85F44"/>
                </a:solidFill>
                <a:latin typeface="Arial"/>
                <a:cs typeface="Arial"/>
                <a:ea typeface="Arial"/>
              </a:rPr>
              <a:t>שכבה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8719" y="2313432"/>
            <a:ext cx="2999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000" b="1" spc="200">
                <a:solidFill>
                  <a:srgbClr val="B85F44"/>
                </a:solidFill>
                <a:latin typeface="Arial"/>
                <a:cs typeface="Arial"/>
                <a:ea typeface="Arial"/>
              </a:rPr>
              <a:t>ברירת מחדל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313432"/>
            <a:ext cx="57726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200">
                <a:solidFill>
                  <a:srgbClr val="B85F44"/>
                </a:solidFill>
                <a:latin typeface="Arial"/>
                <a:cs typeface="Arial"/>
                <a:ea typeface="Arial"/>
              </a:rPr>
              <a:t>הערה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1277295" cy="1371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2679192"/>
            <a:ext cx="11277295" cy="47548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960559" y="278892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שפה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8719" y="2788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5C564D"/>
                </a:solidFill>
                <a:latin typeface="Consolas"/>
                <a:cs typeface="Consolas"/>
                <a:ea typeface="Consolas"/>
              </a:rPr>
              <a:t>Python 3.11+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788920"/>
            <a:ext cx="5772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כל השאר עומד על זה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0559" y="3264408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חילוץ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8719" y="3264408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5C564D"/>
                </a:solidFill>
                <a:latin typeface="Consolas"/>
                <a:cs typeface="Consolas"/>
                <a:ea typeface="Consolas"/>
              </a:rPr>
              <a:t>pdfplumber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264408"/>
            <a:ext cx="5772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pip בלבד, עובד זהה ב-Mac וב-Windows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30168"/>
            <a:ext cx="11277295" cy="47548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960559" y="37398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טיפול ב-RTL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8719" y="373989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5C564D"/>
                </a:solidFill>
                <a:latin typeface="Consolas"/>
                <a:cs typeface="Consolas"/>
                <a:ea typeface="Consolas"/>
              </a:rPr>
              <a:t>python-bidi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39896"/>
            <a:ext cx="5772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להפוך רק את מה שצריך — לא את כל המחרוזת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0559" y="4215384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אינדקס חיפוש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8719" y="4215384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5C564D"/>
                </a:solidFill>
                <a:latin typeface="Consolas"/>
                <a:cs typeface="Consolas"/>
                <a:ea typeface="Consolas"/>
              </a:rPr>
              <a:t>SQLite FTS5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215384"/>
            <a:ext cx="5772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דירוג bm25() מובנה, טוקנייזר unicode61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81144"/>
            <a:ext cx="11277295" cy="47548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960559" y="469087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מודל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8719" y="4690872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5C564D"/>
                </a:solidFill>
                <a:latin typeface="Consolas"/>
                <a:cs typeface="Consolas"/>
                <a:ea typeface="Consolas"/>
              </a:rPr>
              <a:t>anthropic · claude-sonnet-5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4690872"/>
            <a:ext cx="5772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לולאת tool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0559" y="5166359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ממשק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8719" y="5166359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5C564D"/>
                </a:solidFill>
                <a:latin typeface="Consolas"/>
                <a:cs typeface="Consolas"/>
                <a:ea typeface="Consolas"/>
              </a:rPr>
              <a:t>Streamlit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5166359"/>
            <a:ext cx="5772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הרכיבים st.chat_message ו-st.chat_input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32119"/>
            <a:ext cx="11277295" cy="47548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960559" y="5641847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הרצה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8719" y="5641847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5C564D"/>
                </a:solidFill>
                <a:latin typeface="Consolas"/>
                <a:cs typeface="Consolas"/>
                <a:ea typeface="Consolas"/>
              </a:rPr>
              <a:t>מקומית בלבד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5641847"/>
            <a:ext cx="5772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לא מעלים לאוויר — ראו שקופית המפתחות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אם אתם מתלבטים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קחו את ברירת המחדל ותמשיכו הלאה. בחירת ספריות היא לא החלק המעניין בפרויקט הזה.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החלטה נגדית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מה שכדאי מאוד להימנע ממנו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לא בגלל שאלה כלים גרועים — בגלל שבקורפוס בגודל הזה הם תשתית מיותרת.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77295" cy="86868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372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לא בפרויקט הזה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500" b="0">
                <a:solidFill>
                  <a:srgbClr val="F5F1EB"/>
                </a:solidFill>
                <a:latin typeface="Consolas"/>
                <a:cs typeface="Consolas"/>
                <a:ea typeface="Consolas"/>
              </a:rPr>
              <a:t>embeddings   ·   vector database   ·   Postgres   ·   pgvector   ·   Chroma   ·   torch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29000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1697919" y="3429000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3529584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אחזור סמנטי בעברית הוא קרב שיאכל לכם יום שלם מתוך שלושה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682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והרווח עליו, ב-58 עמודים של טקסט מובנה, קרוב לאפס.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78808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697919" y="4178808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279392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האינדקס שלכם הוא קובץ אחד בגודל כמה מאות קילובייט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44568"/>
            <a:ext cx="10682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זה בסדר גמור. קובץ SQLite אחד, בלי שרת, בלי docker-compose, בלי שירות שני.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28616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97919" y="4928616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חלק מהלמידה כאן היא לזהות מתי תשתית היא התשובה הלא נכונה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94376"/>
            <a:ext cx="10682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אם אתם בכל זאת הולכים לשם — לכו בעיניים פקוחות, ותסבירו את השיקול ב-README.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עלות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מעבר לקריאות ל-API הפרויקט לא עולה כסף. כל הסטאק חינמי, אין תשתית לשלם עליה.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הארכיטקטורה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Agentic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לא צנרת RAG קלאסית. במקום לשלוף top-k בכל שאלה ולקוות שפגעתם — אתם נותנים ל-Claude כלים, והוא מחליט מה לקרוא.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55867" y="2286000"/>
            <a:ext cx="5478627" cy="352044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697919" y="2286000"/>
            <a:ext cx="36576" cy="3520440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11899" y="2523744"/>
            <a:ext cx="49665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B85F44"/>
                </a:solidFill>
                <a:latin typeface="Arial"/>
                <a:cs typeface="Arial"/>
                <a:ea typeface="Arial"/>
              </a:rPr>
              <a:t>הגישה המוכרת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1899" y="2816352"/>
            <a:ext cx="49665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8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צנרת RAG קלאסית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3067" y="3310128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שאלה נכנסת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0447" y="333756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3067" y="3694176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שולפים top-k קטעים דומים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0447" y="3721608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3067" y="4078224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דוחפים אותם לפרומפט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0447" y="4105656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3067" y="4462272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מקווים שהקטעים הנכונים נכנסו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0447" y="4489704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1899" y="5349240"/>
            <a:ext cx="49665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1">
                <a:solidFill>
                  <a:srgbClr val="B85F44"/>
                </a:solidFill>
                <a:latin typeface="Arial"/>
                <a:cs typeface="Arial"/>
                <a:ea typeface="Arial"/>
              </a:rPr>
              <a:t>קבוע מראש — רץ אותו דבר בכל שאלה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86000"/>
            <a:ext cx="5478627" cy="35204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99251" y="2286000"/>
            <a:ext cx="36576" cy="3520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3232" y="2523744"/>
            <a:ext cx="49665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מה שאתם בונים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816352"/>
            <a:ext cx="49665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8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כלים על אינדקס מובנה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10128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שאלה נכנסת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1779" y="333756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94176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Claude רואה תוכן עניינים וארבעה כלים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1779" y="3721608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78224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הוא מחליט מה לפתוח, ובאיזה סדר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1779" y="4105656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62272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קורא עוד רק אם התשובה עוד לא שלמה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1779" y="4489704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349240"/>
            <a:ext cx="49665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החלטה בזמן ריצה — לפי מה שהשאלה דורשת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המימוש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ארבעת הכלים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זה מה שאתם חושפים למודל. החיפוש הלקסיקלי עדיין שלכם לממש — פשוט עטוף ככלי.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11277295" cy="71323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697919" y="2377440"/>
            <a:ext cx="36576" cy="7132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596896"/>
            <a:ext cx="586419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תוכן העניינים — מזהה, כותרת, מסמך מקור, עמוד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485" y="2596896"/>
            <a:ext cx="47364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400" b="1">
                <a:solidFill>
                  <a:srgbClr val="B85F44"/>
                </a:solidFill>
                <a:latin typeface="Consolas"/>
                <a:cs typeface="Consolas"/>
                <a:ea typeface="Consolas"/>
              </a:rPr>
              <a:t>list_sections()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82112"/>
            <a:ext cx="11277295" cy="71323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697919" y="3182112"/>
            <a:ext cx="36576" cy="7132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586419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הטקסט המלא של סעיף אחד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485" y="3401568"/>
            <a:ext cx="47364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400" b="1">
                <a:solidFill>
                  <a:srgbClr val="B85F44"/>
                </a:solidFill>
                <a:latin typeface="Consolas"/>
                <a:cs typeface="Consolas"/>
                <a:ea typeface="Consolas"/>
              </a:rPr>
              <a:t>get_section(section_id)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86784"/>
            <a:ext cx="11277295" cy="71323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697919" y="3986784"/>
            <a:ext cx="36576" cy="7132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586419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חיפוש לקסיקלי, BM25 מעל FTS5 — מזהי סעיפים וקטעי הקשר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485" y="4206240"/>
            <a:ext cx="47364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400" b="1">
                <a:solidFill>
                  <a:srgbClr val="B85F44"/>
                </a:solidFill>
                <a:latin typeface="Consolas"/>
                <a:cs typeface="Consolas"/>
                <a:ea typeface="Consolas"/>
              </a:rPr>
              <a:t>search(query, limit=5)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91456"/>
            <a:ext cx="11277295" cy="71323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697919" y="4791456"/>
            <a:ext cx="36576" cy="7132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5010912"/>
            <a:ext cx="586419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טבלת קורסים אחת, כשורות מובנות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2485" y="5010912"/>
            <a:ext cx="47364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400" b="1">
                <a:solidFill>
                  <a:srgbClr val="B85F44"/>
                </a:solidFill>
                <a:latin typeface="Consolas"/>
                <a:cs typeface="Consolas"/>
                <a:ea typeface="Consolas"/>
              </a:rPr>
              <a:t>get_course_table(year, semester)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עיצוב כלים הוא החלק ההנדסי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כלי שמחזיר יותר מדי מבזבז טוקנים, כלי שמחזיר מעט מדי שולח את המודל לסיבוב נוסף. זה איזון, ומודדים אותו.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הנימוק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למה ככה ולא top-k רגיל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שלוש סיבות, וכל אחת מהן תפגוש אתכם בשאלות ההערכה.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88756" y="2331720"/>
            <a:ext cx="3545738" cy="23317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697919" y="2331720"/>
            <a:ext cx="3657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44788" y="2578608"/>
            <a:ext cx="303367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1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4788" y="2889504"/>
            <a:ext cx="30336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שאלות צבירה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4788" y="3346704"/>
            <a:ext cx="303367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״כמה נ״ז סה״כ בשנה ג׳?״ דורשת טבלה שלמה, לא שלושה קטעים דומים סמנטית. get_course_table מחזיר את כולה.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2331720"/>
            <a:ext cx="3545738" cy="23317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832140" y="2331720"/>
            <a:ext cx="3657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9010" y="2578608"/>
            <a:ext cx="303367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1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010" y="2889504"/>
            <a:ext cx="30336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המסמכים כבר מובנים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9010" y="3346704"/>
            <a:ext cx="303367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יש סעיפים ממוספרים וטבלאות עם כותרות. לחתוך את זה לחלונות של 1500 תווים זה להשמיד מידע שקיבלתם בחינם.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3545738" cy="23317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966362" y="2331720"/>
            <a:ext cx="3657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" y="2578608"/>
            <a:ext cx="303367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1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89504"/>
            <a:ext cx="30336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עברית ו-embeddings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46704"/>
            <a:ext cx="303367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זה קרב לא נעים — טוקניזציה, ניקוד, כתיב מלא וחסר. ככה אתם פשוט לא נכנסים אליו.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המבנה של המסמך הוא מידע. צנרת שחותכת אותו לחלונות אחידים זורקת אותו לפח בשלב הראשון.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שימו לב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אתם עדיין מממשים BM25 אמיתי מעל FTS5. ההבדל הוא מי מחליט מתי לקרוא לו — אתם, או המודל.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דרישות חובה  · 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מקור וסירוב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שתי הדרישות שקובעות אם המערכת שלכם ראויה לאמון. פרויקט שלא עומד בהן לא מוגש.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55867" y="2194560"/>
            <a:ext cx="5478627" cy="356616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697919" y="2194560"/>
            <a:ext cx="36576" cy="3566160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11899" y="2432304"/>
            <a:ext cx="49665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B85F44"/>
                </a:solidFill>
                <a:latin typeface="Arial"/>
                <a:cs typeface="Arial"/>
                <a:ea typeface="Arial"/>
              </a:rPr>
              <a:t>דרישה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1899" y="2724912"/>
            <a:ext cx="49665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8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ציטוט מקור בכל תשובה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3067" y="3218688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מאיזה מסמך נלקחה התשובה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0447" y="324612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3067" y="3602736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מאיזה סעיף או עמוד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0447" y="3630168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3067" y="3986784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גם כשהתשובה מורכבת משני מקורות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0447" y="4014216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1899" y="5303520"/>
            <a:ext cx="49665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1">
                <a:solidFill>
                  <a:srgbClr val="B85F44"/>
                </a:solidFill>
                <a:latin typeface="Arial"/>
                <a:cs typeface="Arial"/>
                <a:ea typeface="Arial"/>
              </a:rPr>
              <a:t>תשובה בלי מקור נחשבת שגויה — גם אם היא נכונה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5478627" cy="356616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99251" y="2194560"/>
            <a:ext cx="36576" cy="35661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2432304"/>
            <a:ext cx="49665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דרישה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724912"/>
            <a:ext cx="49665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8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סירוב כשאין תשובה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18688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לא ניחוש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1779" y="324612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02736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לא ידע כללי על מכללות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1779" y="3630168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86784"/>
            <a:ext cx="4765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לא ״כנראה שבערך״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1779" y="4014216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303520"/>
            <a:ext cx="49665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התשובה היא בדיוק: לא מופיע במסמכים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למה זה נמדד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ההבדל בין עוזר לימודי לבין מקור שקרי הוא בדיוק שתי השורות האלה. בתקנון לימודים, טעות עולה למישהו סמסטר.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דרישות חובה  · 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Caching ותקרת איטרציות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שתי הדרישות ההנדסיות. שתיהן על אותה בעיה: לולאת כלים יקרה.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7295" cy="173736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395728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דרישה 03  ·  PROMPT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70048"/>
            <a:ext cx="10692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בלולאת כלים כל פנייה שולחת מחדש את כל מה שקדם לה. בלי cache אתם משלמים על אותו טקסט שוב ושוב.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90672"/>
            <a:ext cx="10692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400" b="0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cache_control  →  on the last block of every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56432"/>
            <a:ext cx="1069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הגדרות הכלים ו-system prompt נשארים תחילית יציבה שנשמרת במטמון בין שאלות.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77295" cy="1691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1697919" y="4114800"/>
            <a:ext cx="36576" cy="16916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315968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B85F44"/>
                </a:solidFill>
                <a:latin typeface="Arial"/>
                <a:cs typeface="Arial"/>
                <a:ea typeface="Arial"/>
              </a:rPr>
              <a:t>דרישה 04  ·  תקרת איטרציות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590288"/>
            <a:ext cx="10692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0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max_iterations בין 5 ל-8 על לולאת הכלים. סט כלים מעוצב גרוע שולח את המודל חמישה-עשר סיבובים לפני שהוא מוותר.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29200"/>
            <a:ext cx="10692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1">
                <a:solidFill>
                  <a:srgbClr val="B85F44"/>
                </a:solidFill>
                <a:latin typeface="Arial"/>
                <a:cs typeface="Arial"/>
                <a:ea typeface="Arial"/>
              </a:rPr>
              <a:t>ובנוסף: תדווחו ב-README כמה קריאות כלים בממוצע המערכת עושה לשאלה.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394960"/>
            <a:ext cx="1069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מדד הנדסי אמיתי, קל למדוד. צוות שהממוצע שלו 9 יודע שיש לו בעיה בעיצוב הכלים.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החיבור בין השתיים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כל איטרציה מיותרת היא גם טוקנים וגם שנייה של המתנה למשתמש. caching מוזיל אותה, עיצוב כלים טוב מונע אותה.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תכנון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שלבי העבודה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ארבעה מסלולים שרצים במקביל. שלב 1 הוא החוזה בין כולם — ברגע שיש טקסט מחולץ נקי, השאר עובדים עצמאית.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40280"/>
            <a:ext cx="11277295" cy="7772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3957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יום 0  ·  ביחד  ·  שעה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51760"/>
            <a:ext cx="1069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תקראו את שני ה-PDF-ים כבני אדם. תחליטו מה סטודנט אמיתי באמת שואל.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11277295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1697919" y="3246120"/>
            <a:ext cx="36576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82935" y="344728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>
                <a:solidFill>
                  <a:srgbClr val="B85F44"/>
                </a:solidFill>
                <a:latin typeface="Arial"/>
                <a:cs typeface="Arial"/>
                <a:ea typeface="Arial"/>
              </a:rPr>
              <a:t>שלב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69919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חילוץ טקסט, תיקון כיווניות, ניקוי תווי בקרה, זיהוי סעיפים וטבלאות, בניית אינדקס FTS5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214" y="3410712"/>
            <a:ext cx="22554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חילוץ ומבנה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59352"/>
            <a:ext cx="11277295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697919" y="3959352"/>
            <a:ext cx="36576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682935" y="416052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>
                <a:solidFill>
                  <a:srgbClr val="B85F44"/>
                </a:solidFill>
                <a:latin typeface="Arial"/>
                <a:cs typeface="Arial"/>
                <a:ea typeface="Arial"/>
              </a:rPr>
              <a:t>שלב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42232"/>
            <a:ext cx="69919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הגדרת הכלים, לולאת tool use, system prompt, caching, תקרת איטרציות, התנהגות הסירוב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0214" y="4123944"/>
            <a:ext cx="22554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שכבת המודל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72584"/>
            <a:ext cx="11277295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697919" y="4672584"/>
            <a:ext cx="36576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682935" y="4873752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>
                <a:solidFill>
                  <a:srgbClr val="B85F44"/>
                </a:solidFill>
                <a:latin typeface="Arial"/>
                <a:cs typeface="Arial"/>
                <a:ea typeface="Arial"/>
              </a:rPr>
              <a:t>שלב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55464"/>
            <a:ext cx="69919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Streamlit, עברית ו-RTL, שאלה נכנסת ← תשובה מבוססת עם ציטוט יוצאת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0214" y="4837176"/>
            <a:ext cx="22554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ממשק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85816"/>
            <a:ext cx="11277295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97919" y="5385816"/>
            <a:ext cx="36576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682935" y="558698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>
                <a:solidFill>
                  <a:srgbClr val="B85F44"/>
                </a:solidFill>
                <a:latin typeface="Arial"/>
                <a:cs typeface="Arial"/>
                <a:ea typeface="Arial"/>
              </a:rPr>
              <a:t>שלב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68696"/>
            <a:ext cx="69919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הרצת עשר שאלות ההערכה, תיעוד הפלטים בפועל, ניתוח הכשלים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214" y="5550408"/>
            <a:ext cx="22554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הערכה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שער מעבר בין שלב 1 לשאר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אף מסלול לא מתחיל עד שמישהו פתח את הטקסט המחולץ וקרא אותו. בונים מעל פלט שראיתם, לא פלט שהנחתם.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הערכה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36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עשר שאלות, זהות לכל הצוותים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2159" y="1737360"/>
            <a:ext cx="2560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200">
                <a:solidFill>
                  <a:srgbClr val="B85F44"/>
                </a:solidFill>
                <a:latin typeface="Arial"/>
                <a:cs typeface="Arial"/>
                <a:ea typeface="Arial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19679" y="1737360"/>
            <a:ext cx="811987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200">
                <a:solidFill>
                  <a:srgbClr val="B85F44"/>
                </a:solidFill>
                <a:latin typeface="Arial"/>
                <a:cs typeface="Arial"/>
                <a:ea typeface="Arial"/>
              </a:rPr>
              <a:t>השאלה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737360"/>
            <a:ext cx="20235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200">
                <a:solidFill>
                  <a:srgbClr val="B85F44"/>
                </a:solidFill>
                <a:latin typeface="Arial"/>
                <a:cs typeface="Arial"/>
                <a:ea typeface="Arial"/>
              </a:rPr>
              <a:t>סוג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11277295" cy="1371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332159" y="2157984"/>
            <a:ext cx="256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9679" y="2157984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מהו מספר הקורס של ״מבוא למדעי המחשב״ וכמה נ״ז הוא מזכה?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157984"/>
            <a:ext cx="2023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עובדתי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2159" y="2523744"/>
            <a:ext cx="256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9679" y="2523744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מה משך הלימודים המקובל לתואר ראשון לפי התקנון?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523744"/>
            <a:ext cx="2023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עובדתי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112772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332159" y="2889504"/>
            <a:ext cx="256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9679" y="2889504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אילו קורסים נלמדים בשנה ב׳ סמסטר 4, וכמה נ״ז כל אחד?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2889504"/>
            <a:ext cx="2023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טבלה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2159" y="3255264"/>
            <a:ext cx="256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9679" y="3255264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מהן דרישות הקדם של הקורס ״אלגוריתמים 1״?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3255264"/>
            <a:ext cx="2023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טבלה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112772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332159" y="3621024"/>
            <a:ext cx="256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9679" y="3621024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אילו קורסי חובה יש במסלול ״עיבוד אותות ולמידה חישובית״?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3621024"/>
            <a:ext cx="2023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טבלה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2159" y="3986783"/>
            <a:ext cx="256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9679" y="3986783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כמה נ״ז סה״כ נדרשות בשנה ג׳?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3986783"/>
            <a:ext cx="2023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צבירה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112772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332159" y="4352544"/>
            <a:ext cx="256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9679" y="4352544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כמה קורסים בשנה א׳ יש להם דרישות קדם?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4352544"/>
            <a:ext cx="2023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צבירה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2159" y="4718304"/>
            <a:ext cx="256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19679" y="4718304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מה ההבדל בין מסלול חד-חוגי לדו-חוגי, ואיזה רלוונטי למדעי המחשב?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718304"/>
            <a:ext cx="2023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חוצה מסמכים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332159" y="5084064"/>
            <a:ext cx="256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19679" y="5084064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לפי התקנון, מה התנאים לפריסת לימודים לארבע שנים?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5084064"/>
            <a:ext cx="2023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חוצה מסמכים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2159" y="5449824"/>
            <a:ext cx="256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9679" y="5449824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מהן שעות הקבלה של המזכירות האקדמית?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5449824"/>
            <a:ext cx="2023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לא במסמכים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ההגשה כוללת טבלה עם הפלט בפועל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לא ״עבד״ / ״לא עבד״ — הטקסט שהמערכת שלכם באמת החזירה, לכל אחת מעשר השאלות.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מדיניות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שאלה 10 היא המבחן האמיתי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התשובה הנכונה היחידה לשאלה על שעות קבלה של המזכירות היא שהמידע לא מופיע במסמכים.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כלל הציון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26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כישלון גלוי שווה יותר מהצלחה שקטה.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01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צוות שמדווח 6 מתוך 10 ומסביר בדיוק למה כל אחת נכשלה — מקבל ציון גבוה יותר מצוות שמדווח 8 בלי ניתוח.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697919" y="3886200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986784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מה נחשב ניתוח כשל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10682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באיזה שלב זה נשבר: החילוץ? הסעיף שהכלי החזיר? החלטת המודל? ניסוח התשובה?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36008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697919" y="4636008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מה לא נחשב ניתוח כשל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01768"/>
            <a:ext cx="10682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״המודל התבלבל״. זו לא תשובה, זו הודאה שלא הסתכלתם על מה שקרה בלולאה.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בשביל זה כדאי ללוגג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שמרו לכל שאלה את רצף קריאות הכלים. בלי הלוג הזה, ניתוח הכשלים יהיה ניחוש — ורואים את זה מיד.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הגשה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מה מגישים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ריפו ציבורי אחד ב-GitHub, ובו שלושה דברים.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697919" y="2194560"/>
            <a:ext cx="36576" cy="7315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20095" y="23957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99971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6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קוד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99971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חילוץ, אינדוקס, כלים, לולאה, ממשק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1277295" cy="2057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820095" y="321868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>
                <a:solidFill>
                  <a:srgbClr val="D97757"/>
                </a:solidFill>
                <a:latin typeface="Georgia"/>
                <a:cs typeface="Georgia"/>
                <a:ea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00400"/>
            <a:ext cx="99971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6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611880"/>
            <a:ext cx="102714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הוראות הרצה שעובדות ממכונה נקייה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9279" y="362102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6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04488"/>
            <a:ext cx="102714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פסקה שמנמקת את עיצוב הכלים — למה הסעיפים מפוצלים ככה, מה search מחזיר ולמה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9279" y="391363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6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197096"/>
            <a:ext cx="102714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טבלת ההערכה עם הפלטים בפועל וניתוח הכשלים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9279" y="420624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6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489704"/>
            <a:ext cx="102714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ממוצע קריאות הכלים לשאלה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9279" y="449884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6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82312"/>
            <a:ext cx="102714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השוואה: 3–4 שאלות גם דרך גישה שמכניסה את כל המסמכים ל-context בבת אחת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9279" y="479145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600" b="1">
                <a:solidFill>
                  <a:srgbClr val="D97757"/>
                </a:solidFill>
                <a:latin typeface="Arial"/>
                <a:cs typeface="Arial"/>
                <a:ea typeface="Arial"/>
              </a:rPr>
              <a:t>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66360"/>
            <a:ext cx="11277295" cy="7315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97919" y="5166360"/>
            <a:ext cx="36576" cy="7315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820095" y="5367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30952"/>
            <a:ext cx="99971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6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הדגמה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23560"/>
            <a:ext cx="99971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סרטון של 3 דקות, או הדגמה חיה בכיתה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035040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1697919" y="6035040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" y="6117336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ההשוואה בסעיף 2 עולה שעה והיא המשפט הכי בעל ערך בהגשה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309359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כל הקורפוס נכנס לחלון הקשר אחד. כדאי שתדעו מה בדיוק קניתם בזה שבניתם שליפה.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כסף  ·  קראו את זה עד הסוף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מפתחות API ותקציב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מפתח ה-API של הפרויקט מגיע ממני, עם תקרת הוצאה לכל צוות.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77295" cy="1188720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697919" y="2286000"/>
            <a:ext cx="36576" cy="1188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20095" y="248716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>
                <a:solidFill>
                  <a:srgbClr val="D97757"/>
                </a:solidFill>
                <a:latin typeface="Georgia"/>
                <a:cs typeface="Georgia"/>
                <a:ea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68880"/>
            <a:ext cx="99971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5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המפתח הזה הוא לאפליקציה שלכם — לא ל-Claude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52928"/>
            <a:ext cx="10692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2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אל תגדירו אותו כ-ANTHROPIC_API_KEY גלובלי. Claude Code שורף סדר גודל יותר טוקנים מהצ׳אטבוט שתבנו, והוא ירוקן את התקרה תוך שעות. ל-Claude Code תשתמשו במנוי שלכם.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84448"/>
            <a:ext cx="11277295" cy="1188720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1697919" y="3584448"/>
            <a:ext cx="36576" cy="1188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820095" y="3785615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>
                <a:solidFill>
                  <a:srgbClr val="D97757"/>
                </a:solidFill>
                <a:latin typeface="Georgia"/>
                <a:cs typeface="Georgia"/>
                <a:ea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767328"/>
            <a:ext cx="99971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5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לא מעלים לאוויר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151376"/>
            <a:ext cx="10692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2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אפליקציית Streamlit ציבורית עם המפתח שלי ובלי אימות היא דרך לאבד כסף אמיתי בלילה אחד. רץ מקומית: streamlit run, המפתח ב-.env, ו-.env ב-.gitignore.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82896"/>
            <a:ext cx="11277295" cy="1188720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697919" y="4882896"/>
            <a:ext cx="36576" cy="1188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820095" y="508406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>
                <a:solidFill>
                  <a:srgbClr val="D97757"/>
                </a:solidFill>
                <a:latin typeface="Georgia"/>
                <a:cs typeface="Georgia"/>
                <a:ea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65776"/>
            <a:ext cx="99971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55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תעקבו אחרי מה שאתם שורפים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449824"/>
            <a:ext cx="10692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2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התקרה מגינה עליי, לא עליכם. צוות שמגיע אליה ביום השני נשאר בלי מפתח.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9B9588"/>
                </a:solidFill>
                <a:latin typeface="Arial"/>
                <a:cs typeface="Arial"/>
                <a:ea typeface="Arial"/>
              </a:rPr>
              <a:t>מעבר לזה הפרויקט לא עולה כסף. כל הסטאק חינמי, אין תשתית לשלם עליה, ואין ספק שני.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הערה שתחסוך לכם ערב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עברית היא לא דקורציה — היא הפרויקט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היא מקור אמיתי של קושי הנדסי, בשלושה מקומות שונים לפחות. אתם תיתקלו בהם. זו לא תקלה בפרויקט.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88756" y="2286000"/>
            <a:ext cx="3545738" cy="137160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697919" y="2286000"/>
            <a:ext cx="36576" cy="13716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44788" y="2523744"/>
            <a:ext cx="30336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בחילוץ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4788" y="2944368"/>
            <a:ext cx="30336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סדר התווים שיוצא מ-pdfplumber לא בהכרח סדר הקריאה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978" y="2286000"/>
            <a:ext cx="3545738" cy="137160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832140" y="2286000"/>
            <a:ext cx="36576" cy="13716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9010" y="2523744"/>
            <a:ext cx="30336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באינדוקס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9010" y="2944368"/>
            <a:ext cx="30336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טוקניזציה של עברית — כתיב מלא וחסר, מקף, גרשיים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3545738" cy="137160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966362" y="2286000"/>
            <a:ext cx="36576" cy="13716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2523744"/>
            <a:ext cx="30336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בתצוגה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44368"/>
            <a:ext cx="30336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RTL בדפדפן, ומחרוזות מעורבות עברית-אנגלית-מספרים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1277295" cy="16916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כשמשהו נראה כמו ג׳יבריש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622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תעצרו, תסתכלו על הבייטים, ותבינו מה קרה — לפני שאתם כותבים תיקון.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400" b="0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s[::-1]  # ← זה לא תיקון. זה באג חדש.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היפוך מחרוזת מעורבת עברית-אנגלית-מספרים שובר בדיוק את מה שהיה תקין.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נתקעתם?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תביאו את השגיאה למפגש. חצי מהקורס הוא לראות איך מפרקים תקלה אמיתית — וכאן הן יהיו אמיתיות.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37215" y="3346704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מתחילים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55648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58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בהצלחה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הבריף המלא, שני ה-PDF-ים וסט השאלות — הכול בריפו של הקורס, בתיקייה final-project.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3749039"/>
            <a:ext cx="5638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הבריף המלא של הפרויקט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54131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00" b="0">
                <a:solidFill>
                  <a:srgbClr val="D97757"/>
                </a:solidFill>
                <a:latin typeface="Consolas"/>
                <a:hlinkClick r:id="rId2"/>
                <a:cs typeface="Consolas"/>
                <a:ea typeface="Consolas"/>
              </a:rPr>
              <a:t>claude101/final-project/README.md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77295" cy="12801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847" y="4315968"/>
            <a:ext cx="5638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הריפו של הקורס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15968"/>
            <a:ext cx="54131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00" b="0">
                <a:solidFill>
                  <a:srgbClr val="D97757"/>
                </a:solidFill>
                <a:latin typeface="Consolas"/>
                <a:hlinkClick r:id="rId3"/>
                <a:cs typeface="Consolas"/>
                <a:ea typeface="Consolas"/>
              </a:rPr>
              <a:t>github.com/talgurevich/claude101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81728"/>
            <a:ext cx="11277295" cy="12801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95847" y="4882896"/>
            <a:ext cx="5638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מייל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82896"/>
            <a:ext cx="54131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00" b="0">
                <a:solidFill>
                  <a:srgbClr val="D97757"/>
                </a:solidFill>
                <a:latin typeface="Consolas"/>
                <a:hlinkClick r:id="rId4"/>
                <a:cs typeface="Consolas"/>
                <a:ea typeface="Consolas"/>
              </a:rPr>
              <a:t>tal.gurevich@gmail.com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48656"/>
            <a:ext cx="11277295" cy="12801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9B9588"/>
                </a:solidFill>
                <a:latin typeface="Arial"/>
                <a:cs typeface="Arial"/>
                <a:ea typeface="Arial"/>
              </a:rPr>
              <a:t>המכללה האקדמית תל-חי  ·  טל גורביץ׳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